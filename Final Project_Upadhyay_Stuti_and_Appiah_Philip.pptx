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7" r:id="rId11"/>
    <p:sldId id="266" r:id="rId12"/>
    <p:sldId id="269" r:id="rId13"/>
    <p:sldId id="268" r:id="rId14"/>
    <p:sldId id="265" r:id="rId15"/>
    <p:sldId id="270" r:id="rId16"/>
    <p:sldId id="271" r:id="rId17"/>
    <p:sldId id="272" r:id="rId18"/>
    <p:sldId id="273" r:id="rId19"/>
  </p:sldIdLst>
  <p:sldSz cx="18288000" cy="10287000"/>
  <p:notesSz cx="6858000" cy="9144000"/>
  <p:embeddedFontLst>
    <p:embeddedFont>
      <p:font typeface="Canva Sans" panose="020B0503030501040103" pitchFamily="34" charset="0"/>
      <p:regular r:id="rId20"/>
    </p:embeddedFont>
    <p:embeddedFont>
      <p:font typeface="IBM Plex Mono" panose="020B0509050203000203" pitchFamily="49" charset="77"/>
      <p:regular r:id="rId21"/>
    </p:embeddedFont>
    <p:embeddedFont>
      <p:font typeface="IBM Plex Mono Bold" panose="020B0809050203000203" pitchFamily="49" charset="77"/>
      <p:regular r:id="rId22"/>
      <p:bold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7" autoAdjust="0"/>
    <p:restoredTop sz="94635" autoAdjust="0"/>
  </p:normalViewPr>
  <p:slideViewPr>
    <p:cSldViewPr>
      <p:cViewPr varScale="1">
        <p:scale>
          <a:sx n="80" d="100"/>
          <a:sy n="80" d="100"/>
        </p:scale>
        <p:origin x="520" y="12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12/4/24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12/4/24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12/4/24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12/4/24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12/4/24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12/4/24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12/4/24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6AC66B"/>
        </a:solidFill>
        <a:effectLst/>
      </p:bgPr>
    </p:bg>
    <p:spTree>
      <p:nvGrpSpPr>
        <p:cNvPr id="1" name=""/>
        <p:cNvGrpSpPr/>
        <p:nvPr/>
      </p:nvGrpSpPr>
      <p:grpSpPr>
        <a:xfrm>
          <a:off x="0" y="0"/>
          <a:ext cx="0" cy="0"/>
          <a:chOff x="0" y="0"/>
          <a:chExt cx="0" cy="0"/>
        </a:xfrm>
      </p:grpSpPr>
      <p:grpSp>
        <p:nvGrpSpPr>
          <p:cNvPr id="2" name="Group 2"/>
          <p:cNvGrpSpPr/>
          <p:nvPr/>
        </p:nvGrpSpPr>
        <p:grpSpPr>
          <a:xfrm>
            <a:off x="-460312" y="-201041"/>
            <a:ext cx="19208624" cy="10689082"/>
            <a:chOff x="0" y="0"/>
            <a:chExt cx="25611499" cy="14252110"/>
          </a:xfrm>
        </p:grpSpPr>
        <p:sp>
          <p:nvSpPr>
            <p:cNvPr id="3" name="Freeform 3"/>
            <p:cNvSpPr/>
            <p:nvPr/>
          </p:nvSpPr>
          <p:spPr>
            <a:xfrm>
              <a:off x="0"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1359389"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grpSp>
      <p:grpSp>
        <p:nvGrpSpPr>
          <p:cNvPr id="5" name="Group 5"/>
          <p:cNvGrpSpPr/>
          <p:nvPr/>
        </p:nvGrpSpPr>
        <p:grpSpPr>
          <a:xfrm>
            <a:off x="1184862" y="2875305"/>
            <a:ext cx="13660770" cy="5909350"/>
            <a:chOff x="0" y="0"/>
            <a:chExt cx="3597898" cy="1556372"/>
          </a:xfrm>
        </p:grpSpPr>
        <p:sp>
          <p:nvSpPr>
            <p:cNvPr id="6" name="Freeform 6"/>
            <p:cNvSpPr/>
            <p:nvPr/>
          </p:nvSpPr>
          <p:spPr>
            <a:xfrm>
              <a:off x="0" y="0"/>
              <a:ext cx="3597898" cy="1556372"/>
            </a:xfrm>
            <a:custGeom>
              <a:avLst/>
              <a:gdLst/>
              <a:ahLst/>
              <a:cxnLst/>
              <a:rect l="l" t="t" r="r" b="b"/>
              <a:pathLst>
                <a:path w="3597898" h="1556372">
                  <a:moveTo>
                    <a:pt x="28903" y="0"/>
                  </a:moveTo>
                  <a:lnTo>
                    <a:pt x="3568995" y="0"/>
                  </a:lnTo>
                  <a:cubicBezTo>
                    <a:pt x="3576661" y="0"/>
                    <a:pt x="3584012" y="3045"/>
                    <a:pt x="3589433" y="8466"/>
                  </a:cubicBezTo>
                  <a:cubicBezTo>
                    <a:pt x="3594853" y="13886"/>
                    <a:pt x="3597898" y="21237"/>
                    <a:pt x="3597898" y="28903"/>
                  </a:cubicBezTo>
                  <a:lnTo>
                    <a:pt x="3597898" y="1527469"/>
                  </a:lnTo>
                  <a:cubicBezTo>
                    <a:pt x="3597898" y="1535135"/>
                    <a:pt x="3594853" y="1542486"/>
                    <a:pt x="3589433" y="1547907"/>
                  </a:cubicBezTo>
                  <a:cubicBezTo>
                    <a:pt x="3584012" y="1553327"/>
                    <a:pt x="3576661" y="1556372"/>
                    <a:pt x="3568995" y="1556372"/>
                  </a:cubicBezTo>
                  <a:lnTo>
                    <a:pt x="28903" y="1556372"/>
                  </a:lnTo>
                  <a:cubicBezTo>
                    <a:pt x="21237" y="1556372"/>
                    <a:pt x="13886" y="1553327"/>
                    <a:pt x="8466" y="1547907"/>
                  </a:cubicBezTo>
                  <a:cubicBezTo>
                    <a:pt x="3045" y="1542486"/>
                    <a:pt x="0" y="1535135"/>
                    <a:pt x="0" y="1527469"/>
                  </a:cubicBezTo>
                  <a:lnTo>
                    <a:pt x="0" y="28903"/>
                  </a:lnTo>
                  <a:cubicBezTo>
                    <a:pt x="0" y="21237"/>
                    <a:pt x="3045" y="13886"/>
                    <a:pt x="8466" y="8466"/>
                  </a:cubicBezTo>
                  <a:cubicBezTo>
                    <a:pt x="13886" y="3045"/>
                    <a:pt x="21237" y="0"/>
                    <a:pt x="28903" y="0"/>
                  </a:cubicBezTo>
                  <a:close/>
                </a:path>
              </a:pathLst>
            </a:custGeom>
            <a:solidFill>
              <a:srgbClr val="071330"/>
            </a:solidFill>
          </p:spPr>
        </p:sp>
        <p:sp>
          <p:nvSpPr>
            <p:cNvPr id="7" name="TextBox 7"/>
            <p:cNvSpPr txBox="1"/>
            <p:nvPr/>
          </p:nvSpPr>
          <p:spPr>
            <a:xfrm>
              <a:off x="0" y="-38100"/>
              <a:ext cx="3597898" cy="159447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2650590" y="692878"/>
            <a:ext cx="5396478" cy="3693210"/>
            <a:chOff x="0" y="0"/>
            <a:chExt cx="2744378" cy="1878181"/>
          </a:xfrm>
        </p:grpSpPr>
        <p:sp>
          <p:nvSpPr>
            <p:cNvPr id="9" name="Freeform 9"/>
            <p:cNvSpPr/>
            <p:nvPr/>
          </p:nvSpPr>
          <p:spPr>
            <a:xfrm>
              <a:off x="0" y="0"/>
              <a:ext cx="2744378" cy="1878181"/>
            </a:xfrm>
            <a:custGeom>
              <a:avLst/>
              <a:gdLst/>
              <a:ahLst/>
              <a:cxnLst/>
              <a:rect l="l" t="t" r="r" b="b"/>
              <a:pathLst>
                <a:path w="2744378" h="1878181">
                  <a:moveTo>
                    <a:pt x="24389" y="0"/>
                  </a:moveTo>
                  <a:lnTo>
                    <a:pt x="2719990" y="0"/>
                  </a:lnTo>
                  <a:cubicBezTo>
                    <a:pt x="2726458" y="0"/>
                    <a:pt x="2732661" y="2570"/>
                    <a:pt x="2737235" y="7143"/>
                  </a:cubicBezTo>
                  <a:cubicBezTo>
                    <a:pt x="2741809" y="11717"/>
                    <a:pt x="2744378" y="17920"/>
                    <a:pt x="2744378" y="24389"/>
                  </a:cubicBezTo>
                  <a:lnTo>
                    <a:pt x="2744378" y="1853793"/>
                  </a:lnTo>
                  <a:cubicBezTo>
                    <a:pt x="2744378" y="1860261"/>
                    <a:pt x="2741809" y="1866464"/>
                    <a:pt x="2737235" y="1871038"/>
                  </a:cubicBezTo>
                  <a:cubicBezTo>
                    <a:pt x="2732661" y="1875612"/>
                    <a:pt x="2726458" y="1878181"/>
                    <a:pt x="2719990" y="1878181"/>
                  </a:cubicBezTo>
                  <a:lnTo>
                    <a:pt x="24389" y="1878181"/>
                  </a:lnTo>
                  <a:cubicBezTo>
                    <a:pt x="10919" y="1878181"/>
                    <a:pt x="0" y="1867262"/>
                    <a:pt x="0" y="1853793"/>
                  </a:cubicBezTo>
                  <a:lnTo>
                    <a:pt x="0" y="24389"/>
                  </a:lnTo>
                  <a:cubicBezTo>
                    <a:pt x="0" y="17920"/>
                    <a:pt x="2570" y="11717"/>
                    <a:pt x="7143" y="7143"/>
                  </a:cubicBezTo>
                  <a:cubicBezTo>
                    <a:pt x="11717" y="2570"/>
                    <a:pt x="17920" y="0"/>
                    <a:pt x="24389" y="0"/>
                  </a:cubicBezTo>
                  <a:close/>
                </a:path>
              </a:pathLst>
            </a:custGeom>
            <a:solidFill>
              <a:srgbClr val="071330"/>
            </a:solidFill>
          </p:spPr>
        </p:sp>
        <p:sp>
          <p:nvSpPr>
            <p:cNvPr id="10" name="TextBox 10"/>
            <p:cNvSpPr txBox="1"/>
            <p:nvPr/>
          </p:nvSpPr>
          <p:spPr>
            <a:xfrm>
              <a:off x="0" y="-38100"/>
              <a:ext cx="2744378" cy="1916281"/>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11809766" y="7384194"/>
            <a:ext cx="6409048" cy="2612374"/>
            <a:chOff x="0" y="0"/>
            <a:chExt cx="2744378" cy="1118628"/>
          </a:xfrm>
        </p:grpSpPr>
        <p:sp>
          <p:nvSpPr>
            <p:cNvPr id="12" name="Freeform 12"/>
            <p:cNvSpPr/>
            <p:nvPr/>
          </p:nvSpPr>
          <p:spPr>
            <a:xfrm>
              <a:off x="0" y="0"/>
              <a:ext cx="2744378" cy="1118628"/>
            </a:xfrm>
            <a:custGeom>
              <a:avLst/>
              <a:gdLst/>
              <a:ahLst/>
              <a:cxnLst/>
              <a:rect l="l" t="t" r="r" b="b"/>
              <a:pathLst>
                <a:path w="2744378" h="1118628">
                  <a:moveTo>
                    <a:pt x="39863" y="0"/>
                  </a:moveTo>
                  <a:lnTo>
                    <a:pt x="2704515" y="0"/>
                  </a:lnTo>
                  <a:cubicBezTo>
                    <a:pt x="2715088" y="0"/>
                    <a:pt x="2725227" y="4200"/>
                    <a:pt x="2732703" y="11676"/>
                  </a:cubicBezTo>
                  <a:cubicBezTo>
                    <a:pt x="2740178" y="19151"/>
                    <a:pt x="2744378" y="29291"/>
                    <a:pt x="2744378" y="39863"/>
                  </a:cubicBezTo>
                  <a:lnTo>
                    <a:pt x="2744378" y="1078765"/>
                  </a:lnTo>
                  <a:cubicBezTo>
                    <a:pt x="2744378" y="1089338"/>
                    <a:pt x="2740178" y="1099477"/>
                    <a:pt x="2732703" y="1106953"/>
                  </a:cubicBezTo>
                  <a:cubicBezTo>
                    <a:pt x="2725227" y="1114428"/>
                    <a:pt x="2715088" y="1118628"/>
                    <a:pt x="2704515" y="1118628"/>
                  </a:cubicBezTo>
                  <a:lnTo>
                    <a:pt x="39863" y="1118628"/>
                  </a:lnTo>
                  <a:cubicBezTo>
                    <a:pt x="29291" y="1118628"/>
                    <a:pt x="19151" y="1114428"/>
                    <a:pt x="11676" y="1106953"/>
                  </a:cubicBezTo>
                  <a:cubicBezTo>
                    <a:pt x="4200" y="1099477"/>
                    <a:pt x="0" y="1089338"/>
                    <a:pt x="0" y="1078765"/>
                  </a:cubicBezTo>
                  <a:lnTo>
                    <a:pt x="0" y="39863"/>
                  </a:lnTo>
                  <a:cubicBezTo>
                    <a:pt x="0" y="29291"/>
                    <a:pt x="4200" y="19151"/>
                    <a:pt x="11676" y="11676"/>
                  </a:cubicBezTo>
                  <a:cubicBezTo>
                    <a:pt x="19151" y="4200"/>
                    <a:pt x="29291" y="0"/>
                    <a:pt x="39863" y="0"/>
                  </a:cubicBezTo>
                  <a:close/>
                </a:path>
              </a:pathLst>
            </a:custGeom>
            <a:solidFill>
              <a:srgbClr val="FFFFFF"/>
            </a:solidFill>
          </p:spPr>
        </p:sp>
        <p:sp>
          <p:nvSpPr>
            <p:cNvPr id="13" name="TextBox 13"/>
            <p:cNvSpPr txBox="1"/>
            <p:nvPr/>
          </p:nvSpPr>
          <p:spPr>
            <a:xfrm>
              <a:off x="0" y="-38100"/>
              <a:ext cx="2744378" cy="1156728"/>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1708752" y="3266039"/>
            <a:ext cx="347534" cy="347534"/>
            <a:chOff x="0" y="0"/>
            <a:chExt cx="6350000" cy="6350000"/>
          </a:xfrm>
        </p:grpSpPr>
        <p:sp>
          <p:nvSpPr>
            <p:cNvPr id="15" name="Freeform 1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E0F3F"/>
            </a:solidFill>
          </p:spPr>
        </p:sp>
      </p:grpSp>
      <p:grpSp>
        <p:nvGrpSpPr>
          <p:cNvPr id="16" name="Group 16"/>
          <p:cNvGrpSpPr/>
          <p:nvPr/>
        </p:nvGrpSpPr>
        <p:grpSpPr>
          <a:xfrm>
            <a:off x="13002784" y="957879"/>
            <a:ext cx="179985" cy="179985"/>
            <a:chOff x="0" y="0"/>
            <a:chExt cx="6350000" cy="6350000"/>
          </a:xfrm>
        </p:grpSpPr>
        <p:sp>
          <p:nvSpPr>
            <p:cNvPr id="17" name="Freeform 1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E0F3F"/>
            </a:solidFill>
          </p:spPr>
        </p:sp>
      </p:grpSp>
      <p:grpSp>
        <p:nvGrpSpPr>
          <p:cNvPr id="18" name="Group 18"/>
          <p:cNvGrpSpPr/>
          <p:nvPr/>
        </p:nvGrpSpPr>
        <p:grpSpPr>
          <a:xfrm>
            <a:off x="12264367" y="7698919"/>
            <a:ext cx="213757" cy="213757"/>
            <a:chOff x="0" y="0"/>
            <a:chExt cx="6350000" cy="6350000"/>
          </a:xfrm>
        </p:grpSpPr>
        <p:sp>
          <p:nvSpPr>
            <p:cNvPr id="19" name="Freeform 1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E0F3F"/>
            </a:solidFill>
          </p:spPr>
        </p:sp>
      </p:grpSp>
      <p:grpSp>
        <p:nvGrpSpPr>
          <p:cNvPr id="20" name="Group 20"/>
          <p:cNvGrpSpPr/>
          <p:nvPr/>
        </p:nvGrpSpPr>
        <p:grpSpPr>
          <a:xfrm>
            <a:off x="2162920" y="3266039"/>
            <a:ext cx="347534" cy="347534"/>
            <a:chOff x="0" y="0"/>
            <a:chExt cx="6350000" cy="6350000"/>
          </a:xfrm>
        </p:grpSpPr>
        <p:sp>
          <p:nvSpPr>
            <p:cNvPr id="21" name="Freeform 2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F60"/>
            </a:solidFill>
          </p:spPr>
        </p:sp>
      </p:grpSp>
      <p:grpSp>
        <p:nvGrpSpPr>
          <p:cNvPr id="22" name="Group 22"/>
          <p:cNvGrpSpPr/>
          <p:nvPr/>
        </p:nvGrpSpPr>
        <p:grpSpPr>
          <a:xfrm>
            <a:off x="13237995" y="957879"/>
            <a:ext cx="179985" cy="179985"/>
            <a:chOff x="0" y="0"/>
            <a:chExt cx="6350000" cy="6350000"/>
          </a:xfrm>
        </p:grpSpPr>
        <p:sp>
          <p:nvSpPr>
            <p:cNvPr id="23" name="Freeform 2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F60"/>
            </a:solidFill>
          </p:spPr>
        </p:sp>
      </p:grpSp>
      <p:grpSp>
        <p:nvGrpSpPr>
          <p:cNvPr id="24" name="Group 24"/>
          <p:cNvGrpSpPr/>
          <p:nvPr/>
        </p:nvGrpSpPr>
        <p:grpSpPr>
          <a:xfrm>
            <a:off x="12543712" y="7698919"/>
            <a:ext cx="213757" cy="213757"/>
            <a:chOff x="0" y="0"/>
            <a:chExt cx="6350000" cy="6350000"/>
          </a:xfrm>
        </p:grpSpPr>
        <p:sp>
          <p:nvSpPr>
            <p:cNvPr id="25" name="Freeform 2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F60"/>
            </a:solidFill>
          </p:spPr>
        </p:sp>
      </p:grpSp>
      <p:grpSp>
        <p:nvGrpSpPr>
          <p:cNvPr id="26" name="Group 26"/>
          <p:cNvGrpSpPr/>
          <p:nvPr/>
        </p:nvGrpSpPr>
        <p:grpSpPr>
          <a:xfrm>
            <a:off x="2615229" y="3266039"/>
            <a:ext cx="347534" cy="347534"/>
            <a:chOff x="0" y="0"/>
            <a:chExt cx="6350000" cy="6350000"/>
          </a:xfrm>
        </p:grpSpPr>
        <p:sp>
          <p:nvSpPr>
            <p:cNvPr id="27" name="Freeform 2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AC66B"/>
            </a:solidFill>
          </p:spPr>
        </p:sp>
      </p:grpSp>
      <p:grpSp>
        <p:nvGrpSpPr>
          <p:cNvPr id="28" name="Group 28"/>
          <p:cNvGrpSpPr/>
          <p:nvPr/>
        </p:nvGrpSpPr>
        <p:grpSpPr>
          <a:xfrm>
            <a:off x="13472243" y="957879"/>
            <a:ext cx="179985" cy="179985"/>
            <a:chOff x="0" y="0"/>
            <a:chExt cx="6350000" cy="6350000"/>
          </a:xfrm>
        </p:grpSpPr>
        <p:sp>
          <p:nvSpPr>
            <p:cNvPr id="29" name="Freeform 2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AC66B"/>
            </a:solidFill>
          </p:spPr>
        </p:sp>
      </p:grpSp>
      <p:grpSp>
        <p:nvGrpSpPr>
          <p:cNvPr id="30" name="Group 30"/>
          <p:cNvGrpSpPr/>
          <p:nvPr/>
        </p:nvGrpSpPr>
        <p:grpSpPr>
          <a:xfrm>
            <a:off x="12821912" y="7698919"/>
            <a:ext cx="213757" cy="213757"/>
            <a:chOff x="0" y="0"/>
            <a:chExt cx="6350000" cy="6350000"/>
          </a:xfrm>
        </p:grpSpPr>
        <p:sp>
          <p:nvSpPr>
            <p:cNvPr id="31" name="Freeform 3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AC66B"/>
            </a:solidFill>
          </p:spPr>
        </p:sp>
      </p:grpSp>
      <p:grpSp>
        <p:nvGrpSpPr>
          <p:cNvPr id="32" name="Group 32"/>
          <p:cNvGrpSpPr/>
          <p:nvPr/>
        </p:nvGrpSpPr>
        <p:grpSpPr>
          <a:xfrm>
            <a:off x="13002784" y="1492548"/>
            <a:ext cx="4710409" cy="2482334"/>
            <a:chOff x="0" y="0"/>
            <a:chExt cx="729766" cy="384579"/>
          </a:xfrm>
        </p:grpSpPr>
        <p:sp>
          <p:nvSpPr>
            <p:cNvPr id="33" name="Freeform 33"/>
            <p:cNvSpPr/>
            <p:nvPr/>
          </p:nvSpPr>
          <p:spPr>
            <a:xfrm>
              <a:off x="0" y="0"/>
              <a:ext cx="729766" cy="384579"/>
            </a:xfrm>
            <a:custGeom>
              <a:avLst/>
              <a:gdLst/>
              <a:ahLst/>
              <a:cxnLst/>
              <a:rect l="l" t="t" r="r" b="b"/>
              <a:pathLst>
                <a:path w="729766" h="384579">
                  <a:moveTo>
                    <a:pt x="18079" y="0"/>
                  </a:moveTo>
                  <a:lnTo>
                    <a:pt x="711686" y="0"/>
                  </a:lnTo>
                  <a:cubicBezTo>
                    <a:pt x="716481" y="0"/>
                    <a:pt x="721080" y="1905"/>
                    <a:pt x="724470" y="5295"/>
                  </a:cubicBezTo>
                  <a:cubicBezTo>
                    <a:pt x="727861" y="8686"/>
                    <a:pt x="729766" y="13284"/>
                    <a:pt x="729766" y="18079"/>
                  </a:cubicBezTo>
                  <a:lnTo>
                    <a:pt x="729766" y="366499"/>
                  </a:lnTo>
                  <a:cubicBezTo>
                    <a:pt x="729766" y="371294"/>
                    <a:pt x="727861" y="375893"/>
                    <a:pt x="724470" y="379283"/>
                  </a:cubicBezTo>
                  <a:cubicBezTo>
                    <a:pt x="721080" y="382674"/>
                    <a:pt x="716481" y="384579"/>
                    <a:pt x="711686" y="384579"/>
                  </a:cubicBezTo>
                  <a:lnTo>
                    <a:pt x="18079" y="384579"/>
                  </a:lnTo>
                  <a:cubicBezTo>
                    <a:pt x="13284" y="384579"/>
                    <a:pt x="8686" y="382674"/>
                    <a:pt x="5295" y="379283"/>
                  </a:cubicBezTo>
                  <a:cubicBezTo>
                    <a:pt x="1905" y="375893"/>
                    <a:pt x="0" y="371294"/>
                    <a:pt x="0" y="366499"/>
                  </a:cubicBezTo>
                  <a:lnTo>
                    <a:pt x="0" y="18079"/>
                  </a:lnTo>
                  <a:cubicBezTo>
                    <a:pt x="0" y="13284"/>
                    <a:pt x="1905" y="8686"/>
                    <a:pt x="5295" y="5295"/>
                  </a:cubicBezTo>
                  <a:cubicBezTo>
                    <a:pt x="8686" y="1905"/>
                    <a:pt x="13284" y="0"/>
                    <a:pt x="18079" y="0"/>
                  </a:cubicBezTo>
                  <a:close/>
                </a:path>
              </a:pathLst>
            </a:custGeom>
            <a:blipFill>
              <a:blip r:embed="rId4"/>
              <a:stretch>
                <a:fillRect t="-10438" b="-10438"/>
              </a:stretch>
            </a:blipFill>
          </p:spPr>
        </p:sp>
      </p:grpSp>
      <p:grpSp>
        <p:nvGrpSpPr>
          <p:cNvPr id="34" name="Group 34"/>
          <p:cNvGrpSpPr/>
          <p:nvPr/>
        </p:nvGrpSpPr>
        <p:grpSpPr>
          <a:xfrm>
            <a:off x="4261103" y="247891"/>
            <a:ext cx="5396478" cy="3498503"/>
            <a:chOff x="0" y="0"/>
            <a:chExt cx="2744378" cy="1779163"/>
          </a:xfrm>
        </p:grpSpPr>
        <p:sp>
          <p:nvSpPr>
            <p:cNvPr id="35" name="Freeform 35"/>
            <p:cNvSpPr/>
            <p:nvPr/>
          </p:nvSpPr>
          <p:spPr>
            <a:xfrm>
              <a:off x="0" y="0"/>
              <a:ext cx="2744378" cy="1779163"/>
            </a:xfrm>
            <a:custGeom>
              <a:avLst/>
              <a:gdLst/>
              <a:ahLst/>
              <a:cxnLst/>
              <a:rect l="l" t="t" r="r" b="b"/>
              <a:pathLst>
                <a:path w="2744378" h="1779163">
                  <a:moveTo>
                    <a:pt x="24389" y="0"/>
                  </a:moveTo>
                  <a:lnTo>
                    <a:pt x="2719990" y="0"/>
                  </a:lnTo>
                  <a:cubicBezTo>
                    <a:pt x="2726458" y="0"/>
                    <a:pt x="2732661" y="2570"/>
                    <a:pt x="2737235" y="7143"/>
                  </a:cubicBezTo>
                  <a:cubicBezTo>
                    <a:pt x="2741809" y="11717"/>
                    <a:pt x="2744378" y="17920"/>
                    <a:pt x="2744378" y="24389"/>
                  </a:cubicBezTo>
                  <a:lnTo>
                    <a:pt x="2744378" y="1754774"/>
                  </a:lnTo>
                  <a:cubicBezTo>
                    <a:pt x="2744378" y="1768244"/>
                    <a:pt x="2733459" y="1779163"/>
                    <a:pt x="2719990" y="1779163"/>
                  </a:cubicBezTo>
                  <a:lnTo>
                    <a:pt x="24389" y="1779163"/>
                  </a:lnTo>
                  <a:cubicBezTo>
                    <a:pt x="17920" y="1779163"/>
                    <a:pt x="11717" y="1776594"/>
                    <a:pt x="7143" y="1772020"/>
                  </a:cubicBezTo>
                  <a:cubicBezTo>
                    <a:pt x="2570" y="1767446"/>
                    <a:pt x="0" y="1761243"/>
                    <a:pt x="0" y="1754774"/>
                  </a:cubicBezTo>
                  <a:lnTo>
                    <a:pt x="0" y="24389"/>
                  </a:lnTo>
                  <a:cubicBezTo>
                    <a:pt x="0" y="17920"/>
                    <a:pt x="2570" y="11717"/>
                    <a:pt x="7143" y="7143"/>
                  </a:cubicBezTo>
                  <a:cubicBezTo>
                    <a:pt x="11717" y="2570"/>
                    <a:pt x="17920" y="0"/>
                    <a:pt x="24389" y="0"/>
                  </a:cubicBezTo>
                  <a:close/>
                </a:path>
              </a:pathLst>
            </a:custGeom>
            <a:solidFill>
              <a:srgbClr val="FFFFFF"/>
            </a:solidFill>
          </p:spPr>
        </p:sp>
        <p:sp>
          <p:nvSpPr>
            <p:cNvPr id="36" name="TextBox 36"/>
            <p:cNvSpPr txBox="1"/>
            <p:nvPr/>
          </p:nvSpPr>
          <p:spPr>
            <a:xfrm>
              <a:off x="0" y="-38100"/>
              <a:ext cx="2744378" cy="1817263"/>
            </a:xfrm>
            <a:prstGeom prst="rect">
              <a:avLst/>
            </a:prstGeom>
          </p:spPr>
          <p:txBody>
            <a:bodyPr lIns="50800" tIns="50800" rIns="50800" bIns="50800" rtlCol="0" anchor="ctr"/>
            <a:lstStyle/>
            <a:p>
              <a:pPr algn="ctr">
                <a:lnSpc>
                  <a:spcPts val="2659"/>
                </a:lnSpc>
                <a:spcBef>
                  <a:spcPct val="0"/>
                </a:spcBef>
              </a:pPr>
              <a:endParaRPr/>
            </a:p>
          </p:txBody>
        </p:sp>
      </p:grpSp>
      <p:grpSp>
        <p:nvGrpSpPr>
          <p:cNvPr id="37" name="Group 37"/>
          <p:cNvGrpSpPr/>
          <p:nvPr/>
        </p:nvGrpSpPr>
        <p:grpSpPr>
          <a:xfrm>
            <a:off x="4613297" y="512892"/>
            <a:ext cx="179985" cy="179985"/>
            <a:chOff x="0" y="0"/>
            <a:chExt cx="6350000" cy="6350000"/>
          </a:xfrm>
        </p:grpSpPr>
        <p:sp>
          <p:nvSpPr>
            <p:cNvPr id="38" name="Freeform 38"/>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E0F3F"/>
            </a:solidFill>
          </p:spPr>
        </p:sp>
      </p:grpSp>
      <p:grpSp>
        <p:nvGrpSpPr>
          <p:cNvPr id="39" name="Group 39"/>
          <p:cNvGrpSpPr/>
          <p:nvPr/>
        </p:nvGrpSpPr>
        <p:grpSpPr>
          <a:xfrm>
            <a:off x="4848508" y="512892"/>
            <a:ext cx="179985" cy="179985"/>
            <a:chOff x="0" y="0"/>
            <a:chExt cx="6350000" cy="6350000"/>
          </a:xfrm>
        </p:grpSpPr>
        <p:sp>
          <p:nvSpPr>
            <p:cNvPr id="40" name="Freeform 40"/>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F60"/>
            </a:solidFill>
          </p:spPr>
        </p:sp>
      </p:grpSp>
      <p:grpSp>
        <p:nvGrpSpPr>
          <p:cNvPr id="41" name="Group 41"/>
          <p:cNvGrpSpPr/>
          <p:nvPr/>
        </p:nvGrpSpPr>
        <p:grpSpPr>
          <a:xfrm>
            <a:off x="5082756" y="512892"/>
            <a:ext cx="179985" cy="179985"/>
            <a:chOff x="0" y="0"/>
            <a:chExt cx="6350000" cy="6350000"/>
          </a:xfrm>
        </p:grpSpPr>
        <p:sp>
          <p:nvSpPr>
            <p:cNvPr id="42" name="Freeform 42"/>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AC66B"/>
            </a:solidFill>
          </p:spPr>
        </p:sp>
      </p:grpSp>
      <p:grpSp>
        <p:nvGrpSpPr>
          <p:cNvPr id="43" name="Group 43"/>
          <p:cNvGrpSpPr/>
          <p:nvPr/>
        </p:nvGrpSpPr>
        <p:grpSpPr>
          <a:xfrm>
            <a:off x="4613297" y="1005403"/>
            <a:ext cx="4710409" cy="2351465"/>
            <a:chOff x="0" y="0"/>
            <a:chExt cx="729766" cy="364303"/>
          </a:xfrm>
        </p:grpSpPr>
        <p:sp>
          <p:nvSpPr>
            <p:cNvPr id="44" name="Freeform 44"/>
            <p:cNvSpPr/>
            <p:nvPr/>
          </p:nvSpPr>
          <p:spPr>
            <a:xfrm>
              <a:off x="0" y="0"/>
              <a:ext cx="729766" cy="364303"/>
            </a:xfrm>
            <a:custGeom>
              <a:avLst/>
              <a:gdLst/>
              <a:ahLst/>
              <a:cxnLst/>
              <a:rect l="l" t="t" r="r" b="b"/>
              <a:pathLst>
                <a:path w="729766" h="364303">
                  <a:moveTo>
                    <a:pt x="18079" y="0"/>
                  </a:moveTo>
                  <a:lnTo>
                    <a:pt x="711686" y="0"/>
                  </a:lnTo>
                  <a:cubicBezTo>
                    <a:pt x="716481" y="0"/>
                    <a:pt x="721080" y="1905"/>
                    <a:pt x="724470" y="5295"/>
                  </a:cubicBezTo>
                  <a:cubicBezTo>
                    <a:pt x="727861" y="8686"/>
                    <a:pt x="729766" y="13284"/>
                    <a:pt x="729766" y="18079"/>
                  </a:cubicBezTo>
                  <a:lnTo>
                    <a:pt x="729766" y="346224"/>
                  </a:lnTo>
                  <a:cubicBezTo>
                    <a:pt x="729766" y="351019"/>
                    <a:pt x="727861" y="355618"/>
                    <a:pt x="724470" y="359008"/>
                  </a:cubicBezTo>
                  <a:cubicBezTo>
                    <a:pt x="721080" y="362399"/>
                    <a:pt x="716481" y="364303"/>
                    <a:pt x="711686" y="364303"/>
                  </a:cubicBezTo>
                  <a:lnTo>
                    <a:pt x="18079" y="364303"/>
                  </a:lnTo>
                  <a:cubicBezTo>
                    <a:pt x="13284" y="364303"/>
                    <a:pt x="8686" y="362399"/>
                    <a:pt x="5295" y="359008"/>
                  </a:cubicBezTo>
                  <a:cubicBezTo>
                    <a:pt x="1905" y="355618"/>
                    <a:pt x="0" y="351019"/>
                    <a:pt x="0" y="346224"/>
                  </a:cubicBezTo>
                  <a:lnTo>
                    <a:pt x="0" y="18079"/>
                  </a:lnTo>
                  <a:cubicBezTo>
                    <a:pt x="0" y="13284"/>
                    <a:pt x="1905" y="8686"/>
                    <a:pt x="5295" y="5295"/>
                  </a:cubicBezTo>
                  <a:cubicBezTo>
                    <a:pt x="8686" y="1905"/>
                    <a:pt x="13284" y="0"/>
                    <a:pt x="18079" y="0"/>
                  </a:cubicBezTo>
                  <a:close/>
                </a:path>
              </a:pathLst>
            </a:custGeom>
            <a:blipFill>
              <a:blip r:embed="rId5"/>
              <a:stretch>
                <a:fillRect l="-394" r="-394"/>
              </a:stretch>
            </a:blipFill>
          </p:spPr>
        </p:sp>
      </p:grpSp>
      <p:sp>
        <p:nvSpPr>
          <p:cNvPr id="45" name="TextBox 45"/>
          <p:cNvSpPr txBox="1"/>
          <p:nvPr/>
        </p:nvSpPr>
        <p:spPr>
          <a:xfrm>
            <a:off x="1688131" y="4777430"/>
            <a:ext cx="12980718" cy="2549549"/>
          </a:xfrm>
          <a:prstGeom prst="rect">
            <a:avLst/>
          </a:prstGeom>
        </p:spPr>
        <p:txBody>
          <a:bodyPr lIns="0" tIns="0" rIns="0" bIns="0" rtlCol="0" anchor="t">
            <a:spAutoFit/>
          </a:bodyPr>
          <a:lstStyle/>
          <a:p>
            <a:pPr algn="l">
              <a:lnSpc>
                <a:spcPts val="9983"/>
              </a:lnSpc>
            </a:pPr>
            <a:r>
              <a:rPr lang="en-US" sz="9599" b="1">
                <a:solidFill>
                  <a:srgbClr val="FFFFFF"/>
                </a:solidFill>
                <a:latin typeface="IBM Plex Mono Bold"/>
                <a:ea typeface="IBM Plex Mono Bold"/>
                <a:cs typeface="IBM Plex Mono Bold"/>
                <a:sym typeface="IBM Plex Mono Bold"/>
              </a:rPr>
              <a:t>Spotify Streaming Charts Analysis</a:t>
            </a:r>
          </a:p>
        </p:txBody>
      </p:sp>
      <p:sp>
        <p:nvSpPr>
          <p:cNvPr id="46" name="TextBox 46"/>
          <p:cNvSpPr txBox="1"/>
          <p:nvPr/>
        </p:nvSpPr>
        <p:spPr>
          <a:xfrm>
            <a:off x="12344408" y="8377852"/>
            <a:ext cx="5339764" cy="721970"/>
          </a:xfrm>
          <a:prstGeom prst="rect">
            <a:avLst/>
          </a:prstGeom>
        </p:spPr>
        <p:txBody>
          <a:bodyPr lIns="0" tIns="0" rIns="0" bIns="0" rtlCol="0" anchor="t">
            <a:spAutoFit/>
          </a:bodyPr>
          <a:lstStyle/>
          <a:p>
            <a:pPr algn="l">
              <a:lnSpc>
                <a:spcPts val="2826"/>
              </a:lnSpc>
            </a:pPr>
            <a:r>
              <a:rPr lang="en-US" sz="2717" b="1">
                <a:solidFill>
                  <a:srgbClr val="071330"/>
                </a:solidFill>
                <a:latin typeface="IBM Plex Mono Bold"/>
                <a:ea typeface="IBM Plex Mono Bold"/>
                <a:cs typeface="IBM Plex Mono Bold"/>
                <a:sym typeface="IBM Plex Mono Bold"/>
              </a:rPr>
              <a:t>Stuti Upadhyay and Philip Appiah</a:t>
            </a:r>
          </a:p>
        </p:txBody>
      </p:sp>
      <p:sp>
        <p:nvSpPr>
          <p:cNvPr id="47" name="TextBox 47"/>
          <p:cNvSpPr txBox="1"/>
          <p:nvPr/>
        </p:nvSpPr>
        <p:spPr>
          <a:xfrm>
            <a:off x="13378569" y="7698454"/>
            <a:ext cx="2711120" cy="288873"/>
          </a:xfrm>
          <a:prstGeom prst="rect">
            <a:avLst/>
          </a:prstGeom>
        </p:spPr>
        <p:txBody>
          <a:bodyPr lIns="0" tIns="0" rIns="0" bIns="0" rtlCol="0" anchor="t">
            <a:spAutoFit/>
          </a:bodyPr>
          <a:lstStyle/>
          <a:p>
            <a:pPr algn="l">
              <a:lnSpc>
                <a:spcPts val="2109"/>
              </a:lnSpc>
            </a:pPr>
            <a:r>
              <a:rPr lang="en-US" sz="2028">
                <a:solidFill>
                  <a:srgbClr val="071330"/>
                </a:solidFill>
                <a:latin typeface="IBM Plex Mono"/>
                <a:ea typeface="IBM Plex Mono"/>
                <a:cs typeface="IBM Plex Mono"/>
                <a:sym typeface="IBM Plex Mono"/>
              </a:rPr>
              <a:t>Presented By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CF60"/>
        </a:solidFill>
        <a:effectLst/>
      </p:bgPr>
    </p:bg>
    <p:spTree>
      <p:nvGrpSpPr>
        <p:cNvPr id="1" name=""/>
        <p:cNvGrpSpPr/>
        <p:nvPr/>
      </p:nvGrpSpPr>
      <p:grpSpPr>
        <a:xfrm>
          <a:off x="0" y="0"/>
          <a:ext cx="0" cy="0"/>
          <a:chOff x="0" y="0"/>
          <a:chExt cx="0" cy="0"/>
        </a:xfrm>
      </p:grpSpPr>
      <p:grpSp>
        <p:nvGrpSpPr>
          <p:cNvPr id="2" name="Group 2"/>
          <p:cNvGrpSpPr/>
          <p:nvPr/>
        </p:nvGrpSpPr>
        <p:grpSpPr>
          <a:xfrm>
            <a:off x="-460312" y="-201041"/>
            <a:ext cx="19208624" cy="10689082"/>
            <a:chOff x="0" y="0"/>
            <a:chExt cx="25611499" cy="14252110"/>
          </a:xfrm>
        </p:grpSpPr>
        <p:sp>
          <p:nvSpPr>
            <p:cNvPr id="3" name="Freeform 3"/>
            <p:cNvSpPr/>
            <p:nvPr/>
          </p:nvSpPr>
          <p:spPr>
            <a:xfrm>
              <a:off x="0"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1359389"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grpSp>
      <p:grpSp>
        <p:nvGrpSpPr>
          <p:cNvPr id="5" name="Group 5"/>
          <p:cNvGrpSpPr/>
          <p:nvPr/>
        </p:nvGrpSpPr>
        <p:grpSpPr>
          <a:xfrm>
            <a:off x="2293477" y="2106076"/>
            <a:ext cx="13701046" cy="7831019"/>
            <a:chOff x="0" y="0"/>
            <a:chExt cx="3845713" cy="2198070"/>
          </a:xfrm>
        </p:grpSpPr>
        <p:sp>
          <p:nvSpPr>
            <p:cNvPr id="6" name="Freeform 6"/>
            <p:cNvSpPr/>
            <p:nvPr/>
          </p:nvSpPr>
          <p:spPr>
            <a:xfrm>
              <a:off x="0" y="0"/>
              <a:ext cx="3845713" cy="2198070"/>
            </a:xfrm>
            <a:custGeom>
              <a:avLst/>
              <a:gdLst/>
              <a:ahLst/>
              <a:cxnLst/>
              <a:rect l="l" t="t" r="r" b="b"/>
              <a:pathLst>
                <a:path w="3845713" h="2198070">
                  <a:moveTo>
                    <a:pt x="17517" y="0"/>
                  </a:moveTo>
                  <a:lnTo>
                    <a:pt x="3828197" y="0"/>
                  </a:lnTo>
                  <a:cubicBezTo>
                    <a:pt x="3837871" y="0"/>
                    <a:pt x="3845713" y="7843"/>
                    <a:pt x="3845713" y="17517"/>
                  </a:cubicBezTo>
                  <a:lnTo>
                    <a:pt x="3845713" y="2180553"/>
                  </a:lnTo>
                  <a:cubicBezTo>
                    <a:pt x="3845713" y="2185199"/>
                    <a:pt x="3843868" y="2189655"/>
                    <a:pt x="3840583" y="2192940"/>
                  </a:cubicBezTo>
                  <a:cubicBezTo>
                    <a:pt x="3837298" y="2196225"/>
                    <a:pt x="3832842" y="2198070"/>
                    <a:pt x="3828197" y="2198070"/>
                  </a:cubicBezTo>
                  <a:lnTo>
                    <a:pt x="17517" y="2198070"/>
                  </a:lnTo>
                  <a:cubicBezTo>
                    <a:pt x="12871" y="2198070"/>
                    <a:pt x="8416" y="2196225"/>
                    <a:pt x="5131" y="2192940"/>
                  </a:cubicBezTo>
                  <a:cubicBezTo>
                    <a:pt x="1846" y="2189655"/>
                    <a:pt x="0" y="2185199"/>
                    <a:pt x="0" y="2180553"/>
                  </a:cubicBezTo>
                  <a:lnTo>
                    <a:pt x="0" y="17517"/>
                  </a:lnTo>
                  <a:cubicBezTo>
                    <a:pt x="0" y="12871"/>
                    <a:pt x="1846" y="8416"/>
                    <a:pt x="5131" y="5131"/>
                  </a:cubicBezTo>
                  <a:cubicBezTo>
                    <a:pt x="8416" y="1846"/>
                    <a:pt x="12871" y="0"/>
                    <a:pt x="17517" y="0"/>
                  </a:cubicBezTo>
                  <a:close/>
                </a:path>
              </a:pathLst>
            </a:custGeom>
            <a:solidFill>
              <a:srgbClr val="071330"/>
            </a:solidFill>
          </p:spPr>
        </p:sp>
        <p:sp>
          <p:nvSpPr>
            <p:cNvPr id="7" name="TextBox 7"/>
            <p:cNvSpPr txBox="1"/>
            <p:nvPr/>
          </p:nvSpPr>
          <p:spPr>
            <a:xfrm>
              <a:off x="0" y="-38100"/>
              <a:ext cx="3845713" cy="2236170"/>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4883090" y="614358"/>
            <a:ext cx="8521820" cy="1242077"/>
          </a:xfrm>
          <a:prstGeom prst="rect">
            <a:avLst/>
          </a:prstGeom>
        </p:spPr>
        <p:txBody>
          <a:bodyPr lIns="0" tIns="0" rIns="0" bIns="0" rtlCol="0" anchor="t">
            <a:spAutoFit/>
          </a:bodyPr>
          <a:lstStyle/>
          <a:p>
            <a:pPr algn="l">
              <a:lnSpc>
                <a:spcPts val="9545"/>
              </a:lnSpc>
            </a:pPr>
            <a:r>
              <a:rPr lang="en-US" sz="9178" b="1">
                <a:solidFill>
                  <a:srgbClr val="071330"/>
                </a:solidFill>
                <a:latin typeface="IBM Plex Mono Bold"/>
                <a:ea typeface="IBM Plex Mono Bold"/>
                <a:cs typeface="IBM Plex Mono Bold"/>
                <a:sym typeface="IBM Plex Mono Bold"/>
              </a:rPr>
              <a:t>Introduction</a:t>
            </a:r>
          </a:p>
        </p:txBody>
      </p:sp>
      <p:sp>
        <p:nvSpPr>
          <p:cNvPr id="9" name="TextBox 9"/>
          <p:cNvSpPr txBox="1"/>
          <p:nvPr/>
        </p:nvSpPr>
        <p:spPr>
          <a:xfrm>
            <a:off x="2759556" y="3203977"/>
            <a:ext cx="12651766" cy="1369146"/>
          </a:xfrm>
          <a:prstGeom prst="rect">
            <a:avLst/>
          </a:prstGeom>
        </p:spPr>
        <p:txBody>
          <a:bodyPr lIns="0" tIns="0" rIns="0" bIns="0" rtlCol="0" anchor="t">
            <a:spAutoFit/>
          </a:bodyPr>
          <a:lstStyle/>
          <a:p>
            <a:pPr algn="l">
              <a:lnSpc>
                <a:spcPts val="3662"/>
              </a:lnSpc>
            </a:pPr>
            <a:r>
              <a:rPr lang="en-US" sz="2953">
                <a:solidFill>
                  <a:srgbClr val="FFFFFF"/>
                </a:solidFill>
                <a:latin typeface="IBM Plex Mono"/>
                <a:ea typeface="IBM Plex Mono"/>
                <a:cs typeface="IBM Plex Mono"/>
                <a:sym typeface="IBM Plex Mono"/>
              </a:rPr>
              <a:t>With Spotify Wrapped happening this Wednesday let’s take a look at the Global Top 200 Chart Analytics from the start of January 2020.  </a:t>
            </a:r>
          </a:p>
        </p:txBody>
      </p:sp>
      <p:sp>
        <p:nvSpPr>
          <p:cNvPr id="10" name="TextBox 10"/>
          <p:cNvSpPr txBox="1"/>
          <p:nvPr/>
        </p:nvSpPr>
        <p:spPr>
          <a:xfrm>
            <a:off x="2759556" y="4868397"/>
            <a:ext cx="12768888" cy="4137446"/>
          </a:xfrm>
          <a:prstGeom prst="rect">
            <a:avLst/>
          </a:prstGeom>
        </p:spPr>
        <p:txBody>
          <a:bodyPr lIns="0" tIns="0" rIns="0" bIns="0" rtlCol="0" anchor="t">
            <a:spAutoFit/>
          </a:bodyPr>
          <a:lstStyle/>
          <a:p>
            <a:pPr algn="l">
              <a:lnSpc>
                <a:spcPts val="3662"/>
              </a:lnSpc>
            </a:pPr>
            <a:r>
              <a:rPr lang="en-US" sz="2953">
                <a:solidFill>
                  <a:srgbClr val="FFFFFF"/>
                </a:solidFill>
                <a:latin typeface="IBM Plex Mono"/>
                <a:ea typeface="IBM Plex Mono"/>
                <a:cs typeface="IBM Plex Mono"/>
                <a:sym typeface="IBM Plex Mono"/>
              </a:rPr>
              <a:t>About the Dataset: </a:t>
            </a:r>
          </a:p>
          <a:p>
            <a:pPr marL="637684" lvl="1" indent="-318842" algn="l">
              <a:lnSpc>
                <a:spcPts val="3662"/>
              </a:lnSpc>
              <a:buFont typeface="Arial"/>
              <a:buChar char="•"/>
            </a:pPr>
            <a:r>
              <a:rPr lang="en-US" sz="2953">
                <a:solidFill>
                  <a:srgbClr val="FFFFFF"/>
                </a:solidFill>
                <a:latin typeface="IBM Plex Mono"/>
                <a:ea typeface="IBM Plex Mono"/>
                <a:cs typeface="IBM Plex Mono"/>
                <a:sym typeface="IBM Plex Mono"/>
              </a:rPr>
              <a:t>Size : 1.46 GB</a:t>
            </a:r>
          </a:p>
          <a:p>
            <a:pPr marL="637684" lvl="1" indent="-318842" algn="l">
              <a:lnSpc>
                <a:spcPts val="3662"/>
              </a:lnSpc>
              <a:buFont typeface="Arial"/>
              <a:buChar char="•"/>
            </a:pPr>
            <a:r>
              <a:rPr lang="en-US" sz="2953">
                <a:solidFill>
                  <a:srgbClr val="FFFFFF"/>
                </a:solidFill>
                <a:latin typeface="IBM Plex Mono"/>
                <a:ea typeface="IBM Plex Mono"/>
                <a:cs typeface="IBM Plex Mono"/>
                <a:sym typeface="IBM Plex Mono"/>
              </a:rPr>
              <a:t>This is a dataset of all the "Top 200" and "Viral 50" charts published globally by Spotify. This is a collection that starts from January of 2020. </a:t>
            </a:r>
          </a:p>
          <a:p>
            <a:pPr marL="637684" lvl="1" indent="-318842" algn="l">
              <a:lnSpc>
                <a:spcPts val="3662"/>
              </a:lnSpc>
              <a:buFont typeface="Arial"/>
              <a:buChar char="•"/>
            </a:pPr>
            <a:r>
              <a:rPr lang="en-US" sz="2953">
                <a:solidFill>
                  <a:srgbClr val="FFFFFF"/>
                </a:solidFill>
                <a:latin typeface="IBM Plex Mono"/>
                <a:ea typeface="IBM Plex Mono"/>
                <a:cs typeface="IBM Plex Mono"/>
                <a:sym typeface="IBM Plex Mono"/>
              </a:rPr>
              <a:t>It is to be noted that the streams value is "NULL" for the Viral 50 category. </a:t>
            </a:r>
          </a:p>
          <a:p>
            <a:pPr marL="637684" lvl="1" indent="-318842" algn="l">
              <a:lnSpc>
                <a:spcPts val="3662"/>
              </a:lnSpc>
              <a:buFont typeface="Arial"/>
              <a:buChar char="•"/>
            </a:pPr>
            <a:r>
              <a:rPr lang="en-US" sz="2953">
                <a:solidFill>
                  <a:srgbClr val="FFFFFF"/>
                </a:solidFill>
                <a:latin typeface="IBM Plex Mono"/>
                <a:ea typeface="IBM Plex Mono"/>
                <a:cs typeface="IBM Plex Mono"/>
                <a:sym typeface="IBM Plex Mono"/>
              </a:rPr>
              <a:t>Source:https://www.kaggle.com/datasets/dhruvildave/spotify-charts</a:t>
            </a:r>
          </a:p>
        </p:txBody>
      </p:sp>
      <p:grpSp>
        <p:nvGrpSpPr>
          <p:cNvPr id="11" name="Group 11"/>
          <p:cNvGrpSpPr/>
          <p:nvPr/>
        </p:nvGrpSpPr>
        <p:grpSpPr>
          <a:xfrm>
            <a:off x="3094632" y="2586205"/>
            <a:ext cx="326098" cy="326098"/>
            <a:chOff x="0" y="0"/>
            <a:chExt cx="6350000" cy="6350000"/>
          </a:xfrm>
        </p:grpSpPr>
        <p:sp>
          <p:nvSpPr>
            <p:cNvPr id="12" name="Freeform 12"/>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E0F3F"/>
            </a:solidFill>
          </p:spPr>
        </p:sp>
      </p:grpSp>
      <p:grpSp>
        <p:nvGrpSpPr>
          <p:cNvPr id="13" name="Group 13"/>
          <p:cNvGrpSpPr/>
          <p:nvPr/>
        </p:nvGrpSpPr>
        <p:grpSpPr>
          <a:xfrm>
            <a:off x="3520786" y="2586205"/>
            <a:ext cx="326098" cy="326098"/>
            <a:chOff x="0" y="0"/>
            <a:chExt cx="6350000" cy="6350000"/>
          </a:xfrm>
        </p:grpSpPr>
        <p:sp>
          <p:nvSpPr>
            <p:cNvPr id="14" name="Freeform 14"/>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F60"/>
            </a:solidFill>
          </p:spPr>
        </p:sp>
      </p:grpSp>
      <p:grpSp>
        <p:nvGrpSpPr>
          <p:cNvPr id="15" name="Group 15"/>
          <p:cNvGrpSpPr/>
          <p:nvPr/>
        </p:nvGrpSpPr>
        <p:grpSpPr>
          <a:xfrm>
            <a:off x="3945196" y="2586205"/>
            <a:ext cx="326098" cy="326098"/>
            <a:chOff x="0" y="0"/>
            <a:chExt cx="6350000" cy="6350000"/>
          </a:xfrm>
        </p:grpSpPr>
        <p:sp>
          <p:nvSpPr>
            <p:cNvPr id="16" name="Freeform 16"/>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AC66B"/>
            </a:solidFill>
          </p:spPr>
        </p:sp>
      </p:gr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6AC66B"/>
        </a:solidFill>
        <a:effectLst/>
      </p:bgPr>
    </p:bg>
    <p:spTree>
      <p:nvGrpSpPr>
        <p:cNvPr id="1" name=""/>
        <p:cNvGrpSpPr/>
        <p:nvPr/>
      </p:nvGrpSpPr>
      <p:grpSpPr>
        <a:xfrm>
          <a:off x="0" y="0"/>
          <a:ext cx="0" cy="0"/>
          <a:chOff x="0" y="0"/>
          <a:chExt cx="0" cy="0"/>
        </a:xfrm>
      </p:grpSpPr>
      <p:grpSp>
        <p:nvGrpSpPr>
          <p:cNvPr id="2" name="Group 2"/>
          <p:cNvGrpSpPr/>
          <p:nvPr/>
        </p:nvGrpSpPr>
        <p:grpSpPr>
          <a:xfrm>
            <a:off x="-460312" y="-201041"/>
            <a:ext cx="19208624" cy="10689082"/>
            <a:chOff x="0" y="0"/>
            <a:chExt cx="25611499" cy="14252110"/>
          </a:xfrm>
        </p:grpSpPr>
        <p:sp>
          <p:nvSpPr>
            <p:cNvPr id="3" name="Freeform 3"/>
            <p:cNvSpPr/>
            <p:nvPr/>
          </p:nvSpPr>
          <p:spPr>
            <a:xfrm>
              <a:off x="0"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1359389"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grpSp>
      <p:grpSp>
        <p:nvGrpSpPr>
          <p:cNvPr id="5" name="Group 5"/>
          <p:cNvGrpSpPr/>
          <p:nvPr/>
        </p:nvGrpSpPr>
        <p:grpSpPr>
          <a:xfrm>
            <a:off x="324879" y="205236"/>
            <a:ext cx="12834171" cy="6320056"/>
            <a:chOff x="0" y="0"/>
            <a:chExt cx="3845713" cy="1893782"/>
          </a:xfrm>
        </p:grpSpPr>
        <p:sp>
          <p:nvSpPr>
            <p:cNvPr id="6" name="Freeform 6"/>
            <p:cNvSpPr/>
            <p:nvPr/>
          </p:nvSpPr>
          <p:spPr>
            <a:xfrm>
              <a:off x="0" y="0"/>
              <a:ext cx="3845713" cy="1893782"/>
            </a:xfrm>
            <a:custGeom>
              <a:avLst/>
              <a:gdLst/>
              <a:ahLst/>
              <a:cxnLst/>
              <a:rect l="l" t="t" r="r" b="b"/>
              <a:pathLst>
                <a:path w="3845713" h="1893782">
                  <a:moveTo>
                    <a:pt x="18700" y="0"/>
                  </a:moveTo>
                  <a:lnTo>
                    <a:pt x="3827013" y="0"/>
                  </a:lnTo>
                  <a:cubicBezTo>
                    <a:pt x="3837341" y="0"/>
                    <a:pt x="3845713" y="8372"/>
                    <a:pt x="3845713" y="18700"/>
                  </a:cubicBezTo>
                  <a:lnTo>
                    <a:pt x="3845713" y="1875082"/>
                  </a:lnTo>
                  <a:cubicBezTo>
                    <a:pt x="3845713" y="1885410"/>
                    <a:pt x="3837341" y="1893782"/>
                    <a:pt x="3827013" y="1893782"/>
                  </a:cubicBezTo>
                  <a:lnTo>
                    <a:pt x="18700" y="1893782"/>
                  </a:lnTo>
                  <a:cubicBezTo>
                    <a:pt x="8372" y="1893782"/>
                    <a:pt x="0" y="1885410"/>
                    <a:pt x="0" y="1875082"/>
                  </a:cubicBezTo>
                  <a:lnTo>
                    <a:pt x="0" y="18700"/>
                  </a:lnTo>
                  <a:cubicBezTo>
                    <a:pt x="0" y="8372"/>
                    <a:pt x="8372" y="0"/>
                    <a:pt x="18700" y="0"/>
                  </a:cubicBezTo>
                  <a:close/>
                </a:path>
              </a:pathLst>
            </a:custGeom>
            <a:solidFill>
              <a:srgbClr val="071330"/>
            </a:solidFill>
          </p:spPr>
        </p:sp>
        <p:sp>
          <p:nvSpPr>
            <p:cNvPr id="7" name="TextBox 7"/>
            <p:cNvSpPr txBox="1"/>
            <p:nvPr/>
          </p:nvSpPr>
          <p:spPr>
            <a:xfrm>
              <a:off x="0" y="-38100"/>
              <a:ext cx="3845713" cy="193188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8395112" y="6088739"/>
            <a:ext cx="9527875" cy="3907649"/>
            <a:chOff x="0" y="0"/>
            <a:chExt cx="4133653" cy="1695327"/>
          </a:xfrm>
        </p:grpSpPr>
        <p:sp>
          <p:nvSpPr>
            <p:cNvPr id="9" name="Freeform 9"/>
            <p:cNvSpPr/>
            <p:nvPr/>
          </p:nvSpPr>
          <p:spPr>
            <a:xfrm>
              <a:off x="0" y="0"/>
              <a:ext cx="4133653" cy="1695327"/>
            </a:xfrm>
            <a:custGeom>
              <a:avLst/>
              <a:gdLst/>
              <a:ahLst/>
              <a:cxnLst/>
              <a:rect l="l" t="t" r="r" b="b"/>
              <a:pathLst>
                <a:path w="4133653" h="1695327">
                  <a:moveTo>
                    <a:pt x="25189" y="0"/>
                  </a:moveTo>
                  <a:lnTo>
                    <a:pt x="4108464" y="0"/>
                  </a:lnTo>
                  <a:cubicBezTo>
                    <a:pt x="4122376" y="0"/>
                    <a:pt x="4133653" y="11278"/>
                    <a:pt x="4133653" y="25189"/>
                  </a:cubicBezTo>
                  <a:lnTo>
                    <a:pt x="4133653" y="1670138"/>
                  </a:lnTo>
                  <a:cubicBezTo>
                    <a:pt x="4133653" y="1676819"/>
                    <a:pt x="4130999" y="1683226"/>
                    <a:pt x="4126275" y="1687950"/>
                  </a:cubicBezTo>
                  <a:cubicBezTo>
                    <a:pt x="4121552" y="1692673"/>
                    <a:pt x="4115145" y="1695327"/>
                    <a:pt x="4108464" y="1695327"/>
                  </a:cubicBezTo>
                  <a:lnTo>
                    <a:pt x="25189" y="1695327"/>
                  </a:lnTo>
                  <a:cubicBezTo>
                    <a:pt x="11278" y="1695327"/>
                    <a:pt x="0" y="1684050"/>
                    <a:pt x="0" y="1670138"/>
                  </a:cubicBezTo>
                  <a:lnTo>
                    <a:pt x="0" y="25189"/>
                  </a:lnTo>
                  <a:cubicBezTo>
                    <a:pt x="0" y="11278"/>
                    <a:pt x="11278" y="0"/>
                    <a:pt x="25189" y="0"/>
                  </a:cubicBezTo>
                  <a:close/>
                </a:path>
              </a:pathLst>
            </a:custGeom>
            <a:solidFill>
              <a:srgbClr val="FFFFFF"/>
            </a:solidFill>
          </p:spPr>
        </p:sp>
        <p:sp>
          <p:nvSpPr>
            <p:cNvPr id="10" name="TextBox 10"/>
            <p:cNvSpPr txBox="1"/>
            <p:nvPr/>
          </p:nvSpPr>
          <p:spPr>
            <a:xfrm>
              <a:off x="0" y="-38100"/>
              <a:ext cx="4133653" cy="1733427"/>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324879" y="7294715"/>
            <a:ext cx="8070233" cy="1024391"/>
          </a:xfrm>
          <a:prstGeom prst="rect">
            <a:avLst/>
          </a:prstGeom>
        </p:spPr>
        <p:txBody>
          <a:bodyPr lIns="0" tIns="0" rIns="0" bIns="0" rtlCol="0" anchor="t">
            <a:spAutoFit/>
          </a:bodyPr>
          <a:lstStyle/>
          <a:p>
            <a:pPr algn="l">
              <a:lnSpc>
                <a:spcPts val="7848"/>
              </a:lnSpc>
            </a:pPr>
            <a:r>
              <a:rPr lang="en-US" sz="7546" b="1">
                <a:solidFill>
                  <a:srgbClr val="FFFFFF"/>
                </a:solidFill>
                <a:latin typeface="IBM Plex Mono Bold"/>
                <a:ea typeface="IBM Plex Mono Bold"/>
                <a:cs typeface="IBM Plex Mono Bold"/>
                <a:sym typeface="IBM Plex Mono Bold"/>
              </a:rPr>
              <a:t>Data Overview </a:t>
            </a:r>
          </a:p>
        </p:txBody>
      </p:sp>
      <p:sp>
        <p:nvSpPr>
          <p:cNvPr id="12" name="TextBox 12"/>
          <p:cNvSpPr txBox="1"/>
          <p:nvPr/>
        </p:nvSpPr>
        <p:spPr>
          <a:xfrm>
            <a:off x="1075343" y="1223335"/>
            <a:ext cx="11102543" cy="5019050"/>
          </a:xfrm>
          <a:prstGeom prst="rect">
            <a:avLst/>
          </a:prstGeom>
        </p:spPr>
        <p:txBody>
          <a:bodyPr lIns="0" tIns="0" rIns="0" bIns="0" rtlCol="0" anchor="t">
            <a:spAutoFit/>
          </a:bodyPr>
          <a:lstStyle/>
          <a:p>
            <a:pPr algn="l">
              <a:lnSpc>
                <a:spcPts val="3981"/>
              </a:lnSpc>
            </a:pPr>
            <a:r>
              <a:rPr lang="en-US" sz="3211">
                <a:solidFill>
                  <a:srgbClr val="FFFFFF"/>
                </a:solidFill>
                <a:latin typeface="IBM Plex Mono"/>
                <a:ea typeface="IBM Plex Mono"/>
                <a:cs typeface="IBM Plex Mono"/>
                <a:sym typeface="IBM Plex Mono"/>
              </a:rPr>
              <a:t>Columns :</a:t>
            </a:r>
          </a:p>
          <a:p>
            <a:pPr marL="1386622" lvl="2" indent="-462207" algn="l">
              <a:lnSpc>
                <a:spcPts val="3981"/>
              </a:lnSpc>
              <a:buAutoNum type="alphaLcPeriod"/>
            </a:pPr>
            <a:r>
              <a:rPr lang="en-US" sz="3211">
                <a:solidFill>
                  <a:srgbClr val="FFFFFF"/>
                </a:solidFill>
                <a:latin typeface="IBM Plex Mono"/>
                <a:ea typeface="IBM Plex Mono"/>
                <a:cs typeface="IBM Plex Mono"/>
                <a:sym typeface="IBM Plex Mono"/>
              </a:rPr>
              <a:t>Rank: Position of the track on the chart.</a:t>
            </a:r>
          </a:p>
          <a:p>
            <a:pPr marL="1386622" lvl="2" indent="-462207" algn="l">
              <a:lnSpc>
                <a:spcPts val="3981"/>
              </a:lnSpc>
              <a:buAutoNum type="alphaLcPeriod"/>
            </a:pPr>
            <a:r>
              <a:rPr lang="en-US" sz="3211">
                <a:solidFill>
                  <a:srgbClr val="FFFFFF"/>
                </a:solidFill>
                <a:latin typeface="IBM Plex Mono"/>
                <a:ea typeface="IBM Plex Mono"/>
                <a:cs typeface="IBM Plex Mono"/>
                <a:sym typeface="IBM Plex Mono"/>
              </a:rPr>
              <a:t>Track Name: Name of the track.</a:t>
            </a:r>
          </a:p>
          <a:p>
            <a:pPr marL="1386622" lvl="2" indent="-462207" algn="l">
              <a:lnSpc>
                <a:spcPts val="3981"/>
              </a:lnSpc>
              <a:buAutoNum type="alphaLcPeriod"/>
            </a:pPr>
            <a:r>
              <a:rPr lang="en-US" sz="3211">
                <a:solidFill>
                  <a:srgbClr val="FFFFFF"/>
                </a:solidFill>
                <a:latin typeface="IBM Plex Mono"/>
                <a:ea typeface="IBM Plex Mono"/>
                <a:cs typeface="IBM Plex Mono"/>
                <a:sym typeface="IBM Plex Mono"/>
              </a:rPr>
              <a:t>Artist: Artist(s) performing the track.</a:t>
            </a:r>
          </a:p>
          <a:p>
            <a:pPr marL="1386622" lvl="2" indent="-462207" algn="l">
              <a:lnSpc>
                <a:spcPts val="3981"/>
              </a:lnSpc>
              <a:buAutoNum type="alphaLcPeriod"/>
            </a:pPr>
            <a:r>
              <a:rPr lang="en-US" sz="3211">
                <a:solidFill>
                  <a:srgbClr val="FFFFFF"/>
                </a:solidFill>
                <a:latin typeface="IBM Plex Mono"/>
                <a:ea typeface="IBM Plex Mono"/>
                <a:cs typeface="IBM Plex Mono"/>
                <a:sym typeface="IBM Plex Mono"/>
              </a:rPr>
              <a:t>Streams: Number of times the track was streamed.</a:t>
            </a:r>
          </a:p>
          <a:p>
            <a:pPr marL="1386622" lvl="2" indent="-462207" algn="l">
              <a:lnSpc>
                <a:spcPts val="3981"/>
              </a:lnSpc>
              <a:buAutoNum type="alphaLcPeriod"/>
            </a:pPr>
            <a:r>
              <a:rPr lang="en-US" sz="3211">
                <a:solidFill>
                  <a:srgbClr val="FFFFFF"/>
                </a:solidFill>
                <a:latin typeface="IBM Plex Mono"/>
                <a:ea typeface="IBM Plex Mono"/>
                <a:cs typeface="IBM Plex Mono"/>
                <a:sym typeface="IBM Plex Mono"/>
              </a:rPr>
              <a:t>Date: Date of the chart.</a:t>
            </a:r>
          </a:p>
          <a:p>
            <a:pPr marL="1386622" lvl="2" indent="-462207" algn="l">
              <a:lnSpc>
                <a:spcPts val="3981"/>
              </a:lnSpc>
              <a:buAutoNum type="alphaLcPeriod"/>
            </a:pPr>
            <a:r>
              <a:rPr lang="en-US" sz="3211">
                <a:solidFill>
                  <a:srgbClr val="FFFFFF"/>
                </a:solidFill>
                <a:latin typeface="IBM Plex Mono"/>
                <a:ea typeface="IBM Plex Mono"/>
                <a:cs typeface="IBM Plex Mono"/>
                <a:sym typeface="IBM Plex Mono"/>
              </a:rPr>
              <a:t>Region: Geographical region of the chart.</a:t>
            </a:r>
          </a:p>
        </p:txBody>
      </p:sp>
      <p:sp>
        <p:nvSpPr>
          <p:cNvPr id="13" name="TextBox 13"/>
          <p:cNvSpPr txBox="1"/>
          <p:nvPr/>
        </p:nvSpPr>
        <p:spPr>
          <a:xfrm>
            <a:off x="9016956" y="6900207"/>
            <a:ext cx="8242344" cy="2423493"/>
          </a:xfrm>
          <a:prstGeom prst="rect">
            <a:avLst/>
          </a:prstGeom>
        </p:spPr>
        <p:txBody>
          <a:bodyPr lIns="0" tIns="0" rIns="0" bIns="0" rtlCol="0" anchor="t">
            <a:spAutoFit/>
          </a:bodyPr>
          <a:lstStyle/>
          <a:p>
            <a:pPr algn="l">
              <a:lnSpc>
                <a:spcPts val="2750"/>
              </a:lnSpc>
            </a:pPr>
            <a:r>
              <a:rPr lang="en-US" sz="2217">
                <a:solidFill>
                  <a:srgbClr val="071330"/>
                </a:solidFill>
                <a:latin typeface="IBM Plex Mono"/>
                <a:ea typeface="IBM Plex Mono"/>
                <a:cs typeface="IBM Plex Mono"/>
                <a:sym typeface="IBM Plex Mono"/>
              </a:rPr>
              <a:t>Some of the initial observations are;</a:t>
            </a:r>
          </a:p>
          <a:p>
            <a:pPr marL="957699" lvl="2" indent="-319233" algn="l">
              <a:lnSpc>
                <a:spcPts val="2750"/>
              </a:lnSpc>
              <a:buAutoNum type="alphaLcPeriod"/>
            </a:pPr>
            <a:r>
              <a:rPr lang="en-US" sz="2217">
                <a:solidFill>
                  <a:srgbClr val="071330"/>
                </a:solidFill>
                <a:latin typeface="IBM Plex Mono"/>
                <a:ea typeface="IBM Plex Mono"/>
                <a:cs typeface="IBM Plex Mono"/>
                <a:sym typeface="IBM Plex Mono"/>
              </a:rPr>
              <a:t>Dataset covers Spotify’s Top 200 charts starting from January 2020.</a:t>
            </a:r>
          </a:p>
          <a:p>
            <a:pPr marL="957699" lvl="2" indent="-319233" algn="l">
              <a:lnSpc>
                <a:spcPts val="2750"/>
              </a:lnSpc>
              <a:buAutoNum type="alphaLcPeriod"/>
            </a:pPr>
            <a:r>
              <a:rPr lang="en-US" sz="2217">
                <a:solidFill>
                  <a:srgbClr val="071330"/>
                </a:solidFill>
                <a:latin typeface="IBM Plex Mono"/>
                <a:ea typeface="IBM Plex Mono"/>
                <a:cs typeface="IBM Plex Mono"/>
                <a:sym typeface="IBM Plex Mono"/>
              </a:rPr>
              <a:t>Regions include global and country-specific charts.</a:t>
            </a:r>
          </a:p>
          <a:p>
            <a:pPr marL="957699" lvl="2" indent="-319233" algn="l">
              <a:lnSpc>
                <a:spcPts val="2750"/>
              </a:lnSpc>
              <a:buAutoNum type="alphaLcPeriod"/>
            </a:pPr>
            <a:r>
              <a:rPr lang="en-US" sz="2217">
                <a:solidFill>
                  <a:srgbClr val="071330"/>
                </a:solidFill>
                <a:latin typeface="IBM Plex Mono"/>
                <a:ea typeface="IBM Plex Mono"/>
                <a:cs typeface="IBM Plex Mono"/>
                <a:sym typeface="IBM Plex Mono"/>
              </a:rPr>
              <a:t>Each date represents a snapshot of streaming data for that day.</a:t>
            </a:r>
          </a:p>
        </p:txBody>
      </p:sp>
      <p:grpSp>
        <p:nvGrpSpPr>
          <p:cNvPr id="14" name="Group 14"/>
          <p:cNvGrpSpPr/>
          <p:nvPr/>
        </p:nvGrpSpPr>
        <p:grpSpPr>
          <a:xfrm>
            <a:off x="1075343" y="654986"/>
            <a:ext cx="305465" cy="305465"/>
            <a:chOff x="0" y="0"/>
            <a:chExt cx="6350000" cy="6350000"/>
          </a:xfrm>
        </p:grpSpPr>
        <p:sp>
          <p:nvSpPr>
            <p:cNvPr id="15" name="Freeform 1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E0F3F"/>
            </a:solidFill>
          </p:spPr>
        </p:sp>
      </p:grpSp>
      <p:grpSp>
        <p:nvGrpSpPr>
          <p:cNvPr id="16" name="Group 16"/>
          <p:cNvGrpSpPr/>
          <p:nvPr/>
        </p:nvGrpSpPr>
        <p:grpSpPr>
          <a:xfrm>
            <a:off x="8952245" y="6399369"/>
            <a:ext cx="226772" cy="210976"/>
            <a:chOff x="0" y="0"/>
            <a:chExt cx="6825443" cy="6350000"/>
          </a:xfrm>
        </p:grpSpPr>
        <p:sp>
          <p:nvSpPr>
            <p:cNvPr id="17" name="Freeform 17"/>
            <p:cNvSpPr/>
            <p:nvPr/>
          </p:nvSpPr>
          <p:spPr>
            <a:xfrm>
              <a:off x="0" y="0"/>
              <a:ext cx="6825443" cy="6350000"/>
            </a:xfrm>
            <a:custGeom>
              <a:avLst/>
              <a:gdLst/>
              <a:ahLst/>
              <a:cxnLst/>
              <a:rect l="l" t="t" r="r" b="b"/>
              <a:pathLst>
                <a:path w="6825443" h="6350000">
                  <a:moveTo>
                    <a:pt x="3412722" y="0"/>
                  </a:moveTo>
                  <a:cubicBezTo>
                    <a:pt x="1527927" y="0"/>
                    <a:pt x="0" y="1421496"/>
                    <a:pt x="0" y="3175000"/>
                  </a:cubicBezTo>
                  <a:cubicBezTo>
                    <a:pt x="0" y="4928504"/>
                    <a:pt x="1527927" y="6350000"/>
                    <a:pt x="3412722" y="6350000"/>
                  </a:cubicBezTo>
                  <a:cubicBezTo>
                    <a:pt x="5297515" y="6350000"/>
                    <a:pt x="6825443" y="4928504"/>
                    <a:pt x="6825443" y="3175000"/>
                  </a:cubicBezTo>
                  <a:cubicBezTo>
                    <a:pt x="6825443" y="1421496"/>
                    <a:pt x="5297515" y="0"/>
                    <a:pt x="3412722" y="0"/>
                  </a:cubicBezTo>
                  <a:close/>
                </a:path>
              </a:pathLst>
            </a:custGeom>
            <a:solidFill>
              <a:srgbClr val="DE0F3F"/>
            </a:solidFill>
          </p:spPr>
        </p:sp>
      </p:grpSp>
      <p:grpSp>
        <p:nvGrpSpPr>
          <p:cNvPr id="18" name="Group 18"/>
          <p:cNvGrpSpPr/>
          <p:nvPr/>
        </p:nvGrpSpPr>
        <p:grpSpPr>
          <a:xfrm>
            <a:off x="1474535" y="654986"/>
            <a:ext cx="305465" cy="305465"/>
            <a:chOff x="0" y="0"/>
            <a:chExt cx="6350000" cy="6350000"/>
          </a:xfrm>
        </p:grpSpPr>
        <p:sp>
          <p:nvSpPr>
            <p:cNvPr id="19" name="Freeform 1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F60"/>
            </a:solidFill>
          </p:spPr>
        </p:sp>
      </p:grpSp>
      <p:grpSp>
        <p:nvGrpSpPr>
          <p:cNvPr id="20" name="Group 20"/>
          <p:cNvGrpSpPr/>
          <p:nvPr/>
        </p:nvGrpSpPr>
        <p:grpSpPr>
          <a:xfrm>
            <a:off x="9248598" y="6399369"/>
            <a:ext cx="226772" cy="210976"/>
            <a:chOff x="0" y="0"/>
            <a:chExt cx="6825443" cy="6350000"/>
          </a:xfrm>
        </p:grpSpPr>
        <p:sp>
          <p:nvSpPr>
            <p:cNvPr id="21" name="Freeform 21"/>
            <p:cNvSpPr/>
            <p:nvPr/>
          </p:nvSpPr>
          <p:spPr>
            <a:xfrm>
              <a:off x="0" y="0"/>
              <a:ext cx="6825443" cy="6350000"/>
            </a:xfrm>
            <a:custGeom>
              <a:avLst/>
              <a:gdLst/>
              <a:ahLst/>
              <a:cxnLst/>
              <a:rect l="l" t="t" r="r" b="b"/>
              <a:pathLst>
                <a:path w="6825443" h="6350000">
                  <a:moveTo>
                    <a:pt x="3412722" y="0"/>
                  </a:moveTo>
                  <a:cubicBezTo>
                    <a:pt x="1527927" y="0"/>
                    <a:pt x="0" y="1421496"/>
                    <a:pt x="0" y="3175000"/>
                  </a:cubicBezTo>
                  <a:cubicBezTo>
                    <a:pt x="0" y="4928504"/>
                    <a:pt x="1527927" y="6350000"/>
                    <a:pt x="3412722" y="6350000"/>
                  </a:cubicBezTo>
                  <a:cubicBezTo>
                    <a:pt x="5297515" y="6350000"/>
                    <a:pt x="6825443" y="4928504"/>
                    <a:pt x="6825443" y="3175000"/>
                  </a:cubicBezTo>
                  <a:cubicBezTo>
                    <a:pt x="6825443" y="1421496"/>
                    <a:pt x="5297515" y="0"/>
                    <a:pt x="3412722" y="0"/>
                  </a:cubicBezTo>
                  <a:close/>
                </a:path>
              </a:pathLst>
            </a:custGeom>
            <a:solidFill>
              <a:srgbClr val="FFCF60"/>
            </a:solidFill>
          </p:spPr>
        </p:sp>
      </p:grpSp>
      <p:grpSp>
        <p:nvGrpSpPr>
          <p:cNvPr id="22" name="Group 22"/>
          <p:cNvGrpSpPr/>
          <p:nvPr/>
        </p:nvGrpSpPr>
        <p:grpSpPr>
          <a:xfrm>
            <a:off x="1872092" y="654986"/>
            <a:ext cx="305465" cy="305465"/>
            <a:chOff x="0" y="0"/>
            <a:chExt cx="6350000" cy="6350000"/>
          </a:xfrm>
        </p:grpSpPr>
        <p:sp>
          <p:nvSpPr>
            <p:cNvPr id="23" name="Freeform 2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AC66B"/>
            </a:solidFill>
          </p:spPr>
        </p:sp>
      </p:grpSp>
      <p:grpSp>
        <p:nvGrpSpPr>
          <p:cNvPr id="24" name="Group 24"/>
          <p:cNvGrpSpPr/>
          <p:nvPr/>
        </p:nvGrpSpPr>
        <p:grpSpPr>
          <a:xfrm>
            <a:off x="9543738" y="6399369"/>
            <a:ext cx="226772" cy="210976"/>
            <a:chOff x="0" y="0"/>
            <a:chExt cx="6825443" cy="6350000"/>
          </a:xfrm>
        </p:grpSpPr>
        <p:sp>
          <p:nvSpPr>
            <p:cNvPr id="25" name="Freeform 25"/>
            <p:cNvSpPr/>
            <p:nvPr/>
          </p:nvSpPr>
          <p:spPr>
            <a:xfrm>
              <a:off x="0" y="0"/>
              <a:ext cx="6825443" cy="6350000"/>
            </a:xfrm>
            <a:custGeom>
              <a:avLst/>
              <a:gdLst/>
              <a:ahLst/>
              <a:cxnLst/>
              <a:rect l="l" t="t" r="r" b="b"/>
              <a:pathLst>
                <a:path w="6825443" h="6350000">
                  <a:moveTo>
                    <a:pt x="3412722" y="0"/>
                  </a:moveTo>
                  <a:cubicBezTo>
                    <a:pt x="1527927" y="0"/>
                    <a:pt x="0" y="1421496"/>
                    <a:pt x="0" y="3175000"/>
                  </a:cubicBezTo>
                  <a:cubicBezTo>
                    <a:pt x="0" y="4928504"/>
                    <a:pt x="1527927" y="6350000"/>
                    <a:pt x="3412722" y="6350000"/>
                  </a:cubicBezTo>
                  <a:cubicBezTo>
                    <a:pt x="5297515" y="6350000"/>
                    <a:pt x="6825443" y="4928504"/>
                    <a:pt x="6825443" y="3175000"/>
                  </a:cubicBezTo>
                  <a:cubicBezTo>
                    <a:pt x="6825443" y="1421496"/>
                    <a:pt x="5297515" y="0"/>
                    <a:pt x="3412722" y="0"/>
                  </a:cubicBezTo>
                  <a:close/>
                </a:path>
              </a:pathLst>
            </a:custGeom>
            <a:solidFill>
              <a:srgbClr val="6AC66B"/>
            </a:solidFill>
          </p:spPr>
        </p:sp>
      </p:gr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6AC66B"/>
        </a:solidFill>
        <a:effectLst/>
      </p:bgPr>
    </p:bg>
    <p:spTree>
      <p:nvGrpSpPr>
        <p:cNvPr id="1" name=""/>
        <p:cNvGrpSpPr/>
        <p:nvPr/>
      </p:nvGrpSpPr>
      <p:grpSpPr>
        <a:xfrm>
          <a:off x="0" y="0"/>
          <a:ext cx="0" cy="0"/>
          <a:chOff x="0" y="0"/>
          <a:chExt cx="0" cy="0"/>
        </a:xfrm>
      </p:grpSpPr>
      <p:grpSp>
        <p:nvGrpSpPr>
          <p:cNvPr id="2" name="Group 2"/>
          <p:cNvGrpSpPr/>
          <p:nvPr/>
        </p:nvGrpSpPr>
        <p:grpSpPr>
          <a:xfrm>
            <a:off x="-460312" y="-201041"/>
            <a:ext cx="19208624" cy="10689082"/>
            <a:chOff x="0" y="0"/>
            <a:chExt cx="25611499" cy="14252110"/>
          </a:xfrm>
        </p:grpSpPr>
        <p:sp>
          <p:nvSpPr>
            <p:cNvPr id="3" name="Freeform 3"/>
            <p:cNvSpPr/>
            <p:nvPr/>
          </p:nvSpPr>
          <p:spPr>
            <a:xfrm>
              <a:off x="0"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1359389"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grpSp>
      <p:grpSp>
        <p:nvGrpSpPr>
          <p:cNvPr id="5" name="Group 5"/>
          <p:cNvGrpSpPr/>
          <p:nvPr/>
        </p:nvGrpSpPr>
        <p:grpSpPr>
          <a:xfrm>
            <a:off x="601089" y="5435143"/>
            <a:ext cx="10135567" cy="4295420"/>
            <a:chOff x="0" y="0"/>
            <a:chExt cx="3845713" cy="1629801"/>
          </a:xfrm>
        </p:grpSpPr>
        <p:sp>
          <p:nvSpPr>
            <p:cNvPr id="6" name="Freeform 6"/>
            <p:cNvSpPr/>
            <p:nvPr/>
          </p:nvSpPr>
          <p:spPr>
            <a:xfrm>
              <a:off x="0" y="0"/>
              <a:ext cx="3845713" cy="1629801"/>
            </a:xfrm>
            <a:custGeom>
              <a:avLst/>
              <a:gdLst/>
              <a:ahLst/>
              <a:cxnLst/>
              <a:rect l="l" t="t" r="r" b="b"/>
              <a:pathLst>
                <a:path w="3845713" h="1629801">
                  <a:moveTo>
                    <a:pt x="23679" y="0"/>
                  </a:moveTo>
                  <a:lnTo>
                    <a:pt x="3822035" y="0"/>
                  </a:lnTo>
                  <a:cubicBezTo>
                    <a:pt x="3835112" y="0"/>
                    <a:pt x="3845713" y="10601"/>
                    <a:pt x="3845713" y="23679"/>
                  </a:cubicBezTo>
                  <a:lnTo>
                    <a:pt x="3845713" y="1606122"/>
                  </a:lnTo>
                  <a:cubicBezTo>
                    <a:pt x="3845713" y="1619199"/>
                    <a:pt x="3835112" y="1629801"/>
                    <a:pt x="3822035" y="1629801"/>
                  </a:cubicBezTo>
                  <a:lnTo>
                    <a:pt x="23679" y="1629801"/>
                  </a:lnTo>
                  <a:cubicBezTo>
                    <a:pt x="10601" y="1629801"/>
                    <a:pt x="0" y="1619199"/>
                    <a:pt x="0" y="1606122"/>
                  </a:cubicBezTo>
                  <a:lnTo>
                    <a:pt x="0" y="23679"/>
                  </a:lnTo>
                  <a:cubicBezTo>
                    <a:pt x="0" y="10601"/>
                    <a:pt x="10601" y="0"/>
                    <a:pt x="23679" y="0"/>
                  </a:cubicBezTo>
                  <a:close/>
                </a:path>
              </a:pathLst>
            </a:custGeom>
            <a:solidFill>
              <a:srgbClr val="071330"/>
            </a:solidFill>
          </p:spPr>
        </p:sp>
        <p:sp>
          <p:nvSpPr>
            <p:cNvPr id="7" name="TextBox 7"/>
            <p:cNvSpPr txBox="1"/>
            <p:nvPr/>
          </p:nvSpPr>
          <p:spPr>
            <a:xfrm>
              <a:off x="0" y="-38100"/>
              <a:ext cx="3845713" cy="1667901"/>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1028700" y="1284995"/>
            <a:ext cx="6842606" cy="2075348"/>
          </a:xfrm>
          <a:prstGeom prst="rect">
            <a:avLst/>
          </a:prstGeom>
        </p:spPr>
        <p:txBody>
          <a:bodyPr lIns="0" tIns="0" rIns="0" bIns="0" rtlCol="0" anchor="t">
            <a:spAutoFit/>
          </a:bodyPr>
          <a:lstStyle/>
          <a:p>
            <a:pPr algn="l">
              <a:lnSpc>
                <a:spcPts val="8125"/>
              </a:lnSpc>
            </a:pPr>
            <a:r>
              <a:rPr lang="en-US" sz="7813" b="1">
                <a:solidFill>
                  <a:srgbClr val="FFFFFF"/>
                </a:solidFill>
                <a:latin typeface="IBM Plex Mono Bold"/>
                <a:ea typeface="IBM Plex Mono Bold"/>
                <a:cs typeface="IBM Plex Mono Bold"/>
                <a:sym typeface="IBM Plex Mono Bold"/>
              </a:rPr>
              <a:t>Basic Data Exploration</a:t>
            </a:r>
          </a:p>
        </p:txBody>
      </p:sp>
      <p:sp>
        <p:nvSpPr>
          <p:cNvPr id="9" name="TextBox 9"/>
          <p:cNvSpPr txBox="1"/>
          <p:nvPr/>
        </p:nvSpPr>
        <p:spPr>
          <a:xfrm>
            <a:off x="1193756" y="7087367"/>
            <a:ext cx="8768044" cy="1194631"/>
          </a:xfrm>
          <a:prstGeom prst="rect">
            <a:avLst/>
          </a:prstGeom>
        </p:spPr>
        <p:txBody>
          <a:bodyPr lIns="0" tIns="0" rIns="0" bIns="0" rtlCol="0" anchor="t">
            <a:spAutoFit/>
          </a:bodyPr>
          <a:lstStyle/>
          <a:p>
            <a:pPr algn="l">
              <a:lnSpc>
                <a:spcPts val="3144"/>
              </a:lnSpc>
            </a:pPr>
            <a:r>
              <a:rPr lang="en-US" sz="2536">
                <a:solidFill>
                  <a:srgbClr val="FFFFFF"/>
                </a:solidFill>
                <a:latin typeface="IBM Plex Mono"/>
                <a:ea typeface="IBM Plex Mono"/>
                <a:cs typeface="IBM Plex Mono"/>
                <a:sym typeface="IBM Plex Mono"/>
              </a:rPr>
              <a:t>Bad Bunny was the most frequent artist in the dataset, appearing 115,793 times in the charts.</a:t>
            </a:r>
          </a:p>
        </p:txBody>
      </p:sp>
      <p:grpSp>
        <p:nvGrpSpPr>
          <p:cNvPr id="10" name="Group 10"/>
          <p:cNvGrpSpPr/>
          <p:nvPr/>
        </p:nvGrpSpPr>
        <p:grpSpPr>
          <a:xfrm>
            <a:off x="1193756" y="5790326"/>
            <a:ext cx="241236" cy="241236"/>
            <a:chOff x="0" y="0"/>
            <a:chExt cx="6350000" cy="6350000"/>
          </a:xfrm>
        </p:grpSpPr>
        <p:sp>
          <p:nvSpPr>
            <p:cNvPr id="11" name="Freeform 1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E0F3F"/>
            </a:solidFill>
          </p:spPr>
        </p:sp>
      </p:grpSp>
      <p:grpSp>
        <p:nvGrpSpPr>
          <p:cNvPr id="12" name="Group 12"/>
          <p:cNvGrpSpPr/>
          <p:nvPr/>
        </p:nvGrpSpPr>
        <p:grpSpPr>
          <a:xfrm>
            <a:off x="1509011" y="5790326"/>
            <a:ext cx="241236" cy="241236"/>
            <a:chOff x="0" y="0"/>
            <a:chExt cx="6350000" cy="6350000"/>
          </a:xfrm>
        </p:grpSpPr>
        <p:sp>
          <p:nvSpPr>
            <p:cNvPr id="13" name="Freeform 1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F60"/>
            </a:solidFill>
          </p:spPr>
        </p:sp>
      </p:grpSp>
      <p:grpSp>
        <p:nvGrpSpPr>
          <p:cNvPr id="14" name="Group 14"/>
          <p:cNvGrpSpPr/>
          <p:nvPr/>
        </p:nvGrpSpPr>
        <p:grpSpPr>
          <a:xfrm>
            <a:off x="1822975" y="5790326"/>
            <a:ext cx="241236" cy="241236"/>
            <a:chOff x="0" y="0"/>
            <a:chExt cx="6350000" cy="6350000"/>
          </a:xfrm>
        </p:grpSpPr>
        <p:sp>
          <p:nvSpPr>
            <p:cNvPr id="15" name="Freeform 1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AC66B"/>
            </a:solidFill>
          </p:spPr>
        </p:sp>
      </p:grpSp>
      <p:grpSp>
        <p:nvGrpSpPr>
          <p:cNvPr id="16" name="Group 16"/>
          <p:cNvGrpSpPr/>
          <p:nvPr/>
        </p:nvGrpSpPr>
        <p:grpSpPr>
          <a:xfrm>
            <a:off x="7871306" y="2198042"/>
            <a:ext cx="5727191" cy="3712902"/>
            <a:chOff x="0" y="0"/>
            <a:chExt cx="2744378" cy="1779163"/>
          </a:xfrm>
        </p:grpSpPr>
        <p:sp>
          <p:nvSpPr>
            <p:cNvPr id="17" name="Freeform 17"/>
            <p:cNvSpPr/>
            <p:nvPr/>
          </p:nvSpPr>
          <p:spPr>
            <a:xfrm>
              <a:off x="0" y="0"/>
              <a:ext cx="2744378" cy="1779163"/>
            </a:xfrm>
            <a:custGeom>
              <a:avLst/>
              <a:gdLst/>
              <a:ahLst/>
              <a:cxnLst/>
              <a:rect l="l" t="t" r="r" b="b"/>
              <a:pathLst>
                <a:path w="2744378" h="1779163">
                  <a:moveTo>
                    <a:pt x="22980" y="0"/>
                  </a:moveTo>
                  <a:lnTo>
                    <a:pt x="2721398" y="0"/>
                  </a:lnTo>
                  <a:cubicBezTo>
                    <a:pt x="2727493" y="0"/>
                    <a:pt x="2733338" y="2421"/>
                    <a:pt x="2737647" y="6731"/>
                  </a:cubicBezTo>
                  <a:cubicBezTo>
                    <a:pt x="2741957" y="11040"/>
                    <a:pt x="2744378" y="16886"/>
                    <a:pt x="2744378" y="22980"/>
                  </a:cubicBezTo>
                  <a:lnTo>
                    <a:pt x="2744378" y="1756183"/>
                  </a:lnTo>
                  <a:cubicBezTo>
                    <a:pt x="2744378" y="1768874"/>
                    <a:pt x="2734090" y="1779163"/>
                    <a:pt x="2721398" y="1779163"/>
                  </a:cubicBezTo>
                  <a:lnTo>
                    <a:pt x="22980" y="1779163"/>
                  </a:lnTo>
                  <a:cubicBezTo>
                    <a:pt x="16886" y="1779163"/>
                    <a:pt x="11040" y="1776742"/>
                    <a:pt x="6731" y="1772432"/>
                  </a:cubicBezTo>
                  <a:cubicBezTo>
                    <a:pt x="2421" y="1768123"/>
                    <a:pt x="0" y="1762278"/>
                    <a:pt x="0" y="1756183"/>
                  </a:cubicBezTo>
                  <a:lnTo>
                    <a:pt x="0" y="22980"/>
                  </a:lnTo>
                  <a:cubicBezTo>
                    <a:pt x="0" y="16886"/>
                    <a:pt x="2421" y="11040"/>
                    <a:pt x="6731" y="6731"/>
                  </a:cubicBezTo>
                  <a:cubicBezTo>
                    <a:pt x="11040" y="2421"/>
                    <a:pt x="16886" y="0"/>
                    <a:pt x="22980" y="0"/>
                  </a:cubicBezTo>
                  <a:close/>
                </a:path>
              </a:pathLst>
            </a:custGeom>
            <a:solidFill>
              <a:srgbClr val="FFFFFF"/>
            </a:solidFill>
          </p:spPr>
        </p:sp>
        <p:sp>
          <p:nvSpPr>
            <p:cNvPr id="18" name="TextBox 18"/>
            <p:cNvSpPr txBox="1"/>
            <p:nvPr/>
          </p:nvSpPr>
          <p:spPr>
            <a:xfrm>
              <a:off x="0" y="-38100"/>
              <a:ext cx="2744378" cy="1817263"/>
            </a:xfrm>
            <a:prstGeom prst="rect">
              <a:avLst/>
            </a:prstGeom>
          </p:spPr>
          <p:txBody>
            <a:bodyPr lIns="50800" tIns="50800" rIns="50800" bIns="50800" rtlCol="0" anchor="ctr"/>
            <a:lstStyle/>
            <a:p>
              <a:pPr algn="ctr">
                <a:lnSpc>
                  <a:spcPts val="2659"/>
                </a:lnSpc>
                <a:spcBef>
                  <a:spcPct val="0"/>
                </a:spcBef>
              </a:pPr>
              <a:endParaRPr/>
            </a:p>
          </p:txBody>
        </p:sp>
      </p:grpSp>
      <p:grpSp>
        <p:nvGrpSpPr>
          <p:cNvPr id="19" name="Group 19"/>
          <p:cNvGrpSpPr/>
          <p:nvPr/>
        </p:nvGrpSpPr>
        <p:grpSpPr>
          <a:xfrm>
            <a:off x="11027957" y="5303627"/>
            <a:ext cx="6719349" cy="4356111"/>
            <a:chOff x="0" y="0"/>
            <a:chExt cx="2744378" cy="1779163"/>
          </a:xfrm>
        </p:grpSpPr>
        <p:sp>
          <p:nvSpPr>
            <p:cNvPr id="20" name="Freeform 20"/>
            <p:cNvSpPr/>
            <p:nvPr/>
          </p:nvSpPr>
          <p:spPr>
            <a:xfrm>
              <a:off x="0" y="0"/>
              <a:ext cx="2744378" cy="1779163"/>
            </a:xfrm>
            <a:custGeom>
              <a:avLst/>
              <a:gdLst/>
              <a:ahLst/>
              <a:cxnLst/>
              <a:rect l="l" t="t" r="r" b="b"/>
              <a:pathLst>
                <a:path w="2744378" h="1779163">
                  <a:moveTo>
                    <a:pt x="19587" y="0"/>
                  </a:moveTo>
                  <a:lnTo>
                    <a:pt x="2724791" y="0"/>
                  </a:lnTo>
                  <a:cubicBezTo>
                    <a:pt x="2729986" y="0"/>
                    <a:pt x="2734968" y="2064"/>
                    <a:pt x="2738641" y="5737"/>
                  </a:cubicBezTo>
                  <a:cubicBezTo>
                    <a:pt x="2742315" y="9410"/>
                    <a:pt x="2744378" y="14392"/>
                    <a:pt x="2744378" y="19587"/>
                  </a:cubicBezTo>
                  <a:lnTo>
                    <a:pt x="2744378" y="1759576"/>
                  </a:lnTo>
                  <a:cubicBezTo>
                    <a:pt x="2744378" y="1770394"/>
                    <a:pt x="2735609" y="1779163"/>
                    <a:pt x="2724791" y="1779163"/>
                  </a:cubicBezTo>
                  <a:lnTo>
                    <a:pt x="19587" y="1779163"/>
                  </a:lnTo>
                  <a:cubicBezTo>
                    <a:pt x="14392" y="1779163"/>
                    <a:pt x="9410" y="1777099"/>
                    <a:pt x="5737" y="1773426"/>
                  </a:cubicBezTo>
                  <a:cubicBezTo>
                    <a:pt x="2064" y="1769753"/>
                    <a:pt x="0" y="1764771"/>
                    <a:pt x="0" y="1759576"/>
                  </a:cubicBezTo>
                  <a:lnTo>
                    <a:pt x="0" y="19587"/>
                  </a:lnTo>
                  <a:cubicBezTo>
                    <a:pt x="0" y="8769"/>
                    <a:pt x="8769" y="0"/>
                    <a:pt x="19587" y="0"/>
                  </a:cubicBezTo>
                  <a:close/>
                </a:path>
              </a:pathLst>
            </a:custGeom>
            <a:solidFill>
              <a:srgbClr val="071330"/>
            </a:solidFill>
          </p:spPr>
        </p:sp>
        <p:sp>
          <p:nvSpPr>
            <p:cNvPr id="21" name="TextBox 21"/>
            <p:cNvSpPr txBox="1"/>
            <p:nvPr/>
          </p:nvSpPr>
          <p:spPr>
            <a:xfrm>
              <a:off x="0" y="-38100"/>
              <a:ext cx="2744378" cy="1817263"/>
            </a:xfrm>
            <a:prstGeom prst="rect">
              <a:avLst/>
            </a:prstGeom>
          </p:spPr>
          <p:txBody>
            <a:bodyPr lIns="50800" tIns="50800" rIns="50800" bIns="50800" rtlCol="0" anchor="ctr"/>
            <a:lstStyle/>
            <a:p>
              <a:pPr algn="ctr">
                <a:lnSpc>
                  <a:spcPts val="2659"/>
                </a:lnSpc>
                <a:spcBef>
                  <a:spcPct val="0"/>
                </a:spcBef>
              </a:pPr>
              <a:endParaRPr/>
            </a:p>
          </p:txBody>
        </p:sp>
      </p:grpSp>
      <p:grpSp>
        <p:nvGrpSpPr>
          <p:cNvPr id="22" name="Group 22"/>
          <p:cNvGrpSpPr/>
          <p:nvPr/>
        </p:nvGrpSpPr>
        <p:grpSpPr>
          <a:xfrm>
            <a:off x="11466486" y="5633589"/>
            <a:ext cx="224106" cy="224106"/>
            <a:chOff x="0" y="0"/>
            <a:chExt cx="6350000" cy="6350000"/>
          </a:xfrm>
        </p:grpSpPr>
        <p:sp>
          <p:nvSpPr>
            <p:cNvPr id="23" name="Freeform 2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E0F3F"/>
            </a:solidFill>
          </p:spPr>
        </p:sp>
      </p:grpSp>
      <p:grpSp>
        <p:nvGrpSpPr>
          <p:cNvPr id="24" name="Group 24"/>
          <p:cNvGrpSpPr/>
          <p:nvPr/>
        </p:nvGrpSpPr>
        <p:grpSpPr>
          <a:xfrm>
            <a:off x="11759356" y="5633589"/>
            <a:ext cx="224106" cy="224106"/>
            <a:chOff x="0" y="0"/>
            <a:chExt cx="6350000" cy="6350000"/>
          </a:xfrm>
        </p:grpSpPr>
        <p:sp>
          <p:nvSpPr>
            <p:cNvPr id="25" name="Freeform 2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F60"/>
            </a:solidFill>
          </p:spPr>
        </p:sp>
      </p:grpSp>
      <p:grpSp>
        <p:nvGrpSpPr>
          <p:cNvPr id="26" name="Group 26"/>
          <p:cNvGrpSpPr/>
          <p:nvPr/>
        </p:nvGrpSpPr>
        <p:grpSpPr>
          <a:xfrm>
            <a:off x="12051026" y="5633589"/>
            <a:ext cx="224106" cy="224106"/>
            <a:chOff x="0" y="0"/>
            <a:chExt cx="6350000" cy="6350000"/>
          </a:xfrm>
        </p:grpSpPr>
        <p:sp>
          <p:nvSpPr>
            <p:cNvPr id="27" name="Freeform 2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AC66B"/>
            </a:solidFill>
          </p:spPr>
        </p:sp>
      </p:grpSp>
      <p:sp>
        <p:nvSpPr>
          <p:cNvPr id="28" name="TextBox 28"/>
          <p:cNvSpPr txBox="1"/>
          <p:nvPr/>
        </p:nvSpPr>
        <p:spPr>
          <a:xfrm>
            <a:off x="11836816" y="6735444"/>
            <a:ext cx="5494633" cy="1482951"/>
          </a:xfrm>
          <a:prstGeom prst="rect">
            <a:avLst/>
          </a:prstGeom>
        </p:spPr>
        <p:txBody>
          <a:bodyPr lIns="0" tIns="0" rIns="0" bIns="0" rtlCol="0" anchor="t">
            <a:spAutoFit/>
          </a:bodyPr>
          <a:lstStyle/>
          <a:p>
            <a:pPr algn="l">
              <a:lnSpc>
                <a:spcPts val="2937"/>
              </a:lnSpc>
            </a:pPr>
            <a:r>
              <a:rPr lang="en-US" sz="2368">
                <a:solidFill>
                  <a:srgbClr val="FFFFFF"/>
                </a:solidFill>
                <a:latin typeface="IBM Plex Mono"/>
                <a:ea typeface="IBM Plex Mono"/>
                <a:cs typeface="IBM Plex Mono"/>
                <a:sym typeface="IBM Plex Mono"/>
              </a:rPr>
              <a:t>The dataset spans from January 1, 2020, to December 31, 2021, covering two years of streaming data.</a:t>
            </a:r>
          </a:p>
        </p:txBody>
      </p:sp>
      <p:grpSp>
        <p:nvGrpSpPr>
          <p:cNvPr id="29" name="Group 29"/>
          <p:cNvGrpSpPr/>
          <p:nvPr/>
        </p:nvGrpSpPr>
        <p:grpSpPr>
          <a:xfrm>
            <a:off x="8245084" y="2479283"/>
            <a:ext cx="191015" cy="191015"/>
            <a:chOff x="0" y="0"/>
            <a:chExt cx="6350000" cy="6350000"/>
          </a:xfrm>
        </p:grpSpPr>
        <p:sp>
          <p:nvSpPr>
            <p:cNvPr id="30" name="Freeform 30"/>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E0F3F"/>
            </a:solidFill>
          </p:spPr>
        </p:sp>
      </p:grpSp>
      <p:grpSp>
        <p:nvGrpSpPr>
          <p:cNvPr id="31" name="Group 31"/>
          <p:cNvGrpSpPr/>
          <p:nvPr/>
        </p:nvGrpSpPr>
        <p:grpSpPr>
          <a:xfrm>
            <a:off x="8494709" y="2479283"/>
            <a:ext cx="191015" cy="191015"/>
            <a:chOff x="0" y="0"/>
            <a:chExt cx="6350000" cy="6350000"/>
          </a:xfrm>
        </p:grpSpPr>
        <p:sp>
          <p:nvSpPr>
            <p:cNvPr id="32" name="Freeform 32"/>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F60"/>
            </a:solidFill>
          </p:spPr>
        </p:sp>
      </p:grpSp>
      <p:grpSp>
        <p:nvGrpSpPr>
          <p:cNvPr id="33" name="Group 33"/>
          <p:cNvGrpSpPr/>
          <p:nvPr/>
        </p:nvGrpSpPr>
        <p:grpSpPr>
          <a:xfrm>
            <a:off x="8743312" y="2479283"/>
            <a:ext cx="191015" cy="191015"/>
            <a:chOff x="0" y="0"/>
            <a:chExt cx="6350000" cy="6350000"/>
          </a:xfrm>
        </p:grpSpPr>
        <p:sp>
          <p:nvSpPr>
            <p:cNvPr id="34" name="Freeform 34"/>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AC66B"/>
            </a:solidFill>
          </p:spPr>
        </p:sp>
      </p:grpSp>
      <p:sp>
        <p:nvSpPr>
          <p:cNvPr id="35" name="TextBox 35"/>
          <p:cNvSpPr txBox="1"/>
          <p:nvPr/>
        </p:nvSpPr>
        <p:spPr>
          <a:xfrm>
            <a:off x="8116651" y="3323914"/>
            <a:ext cx="5236502" cy="1758125"/>
          </a:xfrm>
          <a:prstGeom prst="rect">
            <a:avLst/>
          </a:prstGeom>
        </p:spPr>
        <p:txBody>
          <a:bodyPr lIns="0" tIns="0" rIns="0" bIns="0" rtlCol="0" anchor="t">
            <a:spAutoFit/>
          </a:bodyPr>
          <a:lstStyle/>
          <a:p>
            <a:pPr algn="l">
              <a:lnSpc>
                <a:spcPts val="2799"/>
              </a:lnSpc>
            </a:pPr>
            <a:r>
              <a:rPr lang="en-US" sz="2257">
                <a:solidFill>
                  <a:srgbClr val="071330"/>
                </a:solidFill>
                <a:latin typeface="IBM Plex Mono"/>
                <a:ea typeface="IBM Plex Mono"/>
                <a:cs typeface="IBM Plex Mono"/>
                <a:sym typeface="IBM Plex Mono"/>
              </a:rPr>
              <a:t>The dataset contains 8,984,060 unique artists and 8,984,060 unique tracks, indicating that each track is associated with a distinct artist.</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CF60"/>
        </a:solidFill>
        <a:effectLst/>
      </p:bgPr>
    </p:bg>
    <p:spTree>
      <p:nvGrpSpPr>
        <p:cNvPr id="1" name=""/>
        <p:cNvGrpSpPr/>
        <p:nvPr/>
      </p:nvGrpSpPr>
      <p:grpSpPr>
        <a:xfrm>
          <a:off x="0" y="0"/>
          <a:ext cx="0" cy="0"/>
          <a:chOff x="0" y="0"/>
          <a:chExt cx="0" cy="0"/>
        </a:xfrm>
      </p:grpSpPr>
      <p:grpSp>
        <p:nvGrpSpPr>
          <p:cNvPr id="2" name="Group 2"/>
          <p:cNvGrpSpPr/>
          <p:nvPr/>
        </p:nvGrpSpPr>
        <p:grpSpPr>
          <a:xfrm>
            <a:off x="-460312" y="-201041"/>
            <a:ext cx="19208624" cy="10689082"/>
            <a:chOff x="0" y="0"/>
            <a:chExt cx="25611499" cy="14252110"/>
          </a:xfrm>
        </p:grpSpPr>
        <p:sp>
          <p:nvSpPr>
            <p:cNvPr id="3" name="Freeform 3"/>
            <p:cNvSpPr/>
            <p:nvPr/>
          </p:nvSpPr>
          <p:spPr>
            <a:xfrm>
              <a:off x="0"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1359389"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grpSp>
      <p:sp>
        <p:nvSpPr>
          <p:cNvPr id="5" name="Freeform 5"/>
          <p:cNvSpPr/>
          <p:nvPr/>
        </p:nvSpPr>
        <p:spPr>
          <a:xfrm>
            <a:off x="333816" y="1794705"/>
            <a:ext cx="8818047" cy="7463595"/>
          </a:xfrm>
          <a:custGeom>
            <a:avLst/>
            <a:gdLst/>
            <a:ahLst/>
            <a:cxnLst/>
            <a:rect l="l" t="t" r="r" b="b"/>
            <a:pathLst>
              <a:path w="8818047" h="7463595">
                <a:moveTo>
                  <a:pt x="0" y="0"/>
                </a:moveTo>
                <a:lnTo>
                  <a:pt x="8818047" y="0"/>
                </a:lnTo>
                <a:lnTo>
                  <a:pt x="8818047" y="7463595"/>
                </a:lnTo>
                <a:lnTo>
                  <a:pt x="0" y="7463595"/>
                </a:lnTo>
                <a:lnTo>
                  <a:pt x="0" y="0"/>
                </a:lnTo>
                <a:close/>
              </a:path>
            </a:pathLst>
          </a:custGeom>
          <a:blipFill>
            <a:blip r:embed="rId4"/>
            <a:stretch>
              <a:fillRect/>
            </a:stretch>
          </a:blipFill>
        </p:spPr>
      </p:sp>
      <p:grpSp>
        <p:nvGrpSpPr>
          <p:cNvPr id="6" name="Group 6"/>
          <p:cNvGrpSpPr/>
          <p:nvPr/>
        </p:nvGrpSpPr>
        <p:grpSpPr>
          <a:xfrm>
            <a:off x="9151863" y="5709185"/>
            <a:ext cx="8631007" cy="4340222"/>
            <a:chOff x="0" y="0"/>
            <a:chExt cx="4138350" cy="2081026"/>
          </a:xfrm>
        </p:grpSpPr>
        <p:sp>
          <p:nvSpPr>
            <p:cNvPr id="7" name="Freeform 7"/>
            <p:cNvSpPr/>
            <p:nvPr/>
          </p:nvSpPr>
          <p:spPr>
            <a:xfrm>
              <a:off x="0" y="0"/>
              <a:ext cx="4138350" cy="2081026"/>
            </a:xfrm>
            <a:custGeom>
              <a:avLst/>
              <a:gdLst/>
              <a:ahLst/>
              <a:cxnLst/>
              <a:rect l="l" t="t" r="r" b="b"/>
              <a:pathLst>
                <a:path w="4138350" h="2081026">
                  <a:moveTo>
                    <a:pt x="27807" y="0"/>
                  </a:moveTo>
                  <a:lnTo>
                    <a:pt x="4110543" y="0"/>
                  </a:lnTo>
                  <a:cubicBezTo>
                    <a:pt x="4125900" y="0"/>
                    <a:pt x="4138350" y="12449"/>
                    <a:pt x="4138350" y="27807"/>
                  </a:cubicBezTo>
                  <a:lnTo>
                    <a:pt x="4138350" y="2053220"/>
                  </a:lnTo>
                  <a:cubicBezTo>
                    <a:pt x="4138350" y="2068577"/>
                    <a:pt x="4125900" y="2081026"/>
                    <a:pt x="4110543" y="2081026"/>
                  </a:cubicBezTo>
                  <a:lnTo>
                    <a:pt x="27807" y="2081026"/>
                  </a:lnTo>
                  <a:cubicBezTo>
                    <a:pt x="12449" y="2081026"/>
                    <a:pt x="0" y="2068577"/>
                    <a:pt x="0" y="2053220"/>
                  </a:cubicBezTo>
                  <a:lnTo>
                    <a:pt x="0" y="27807"/>
                  </a:lnTo>
                  <a:cubicBezTo>
                    <a:pt x="0" y="12449"/>
                    <a:pt x="12449" y="0"/>
                    <a:pt x="27807" y="0"/>
                  </a:cubicBezTo>
                  <a:close/>
                </a:path>
              </a:pathLst>
            </a:custGeom>
            <a:solidFill>
              <a:srgbClr val="071330"/>
            </a:solidFill>
          </p:spPr>
        </p:sp>
        <p:sp>
          <p:nvSpPr>
            <p:cNvPr id="8" name="TextBox 8"/>
            <p:cNvSpPr txBox="1"/>
            <p:nvPr/>
          </p:nvSpPr>
          <p:spPr>
            <a:xfrm>
              <a:off x="0" y="-38100"/>
              <a:ext cx="4138350" cy="2119126"/>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9656552" y="5990255"/>
            <a:ext cx="205426" cy="190900"/>
            <a:chOff x="0" y="0"/>
            <a:chExt cx="6833198" cy="6350000"/>
          </a:xfrm>
        </p:grpSpPr>
        <p:sp>
          <p:nvSpPr>
            <p:cNvPr id="10" name="Freeform 10"/>
            <p:cNvSpPr/>
            <p:nvPr/>
          </p:nvSpPr>
          <p:spPr>
            <a:xfrm>
              <a:off x="0" y="0"/>
              <a:ext cx="6833198" cy="6350000"/>
            </a:xfrm>
            <a:custGeom>
              <a:avLst/>
              <a:gdLst/>
              <a:ahLst/>
              <a:cxnLst/>
              <a:rect l="l" t="t" r="r" b="b"/>
              <a:pathLst>
                <a:path w="6833198" h="6350000">
                  <a:moveTo>
                    <a:pt x="3416599" y="0"/>
                  </a:moveTo>
                  <a:cubicBezTo>
                    <a:pt x="1529663" y="0"/>
                    <a:pt x="0" y="1421496"/>
                    <a:pt x="0" y="3175000"/>
                  </a:cubicBezTo>
                  <a:cubicBezTo>
                    <a:pt x="0" y="4928504"/>
                    <a:pt x="1529663" y="6350000"/>
                    <a:pt x="3416599" y="6350000"/>
                  </a:cubicBezTo>
                  <a:cubicBezTo>
                    <a:pt x="5303534" y="6350000"/>
                    <a:pt x="6833198" y="4928504"/>
                    <a:pt x="6833198" y="3175000"/>
                  </a:cubicBezTo>
                  <a:cubicBezTo>
                    <a:pt x="6833198" y="1421496"/>
                    <a:pt x="5303534" y="0"/>
                    <a:pt x="3416599" y="0"/>
                  </a:cubicBezTo>
                  <a:close/>
                </a:path>
              </a:pathLst>
            </a:custGeom>
            <a:solidFill>
              <a:srgbClr val="DE0F3F"/>
            </a:solidFill>
          </p:spPr>
        </p:sp>
      </p:grpSp>
      <p:grpSp>
        <p:nvGrpSpPr>
          <p:cNvPr id="11" name="Group 11"/>
          <p:cNvGrpSpPr/>
          <p:nvPr/>
        </p:nvGrpSpPr>
        <p:grpSpPr>
          <a:xfrm>
            <a:off x="9925009" y="5990255"/>
            <a:ext cx="205426" cy="190900"/>
            <a:chOff x="0" y="0"/>
            <a:chExt cx="6833198" cy="6350000"/>
          </a:xfrm>
        </p:grpSpPr>
        <p:sp>
          <p:nvSpPr>
            <p:cNvPr id="12" name="Freeform 12"/>
            <p:cNvSpPr/>
            <p:nvPr/>
          </p:nvSpPr>
          <p:spPr>
            <a:xfrm>
              <a:off x="0" y="0"/>
              <a:ext cx="6833198" cy="6350000"/>
            </a:xfrm>
            <a:custGeom>
              <a:avLst/>
              <a:gdLst/>
              <a:ahLst/>
              <a:cxnLst/>
              <a:rect l="l" t="t" r="r" b="b"/>
              <a:pathLst>
                <a:path w="6833198" h="6350000">
                  <a:moveTo>
                    <a:pt x="3416599" y="0"/>
                  </a:moveTo>
                  <a:cubicBezTo>
                    <a:pt x="1529663" y="0"/>
                    <a:pt x="0" y="1421496"/>
                    <a:pt x="0" y="3175000"/>
                  </a:cubicBezTo>
                  <a:cubicBezTo>
                    <a:pt x="0" y="4928504"/>
                    <a:pt x="1529663" y="6350000"/>
                    <a:pt x="3416599" y="6350000"/>
                  </a:cubicBezTo>
                  <a:cubicBezTo>
                    <a:pt x="5303534" y="6350000"/>
                    <a:pt x="6833198" y="4928504"/>
                    <a:pt x="6833198" y="3175000"/>
                  </a:cubicBezTo>
                  <a:cubicBezTo>
                    <a:pt x="6833198" y="1421496"/>
                    <a:pt x="5303534" y="0"/>
                    <a:pt x="3416599" y="0"/>
                  </a:cubicBezTo>
                  <a:close/>
                </a:path>
              </a:pathLst>
            </a:custGeom>
            <a:solidFill>
              <a:srgbClr val="FFCF60"/>
            </a:solidFill>
          </p:spPr>
        </p:sp>
      </p:grpSp>
      <p:grpSp>
        <p:nvGrpSpPr>
          <p:cNvPr id="13" name="Group 13"/>
          <p:cNvGrpSpPr/>
          <p:nvPr/>
        </p:nvGrpSpPr>
        <p:grpSpPr>
          <a:xfrm>
            <a:off x="10192367" y="5990255"/>
            <a:ext cx="205426" cy="190900"/>
            <a:chOff x="0" y="0"/>
            <a:chExt cx="6833198" cy="6350000"/>
          </a:xfrm>
        </p:grpSpPr>
        <p:sp>
          <p:nvSpPr>
            <p:cNvPr id="14" name="Freeform 14"/>
            <p:cNvSpPr/>
            <p:nvPr/>
          </p:nvSpPr>
          <p:spPr>
            <a:xfrm>
              <a:off x="0" y="0"/>
              <a:ext cx="6833198" cy="6350000"/>
            </a:xfrm>
            <a:custGeom>
              <a:avLst/>
              <a:gdLst/>
              <a:ahLst/>
              <a:cxnLst/>
              <a:rect l="l" t="t" r="r" b="b"/>
              <a:pathLst>
                <a:path w="6833198" h="6350000">
                  <a:moveTo>
                    <a:pt x="3416599" y="0"/>
                  </a:moveTo>
                  <a:cubicBezTo>
                    <a:pt x="1529663" y="0"/>
                    <a:pt x="0" y="1421496"/>
                    <a:pt x="0" y="3175000"/>
                  </a:cubicBezTo>
                  <a:cubicBezTo>
                    <a:pt x="0" y="4928504"/>
                    <a:pt x="1529663" y="6350000"/>
                    <a:pt x="3416599" y="6350000"/>
                  </a:cubicBezTo>
                  <a:cubicBezTo>
                    <a:pt x="5303534" y="6350000"/>
                    <a:pt x="6833198" y="4928504"/>
                    <a:pt x="6833198" y="3175000"/>
                  </a:cubicBezTo>
                  <a:cubicBezTo>
                    <a:pt x="6833198" y="1421496"/>
                    <a:pt x="5303534" y="0"/>
                    <a:pt x="3416599" y="0"/>
                  </a:cubicBezTo>
                  <a:close/>
                </a:path>
              </a:pathLst>
            </a:custGeom>
            <a:solidFill>
              <a:srgbClr val="6AC66B"/>
            </a:solidFill>
          </p:spPr>
        </p:sp>
      </p:grpSp>
      <p:sp>
        <p:nvSpPr>
          <p:cNvPr id="15" name="TextBox 15"/>
          <p:cNvSpPr txBox="1"/>
          <p:nvPr/>
        </p:nvSpPr>
        <p:spPr>
          <a:xfrm>
            <a:off x="9734125" y="6943913"/>
            <a:ext cx="7466484" cy="1870764"/>
          </a:xfrm>
          <a:prstGeom prst="rect">
            <a:avLst/>
          </a:prstGeom>
        </p:spPr>
        <p:txBody>
          <a:bodyPr lIns="0" tIns="0" rIns="0" bIns="0" rtlCol="0" anchor="t">
            <a:spAutoFit/>
          </a:bodyPr>
          <a:lstStyle/>
          <a:p>
            <a:pPr algn="l">
              <a:lnSpc>
                <a:spcPts val="2488"/>
              </a:lnSpc>
            </a:pPr>
            <a:r>
              <a:rPr lang="en-US" sz="2006">
                <a:solidFill>
                  <a:srgbClr val="FFFFFF"/>
                </a:solidFill>
                <a:latin typeface="IBM Plex Mono"/>
                <a:ea typeface="IBM Plex Mono"/>
                <a:cs typeface="IBM Plex Mono"/>
                <a:sym typeface="IBM Plex Mono"/>
              </a:rPr>
              <a:t>The correlation between rank and streams is 0.13, indicating a weak negative relationship. Higher-ranked tracks (closer to 1) tend to have slightly more streams, but the correlation is not strong enough to suggest a significant dependency.</a:t>
            </a:r>
          </a:p>
        </p:txBody>
      </p:sp>
      <p:sp>
        <p:nvSpPr>
          <p:cNvPr id="16" name="TextBox 16"/>
          <p:cNvSpPr txBox="1"/>
          <p:nvPr/>
        </p:nvSpPr>
        <p:spPr>
          <a:xfrm>
            <a:off x="2016453" y="573654"/>
            <a:ext cx="14444332" cy="1024391"/>
          </a:xfrm>
          <a:prstGeom prst="rect">
            <a:avLst/>
          </a:prstGeom>
        </p:spPr>
        <p:txBody>
          <a:bodyPr lIns="0" tIns="0" rIns="0" bIns="0" rtlCol="0" anchor="t">
            <a:spAutoFit/>
          </a:bodyPr>
          <a:lstStyle/>
          <a:p>
            <a:pPr algn="l">
              <a:lnSpc>
                <a:spcPts val="7848"/>
              </a:lnSpc>
            </a:pPr>
            <a:r>
              <a:rPr lang="en-US" sz="7546" b="1">
                <a:solidFill>
                  <a:srgbClr val="071330"/>
                </a:solidFill>
                <a:latin typeface="IBM Plex Mono Bold"/>
                <a:ea typeface="IBM Plex Mono Bold"/>
                <a:cs typeface="IBM Plex Mono Bold"/>
                <a:sym typeface="IBM Plex Mono Bold"/>
              </a:rPr>
              <a:t>Exploratory Data Analysis</a:t>
            </a: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6AC66B"/>
        </a:solidFill>
        <a:effectLst/>
      </p:bgPr>
    </p:bg>
    <p:spTree>
      <p:nvGrpSpPr>
        <p:cNvPr id="1" name=""/>
        <p:cNvGrpSpPr/>
        <p:nvPr/>
      </p:nvGrpSpPr>
      <p:grpSpPr>
        <a:xfrm>
          <a:off x="0" y="0"/>
          <a:ext cx="0" cy="0"/>
          <a:chOff x="0" y="0"/>
          <a:chExt cx="0" cy="0"/>
        </a:xfrm>
      </p:grpSpPr>
      <p:grpSp>
        <p:nvGrpSpPr>
          <p:cNvPr id="2" name="Group 2"/>
          <p:cNvGrpSpPr/>
          <p:nvPr/>
        </p:nvGrpSpPr>
        <p:grpSpPr>
          <a:xfrm>
            <a:off x="0" y="-201041"/>
            <a:ext cx="19208624" cy="10689082"/>
            <a:chOff x="0" y="0"/>
            <a:chExt cx="25611499" cy="14252110"/>
          </a:xfrm>
        </p:grpSpPr>
        <p:sp>
          <p:nvSpPr>
            <p:cNvPr id="3" name="Freeform 3"/>
            <p:cNvSpPr/>
            <p:nvPr/>
          </p:nvSpPr>
          <p:spPr>
            <a:xfrm>
              <a:off x="0"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1359389"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grpSp>
      <p:grpSp>
        <p:nvGrpSpPr>
          <p:cNvPr id="5" name="Group 5"/>
          <p:cNvGrpSpPr/>
          <p:nvPr/>
        </p:nvGrpSpPr>
        <p:grpSpPr>
          <a:xfrm>
            <a:off x="692170" y="2367466"/>
            <a:ext cx="8631007" cy="2776034"/>
            <a:chOff x="0" y="0"/>
            <a:chExt cx="4138350" cy="1331038"/>
          </a:xfrm>
        </p:grpSpPr>
        <p:sp>
          <p:nvSpPr>
            <p:cNvPr id="6" name="Freeform 6"/>
            <p:cNvSpPr/>
            <p:nvPr/>
          </p:nvSpPr>
          <p:spPr>
            <a:xfrm>
              <a:off x="0" y="0"/>
              <a:ext cx="4138350" cy="1331038"/>
            </a:xfrm>
            <a:custGeom>
              <a:avLst/>
              <a:gdLst/>
              <a:ahLst/>
              <a:cxnLst/>
              <a:rect l="l" t="t" r="r" b="b"/>
              <a:pathLst>
                <a:path w="4138350" h="1331038">
                  <a:moveTo>
                    <a:pt x="27807" y="0"/>
                  </a:moveTo>
                  <a:lnTo>
                    <a:pt x="4110543" y="0"/>
                  </a:lnTo>
                  <a:cubicBezTo>
                    <a:pt x="4125900" y="0"/>
                    <a:pt x="4138350" y="12449"/>
                    <a:pt x="4138350" y="27807"/>
                  </a:cubicBezTo>
                  <a:lnTo>
                    <a:pt x="4138350" y="1303231"/>
                  </a:lnTo>
                  <a:cubicBezTo>
                    <a:pt x="4138350" y="1318588"/>
                    <a:pt x="4125900" y="1331038"/>
                    <a:pt x="4110543" y="1331038"/>
                  </a:cubicBezTo>
                  <a:lnTo>
                    <a:pt x="27807" y="1331038"/>
                  </a:lnTo>
                  <a:cubicBezTo>
                    <a:pt x="12449" y="1331038"/>
                    <a:pt x="0" y="1318588"/>
                    <a:pt x="0" y="1303231"/>
                  </a:cubicBezTo>
                  <a:lnTo>
                    <a:pt x="0" y="27807"/>
                  </a:lnTo>
                  <a:cubicBezTo>
                    <a:pt x="0" y="12449"/>
                    <a:pt x="12449" y="0"/>
                    <a:pt x="27807" y="0"/>
                  </a:cubicBezTo>
                  <a:close/>
                </a:path>
              </a:pathLst>
            </a:custGeom>
            <a:solidFill>
              <a:srgbClr val="FFFFFF"/>
            </a:solidFill>
          </p:spPr>
        </p:sp>
        <p:sp>
          <p:nvSpPr>
            <p:cNvPr id="7" name="TextBox 7"/>
            <p:cNvSpPr txBox="1"/>
            <p:nvPr/>
          </p:nvSpPr>
          <p:spPr>
            <a:xfrm>
              <a:off x="0" y="-38100"/>
              <a:ext cx="4138350" cy="1369138"/>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196859" y="2648537"/>
            <a:ext cx="205426" cy="190900"/>
            <a:chOff x="0" y="0"/>
            <a:chExt cx="6833198" cy="6350000"/>
          </a:xfrm>
        </p:grpSpPr>
        <p:sp>
          <p:nvSpPr>
            <p:cNvPr id="9" name="Freeform 9"/>
            <p:cNvSpPr/>
            <p:nvPr/>
          </p:nvSpPr>
          <p:spPr>
            <a:xfrm>
              <a:off x="0" y="0"/>
              <a:ext cx="6833198" cy="6350000"/>
            </a:xfrm>
            <a:custGeom>
              <a:avLst/>
              <a:gdLst/>
              <a:ahLst/>
              <a:cxnLst/>
              <a:rect l="l" t="t" r="r" b="b"/>
              <a:pathLst>
                <a:path w="6833198" h="6350000">
                  <a:moveTo>
                    <a:pt x="3416599" y="0"/>
                  </a:moveTo>
                  <a:cubicBezTo>
                    <a:pt x="1529663" y="0"/>
                    <a:pt x="0" y="1421496"/>
                    <a:pt x="0" y="3175000"/>
                  </a:cubicBezTo>
                  <a:cubicBezTo>
                    <a:pt x="0" y="4928504"/>
                    <a:pt x="1529663" y="6350000"/>
                    <a:pt x="3416599" y="6350000"/>
                  </a:cubicBezTo>
                  <a:cubicBezTo>
                    <a:pt x="5303534" y="6350000"/>
                    <a:pt x="6833198" y="4928504"/>
                    <a:pt x="6833198" y="3175000"/>
                  </a:cubicBezTo>
                  <a:cubicBezTo>
                    <a:pt x="6833198" y="1421496"/>
                    <a:pt x="5303534" y="0"/>
                    <a:pt x="3416599" y="0"/>
                  </a:cubicBezTo>
                  <a:close/>
                </a:path>
              </a:pathLst>
            </a:custGeom>
            <a:solidFill>
              <a:srgbClr val="DE0F3F"/>
            </a:solidFill>
          </p:spPr>
        </p:sp>
      </p:grpSp>
      <p:grpSp>
        <p:nvGrpSpPr>
          <p:cNvPr id="10" name="Group 10"/>
          <p:cNvGrpSpPr/>
          <p:nvPr/>
        </p:nvGrpSpPr>
        <p:grpSpPr>
          <a:xfrm>
            <a:off x="1465316" y="2648537"/>
            <a:ext cx="205426" cy="190900"/>
            <a:chOff x="0" y="0"/>
            <a:chExt cx="6833198" cy="6350000"/>
          </a:xfrm>
        </p:grpSpPr>
        <p:sp>
          <p:nvSpPr>
            <p:cNvPr id="11" name="Freeform 11"/>
            <p:cNvSpPr/>
            <p:nvPr/>
          </p:nvSpPr>
          <p:spPr>
            <a:xfrm>
              <a:off x="0" y="0"/>
              <a:ext cx="6833198" cy="6350000"/>
            </a:xfrm>
            <a:custGeom>
              <a:avLst/>
              <a:gdLst/>
              <a:ahLst/>
              <a:cxnLst/>
              <a:rect l="l" t="t" r="r" b="b"/>
              <a:pathLst>
                <a:path w="6833198" h="6350000">
                  <a:moveTo>
                    <a:pt x="3416599" y="0"/>
                  </a:moveTo>
                  <a:cubicBezTo>
                    <a:pt x="1529663" y="0"/>
                    <a:pt x="0" y="1421496"/>
                    <a:pt x="0" y="3175000"/>
                  </a:cubicBezTo>
                  <a:cubicBezTo>
                    <a:pt x="0" y="4928504"/>
                    <a:pt x="1529663" y="6350000"/>
                    <a:pt x="3416599" y="6350000"/>
                  </a:cubicBezTo>
                  <a:cubicBezTo>
                    <a:pt x="5303534" y="6350000"/>
                    <a:pt x="6833198" y="4928504"/>
                    <a:pt x="6833198" y="3175000"/>
                  </a:cubicBezTo>
                  <a:cubicBezTo>
                    <a:pt x="6833198" y="1421496"/>
                    <a:pt x="5303534" y="0"/>
                    <a:pt x="3416599" y="0"/>
                  </a:cubicBezTo>
                  <a:close/>
                </a:path>
              </a:pathLst>
            </a:custGeom>
            <a:solidFill>
              <a:srgbClr val="FFCF60"/>
            </a:solidFill>
          </p:spPr>
        </p:sp>
      </p:grpSp>
      <p:grpSp>
        <p:nvGrpSpPr>
          <p:cNvPr id="12" name="Group 12"/>
          <p:cNvGrpSpPr/>
          <p:nvPr/>
        </p:nvGrpSpPr>
        <p:grpSpPr>
          <a:xfrm>
            <a:off x="1732674" y="2648537"/>
            <a:ext cx="205426" cy="190900"/>
            <a:chOff x="0" y="0"/>
            <a:chExt cx="6833198" cy="6350000"/>
          </a:xfrm>
        </p:grpSpPr>
        <p:sp>
          <p:nvSpPr>
            <p:cNvPr id="13" name="Freeform 13"/>
            <p:cNvSpPr/>
            <p:nvPr/>
          </p:nvSpPr>
          <p:spPr>
            <a:xfrm>
              <a:off x="0" y="0"/>
              <a:ext cx="6833198" cy="6350000"/>
            </a:xfrm>
            <a:custGeom>
              <a:avLst/>
              <a:gdLst/>
              <a:ahLst/>
              <a:cxnLst/>
              <a:rect l="l" t="t" r="r" b="b"/>
              <a:pathLst>
                <a:path w="6833198" h="6350000">
                  <a:moveTo>
                    <a:pt x="3416599" y="0"/>
                  </a:moveTo>
                  <a:cubicBezTo>
                    <a:pt x="1529663" y="0"/>
                    <a:pt x="0" y="1421496"/>
                    <a:pt x="0" y="3175000"/>
                  </a:cubicBezTo>
                  <a:cubicBezTo>
                    <a:pt x="0" y="4928504"/>
                    <a:pt x="1529663" y="6350000"/>
                    <a:pt x="3416599" y="6350000"/>
                  </a:cubicBezTo>
                  <a:cubicBezTo>
                    <a:pt x="5303534" y="6350000"/>
                    <a:pt x="6833198" y="4928504"/>
                    <a:pt x="6833198" y="3175000"/>
                  </a:cubicBezTo>
                  <a:cubicBezTo>
                    <a:pt x="6833198" y="1421496"/>
                    <a:pt x="5303534" y="0"/>
                    <a:pt x="3416599" y="0"/>
                  </a:cubicBezTo>
                  <a:close/>
                </a:path>
              </a:pathLst>
            </a:custGeom>
            <a:solidFill>
              <a:srgbClr val="6AC66B"/>
            </a:solidFill>
          </p:spPr>
        </p:sp>
      </p:grpSp>
      <p:sp>
        <p:nvSpPr>
          <p:cNvPr id="14" name="Freeform 14"/>
          <p:cNvSpPr/>
          <p:nvPr/>
        </p:nvSpPr>
        <p:spPr>
          <a:xfrm>
            <a:off x="8996718" y="3172751"/>
            <a:ext cx="8964823" cy="6544321"/>
          </a:xfrm>
          <a:custGeom>
            <a:avLst/>
            <a:gdLst/>
            <a:ahLst/>
            <a:cxnLst/>
            <a:rect l="l" t="t" r="r" b="b"/>
            <a:pathLst>
              <a:path w="8964823" h="6544321">
                <a:moveTo>
                  <a:pt x="0" y="0"/>
                </a:moveTo>
                <a:lnTo>
                  <a:pt x="8964823" y="0"/>
                </a:lnTo>
                <a:lnTo>
                  <a:pt x="8964823" y="6544320"/>
                </a:lnTo>
                <a:lnTo>
                  <a:pt x="0" y="6544320"/>
                </a:lnTo>
                <a:lnTo>
                  <a:pt x="0" y="0"/>
                </a:lnTo>
                <a:close/>
              </a:path>
            </a:pathLst>
          </a:custGeom>
          <a:blipFill>
            <a:blip r:embed="rId4"/>
            <a:stretch>
              <a:fillRect/>
            </a:stretch>
          </a:blipFill>
        </p:spPr>
      </p:sp>
      <p:sp>
        <p:nvSpPr>
          <p:cNvPr id="15" name="TextBox 15"/>
          <p:cNvSpPr txBox="1"/>
          <p:nvPr/>
        </p:nvSpPr>
        <p:spPr>
          <a:xfrm>
            <a:off x="2016453" y="573654"/>
            <a:ext cx="14444332" cy="1024391"/>
          </a:xfrm>
          <a:prstGeom prst="rect">
            <a:avLst/>
          </a:prstGeom>
        </p:spPr>
        <p:txBody>
          <a:bodyPr lIns="0" tIns="0" rIns="0" bIns="0" rtlCol="0" anchor="t">
            <a:spAutoFit/>
          </a:bodyPr>
          <a:lstStyle/>
          <a:p>
            <a:pPr algn="l">
              <a:lnSpc>
                <a:spcPts val="7848"/>
              </a:lnSpc>
            </a:pPr>
            <a:r>
              <a:rPr lang="en-US" sz="7546" b="1">
                <a:solidFill>
                  <a:srgbClr val="071330"/>
                </a:solidFill>
                <a:latin typeface="IBM Plex Mono Bold"/>
                <a:ea typeface="IBM Plex Mono Bold"/>
                <a:cs typeface="IBM Plex Mono Bold"/>
                <a:sym typeface="IBM Plex Mono Bold"/>
              </a:rPr>
              <a:t>Exploratory Data Analysis</a:t>
            </a:r>
          </a:p>
        </p:txBody>
      </p:sp>
      <p:sp>
        <p:nvSpPr>
          <p:cNvPr id="16" name="TextBox 16"/>
          <p:cNvSpPr txBox="1"/>
          <p:nvPr/>
        </p:nvSpPr>
        <p:spPr>
          <a:xfrm>
            <a:off x="1196859" y="3172751"/>
            <a:ext cx="7466484" cy="1557271"/>
          </a:xfrm>
          <a:prstGeom prst="rect">
            <a:avLst/>
          </a:prstGeom>
        </p:spPr>
        <p:txBody>
          <a:bodyPr lIns="0" tIns="0" rIns="0" bIns="0" rtlCol="0" anchor="t">
            <a:spAutoFit/>
          </a:bodyPr>
          <a:lstStyle/>
          <a:p>
            <a:pPr algn="l">
              <a:lnSpc>
                <a:spcPts val="2488"/>
              </a:lnSpc>
            </a:pPr>
            <a:r>
              <a:rPr lang="en-US" sz="2006">
                <a:solidFill>
                  <a:srgbClr val="071330"/>
                </a:solidFill>
                <a:latin typeface="IBM Plex Mono"/>
                <a:ea typeface="IBM Plex Mono"/>
                <a:cs typeface="IBM Plex Mono"/>
                <a:sym typeface="IBM Plex Mono"/>
              </a:rPr>
              <a:t>The graph basically displays the top 10 regions including the global data ranked by their total number of streams. The region with the highest total streams is the United States, followed by Brazil, Mexico, and so on. </a:t>
            </a:r>
          </a:p>
        </p:txBody>
      </p:sp>
      <p:grpSp>
        <p:nvGrpSpPr>
          <p:cNvPr id="17" name="Group 17"/>
          <p:cNvGrpSpPr/>
          <p:nvPr/>
        </p:nvGrpSpPr>
        <p:grpSpPr>
          <a:xfrm>
            <a:off x="32336" y="5620774"/>
            <a:ext cx="8631007" cy="4340222"/>
            <a:chOff x="0" y="0"/>
            <a:chExt cx="4138350" cy="2081026"/>
          </a:xfrm>
        </p:grpSpPr>
        <p:sp>
          <p:nvSpPr>
            <p:cNvPr id="18" name="Freeform 18"/>
            <p:cNvSpPr/>
            <p:nvPr/>
          </p:nvSpPr>
          <p:spPr>
            <a:xfrm>
              <a:off x="0" y="0"/>
              <a:ext cx="4138350" cy="2081026"/>
            </a:xfrm>
            <a:custGeom>
              <a:avLst/>
              <a:gdLst/>
              <a:ahLst/>
              <a:cxnLst/>
              <a:rect l="l" t="t" r="r" b="b"/>
              <a:pathLst>
                <a:path w="4138350" h="2081026">
                  <a:moveTo>
                    <a:pt x="27807" y="0"/>
                  </a:moveTo>
                  <a:lnTo>
                    <a:pt x="4110543" y="0"/>
                  </a:lnTo>
                  <a:cubicBezTo>
                    <a:pt x="4125900" y="0"/>
                    <a:pt x="4138350" y="12449"/>
                    <a:pt x="4138350" y="27807"/>
                  </a:cubicBezTo>
                  <a:lnTo>
                    <a:pt x="4138350" y="2053220"/>
                  </a:lnTo>
                  <a:cubicBezTo>
                    <a:pt x="4138350" y="2068577"/>
                    <a:pt x="4125900" y="2081026"/>
                    <a:pt x="4110543" y="2081026"/>
                  </a:cubicBezTo>
                  <a:lnTo>
                    <a:pt x="27807" y="2081026"/>
                  </a:lnTo>
                  <a:cubicBezTo>
                    <a:pt x="12449" y="2081026"/>
                    <a:pt x="0" y="2068577"/>
                    <a:pt x="0" y="2053220"/>
                  </a:cubicBezTo>
                  <a:lnTo>
                    <a:pt x="0" y="27807"/>
                  </a:lnTo>
                  <a:cubicBezTo>
                    <a:pt x="0" y="12449"/>
                    <a:pt x="12449" y="0"/>
                    <a:pt x="27807" y="0"/>
                  </a:cubicBezTo>
                  <a:close/>
                </a:path>
              </a:pathLst>
            </a:custGeom>
            <a:solidFill>
              <a:srgbClr val="071330"/>
            </a:solidFill>
          </p:spPr>
        </p:sp>
        <p:sp>
          <p:nvSpPr>
            <p:cNvPr id="19" name="TextBox 19"/>
            <p:cNvSpPr txBox="1"/>
            <p:nvPr/>
          </p:nvSpPr>
          <p:spPr>
            <a:xfrm>
              <a:off x="0" y="-38100"/>
              <a:ext cx="4138350" cy="2119126"/>
            </a:xfrm>
            <a:prstGeom prst="rect">
              <a:avLst/>
            </a:prstGeom>
          </p:spPr>
          <p:txBody>
            <a:bodyPr lIns="50800" tIns="50800" rIns="50800" bIns="50800" rtlCol="0" anchor="ctr"/>
            <a:lstStyle/>
            <a:p>
              <a:pPr algn="ctr">
                <a:lnSpc>
                  <a:spcPts val="2659"/>
                </a:lnSpc>
                <a:spcBef>
                  <a:spcPct val="0"/>
                </a:spcBef>
              </a:pPr>
              <a:endParaRPr/>
            </a:p>
          </p:txBody>
        </p:sp>
      </p:grpSp>
      <p:grpSp>
        <p:nvGrpSpPr>
          <p:cNvPr id="20" name="Group 20"/>
          <p:cNvGrpSpPr/>
          <p:nvPr/>
        </p:nvGrpSpPr>
        <p:grpSpPr>
          <a:xfrm>
            <a:off x="537025" y="5901844"/>
            <a:ext cx="205426" cy="190900"/>
            <a:chOff x="0" y="0"/>
            <a:chExt cx="6833198" cy="6350000"/>
          </a:xfrm>
        </p:grpSpPr>
        <p:sp>
          <p:nvSpPr>
            <p:cNvPr id="21" name="Freeform 21"/>
            <p:cNvSpPr/>
            <p:nvPr/>
          </p:nvSpPr>
          <p:spPr>
            <a:xfrm>
              <a:off x="0" y="0"/>
              <a:ext cx="6833198" cy="6350000"/>
            </a:xfrm>
            <a:custGeom>
              <a:avLst/>
              <a:gdLst/>
              <a:ahLst/>
              <a:cxnLst/>
              <a:rect l="l" t="t" r="r" b="b"/>
              <a:pathLst>
                <a:path w="6833198" h="6350000">
                  <a:moveTo>
                    <a:pt x="3416599" y="0"/>
                  </a:moveTo>
                  <a:cubicBezTo>
                    <a:pt x="1529663" y="0"/>
                    <a:pt x="0" y="1421496"/>
                    <a:pt x="0" y="3175000"/>
                  </a:cubicBezTo>
                  <a:cubicBezTo>
                    <a:pt x="0" y="4928504"/>
                    <a:pt x="1529663" y="6350000"/>
                    <a:pt x="3416599" y="6350000"/>
                  </a:cubicBezTo>
                  <a:cubicBezTo>
                    <a:pt x="5303534" y="6350000"/>
                    <a:pt x="6833198" y="4928504"/>
                    <a:pt x="6833198" y="3175000"/>
                  </a:cubicBezTo>
                  <a:cubicBezTo>
                    <a:pt x="6833198" y="1421496"/>
                    <a:pt x="5303534" y="0"/>
                    <a:pt x="3416599" y="0"/>
                  </a:cubicBezTo>
                  <a:close/>
                </a:path>
              </a:pathLst>
            </a:custGeom>
            <a:solidFill>
              <a:srgbClr val="DE0F3F"/>
            </a:solidFill>
          </p:spPr>
        </p:sp>
      </p:grpSp>
      <p:grpSp>
        <p:nvGrpSpPr>
          <p:cNvPr id="22" name="Group 22"/>
          <p:cNvGrpSpPr/>
          <p:nvPr/>
        </p:nvGrpSpPr>
        <p:grpSpPr>
          <a:xfrm>
            <a:off x="805482" y="5901844"/>
            <a:ext cx="205426" cy="190900"/>
            <a:chOff x="0" y="0"/>
            <a:chExt cx="6833198" cy="6350000"/>
          </a:xfrm>
        </p:grpSpPr>
        <p:sp>
          <p:nvSpPr>
            <p:cNvPr id="23" name="Freeform 23"/>
            <p:cNvSpPr/>
            <p:nvPr/>
          </p:nvSpPr>
          <p:spPr>
            <a:xfrm>
              <a:off x="0" y="0"/>
              <a:ext cx="6833198" cy="6350000"/>
            </a:xfrm>
            <a:custGeom>
              <a:avLst/>
              <a:gdLst/>
              <a:ahLst/>
              <a:cxnLst/>
              <a:rect l="l" t="t" r="r" b="b"/>
              <a:pathLst>
                <a:path w="6833198" h="6350000">
                  <a:moveTo>
                    <a:pt x="3416599" y="0"/>
                  </a:moveTo>
                  <a:cubicBezTo>
                    <a:pt x="1529663" y="0"/>
                    <a:pt x="0" y="1421496"/>
                    <a:pt x="0" y="3175000"/>
                  </a:cubicBezTo>
                  <a:cubicBezTo>
                    <a:pt x="0" y="4928504"/>
                    <a:pt x="1529663" y="6350000"/>
                    <a:pt x="3416599" y="6350000"/>
                  </a:cubicBezTo>
                  <a:cubicBezTo>
                    <a:pt x="5303534" y="6350000"/>
                    <a:pt x="6833198" y="4928504"/>
                    <a:pt x="6833198" y="3175000"/>
                  </a:cubicBezTo>
                  <a:cubicBezTo>
                    <a:pt x="6833198" y="1421496"/>
                    <a:pt x="5303534" y="0"/>
                    <a:pt x="3416599" y="0"/>
                  </a:cubicBezTo>
                  <a:close/>
                </a:path>
              </a:pathLst>
            </a:custGeom>
            <a:solidFill>
              <a:srgbClr val="FFCF60"/>
            </a:solidFill>
          </p:spPr>
        </p:sp>
      </p:grpSp>
      <p:grpSp>
        <p:nvGrpSpPr>
          <p:cNvPr id="24" name="Group 24"/>
          <p:cNvGrpSpPr/>
          <p:nvPr/>
        </p:nvGrpSpPr>
        <p:grpSpPr>
          <a:xfrm>
            <a:off x="1072840" y="5901844"/>
            <a:ext cx="205426" cy="190900"/>
            <a:chOff x="0" y="0"/>
            <a:chExt cx="6833198" cy="6350000"/>
          </a:xfrm>
        </p:grpSpPr>
        <p:sp>
          <p:nvSpPr>
            <p:cNvPr id="25" name="Freeform 25"/>
            <p:cNvSpPr/>
            <p:nvPr/>
          </p:nvSpPr>
          <p:spPr>
            <a:xfrm>
              <a:off x="0" y="0"/>
              <a:ext cx="6833198" cy="6350000"/>
            </a:xfrm>
            <a:custGeom>
              <a:avLst/>
              <a:gdLst/>
              <a:ahLst/>
              <a:cxnLst/>
              <a:rect l="l" t="t" r="r" b="b"/>
              <a:pathLst>
                <a:path w="6833198" h="6350000">
                  <a:moveTo>
                    <a:pt x="3416599" y="0"/>
                  </a:moveTo>
                  <a:cubicBezTo>
                    <a:pt x="1529663" y="0"/>
                    <a:pt x="0" y="1421496"/>
                    <a:pt x="0" y="3175000"/>
                  </a:cubicBezTo>
                  <a:cubicBezTo>
                    <a:pt x="0" y="4928504"/>
                    <a:pt x="1529663" y="6350000"/>
                    <a:pt x="3416599" y="6350000"/>
                  </a:cubicBezTo>
                  <a:cubicBezTo>
                    <a:pt x="5303534" y="6350000"/>
                    <a:pt x="6833198" y="4928504"/>
                    <a:pt x="6833198" y="3175000"/>
                  </a:cubicBezTo>
                  <a:cubicBezTo>
                    <a:pt x="6833198" y="1421496"/>
                    <a:pt x="5303534" y="0"/>
                    <a:pt x="3416599" y="0"/>
                  </a:cubicBezTo>
                  <a:close/>
                </a:path>
              </a:pathLst>
            </a:custGeom>
            <a:solidFill>
              <a:srgbClr val="6AC66B"/>
            </a:solidFill>
          </p:spPr>
        </p:sp>
      </p:grpSp>
      <p:sp>
        <p:nvSpPr>
          <p:cNvPr id="26" name="TextBox 26"/>
          <p:cNvSpPr txBox="1"/>
          <p:nvPr/>
        </p:nvSpPr>
        <p:spPr>
          <a:xfrm>
            <a:off x="614597" y="6855502"/>
            <a:ext cx="7466484" cy="2497750"/>
          </a:xfrm>
          <a:prstGeom prst="rect">
            <a:avLst/>
          </a:prstGeom>
        </p:spPr>
        <p:txBody>
          <a:bodyPr lIns="0" tIns="0" rIns="0" bIns="0" rtlCol="0" anchor="t">
            <a:spAutoFit/>
          </a:bodyPr>
          <a:lstStyle/>
          <a:p>
            <a:pPr algn="l">
              <a:lnSpc>
                <a:spcPts val="2488"/>
              </a:lnSpc>
            </a:pPr>
            <a:r>
              <a:rPr lang="en-US" sz="2006">
                <a:solidFill>
                  <a:srgbClr val="FFFFFF"/>
                </a:solidFill>
                <a:latin typeface="IBM Plex Mono"/>
                <a:ea typeface="IBM Plex Mono"/>
                <a:cs typeface="IBM Plex Mono"/>
                <a:sym typeface="IBM Plex Mono"/>
              </a:rPr>
              <a:t>The top 10 artists based on total streams are led by The Weeknd with 9.88 billion streams, followed by Olivia Rodrigo with 9.52 billion, and Billie Eilish with 7.92 billion streams. Other prominent artists in this list include Dua Lipa, Justin Bieber, and Juice WRLD, showcasing their dominance on the Spotify platform.</a:t>
            </a:r>
          </a:p>
          <a:p>
            <a:pPr algn="l">
              <a:lnSpc>
                <a:spcPts val="2488"/>
              </a:lnSpc>
            </a:pPr>
            <a:endParaRPr lang="en-US" sz="2006">
              <a:solidFill>
                <a:srgbClr val="FFFFFF"/>
              </a:solidFill>
              <a:latin typeface="IBM Plex Mono"/>
              <a:ea typeface="IBM Plex Mono"/>
              <a:cs typeface="IBM Plex Mono"/>
              <a:sym typeface="IBM Plex Mono"/>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CF60"/>
        </a:solidFill>
        <a:effectLst/>
      </p:bgPr>
    </p:bg>
    <p:spTree>
      <p:nvGrpSpPr>
        <p:cNvPr id="1" name=""/>
        <p:cNvGrpSpPr/>
        <p:nvPr/>
      </p:nvGrpSpPr>
      <p:grpSpPr>
        <a:xfrm>
          <a:off x="0" y="0"/>
          <a:ext cx="0" cy="0"/>
          <a:chOff x="0" y="0"/>
          <a:chExt cx="0" cy="0"/>
        </a:xfrm>
      </p:grpSpPr>
      <p:grpSp>
        <p:nvGrpSpPr>
          <p:cNvPr id="2" name="Group 2"/>
          <p:cNvGrpSpPr/>
          <p:nvPr/>
        </p:nvGrpSpPr>
        <p:grpSpPr>
          <a:xfrm>
            <a:off x="-460312" y="-201041"/>
            <a:ext cx="19208624" cy="10689082"/>
            <a:chOff x="0" y="0"/>
            <a:chExt cx="25611499" cy="14252110"/>
          </a:xfrm>
        </p:grpSpPr>
        <p:sp>
          <p:nvSpPr>
            <p:cNvPr id="3" name="Freeform 3"/>
            <p:cNvSpPr/>
            <p:nvPr/>
          </p:nvSpPr>
          <p:spPr>
            <a:xfrm>
              <a:off x="0"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1359389"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grpSp>
      <p:grpSp>
        <p:nvGrpSpPr>
          <p:cNvPr id="5" name="Group 5"/>
          <p:cNvGrpSpPr/>
          <p:nvPr/>
        </p:nvGrpSpPr>
        <p:grpSpPr>
          <a:xfrm>
            <a:off x="11745626" y="6885887"/>
            <a:ext cx="6291007" cy="3163520"/>
            <a:chOff x="0" y="0"/>
            <a:chExt cx="4138350" cy="2081026"/>
          </a:xfrm>
        </p:grpSpPr>
        <p:sp>
          <p:nvSpPr>
            <p:cNvPr id="6" name="Freeform 6"/>
            <p:cNvSpPr/>
            <p:nvPr/>
          </p:nvSpPr>
          <p:spPr>
            <a:xfrm>
              <a:off x="0" y="0"/>
              <a:ext cx="4138350" cy="2081026"/>
            </a:xfrm>
            <a:custGeom>
              <a:avLst/>
              <a:gdLst/>
              <a:ahLst/>
              <a:cxnLst/>
              <a:rect l="l" t="t" r="r" b="b"/>
              <a:pathLst>
                <a:path w="4138350" h="2081026">
                  <a:moveTo>
                    <a:pt x="38150" y="0"/>
                  </a:moveTo>
                  <a:lnTo>
                    <a:pt x="4100200" y="0"/>
                  </a:lnTo>
                  <a:cubicBezTo>
                    <a:pt x="4121270" y="0"/>
                    <a:pt x="4138350" y="17080"/>
                    <a:pt x="4138350" y="38150"/>
                  </a:cubicBezTo>
                  <a:lnTo>
                    <a:pt x="4138350" y="2042877"/>
                  </a:lnTo>
                  <a:cubicBezTo>
                    <a:pt x="4138350" y="2063946"/>
                    <a:pt x="4121270" y="2081026"/>
                    <a:pt x="4100200" y="2081026"/>
                  </a:cubicBezTo>
                  <a:lnTo>
                    <a:pt x="38150" y="2081026"/>
                  </a:lnTo>
                  <a:cubicBezTo>
                    <a:pt x="28032" y="2081026"/>
                    <a:pt x="18328" y="2077007"/>
                    <a:pt x="11174" y="2069853"/>
                  </a:cubicBezTo>
                  <a:cubicBezTo>
                    <a:pt x="4019" y="2062698"/>
                    <a:pt x="0" y="2052995"/>
                    <a:pt x="0" y="2042877"/>
                  </a:cubicBezTo>
                  <a:lnTo>
                    <a:pt x="0" y="38150"/>
                  </a:lnTo>
                  <a:cubicBezTo>
                    <a:pt x="0" y="17080"/>
                    <a:pt x="17080" y="0"/>
                    <a:pt x="38150" y="0"/>
                  </a:cubicBezTo>
                  <a:close/>
                </a:path>
              </a:pathLst>
            </a:custGeom>
            <a:solidFill>
              <a:srgbClr val="071330"/>
            </a:solidFill>
          </p:spPr>
        </p:sp>
        <p:sp>
          <p:nvSpPr>
            <p:cNvPr id="7" name="TextBox 7"/>
            <p:cNvSpPr txBox="1"/>
            <p:nvPr/>
          </p:nvSpPr>
          <p:spPr>
            <a:xfrm>
              <a:off x="0" y="-38100"/>
              <a:ext cx="4138350" cy="2119126"/>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2113487" y="7090754"/>
            <a:ext cx="149732" cy="139144"/>
            <a:chOff x="0" y="0"/>
            <a:chExt cx="6833198" cy="6350000"/>
          </a:xfrm>
        </p:grpSpPr>
        <p:sp>
          <p:nvSpPr>
            <p:cNvPr id="9" name="Freeform 9"/>
            <p:cNvSpPr/>
            <p:nvPr/>
          </p:nvSpPr>
          <p:spPr>
            <a:xfrm>
              <a:off x="0" y="0"/>
              <a:ext cx="6833198" cy="6350000"/>
            </a:xfrm>
            <a:custGeom>
              <a:avLst/>
              <a:gdLst/>
              <a:ahLst/>
              <a:cxnLst/>
              <a:rect l="l" t="t" r="r" b="b"/>
              <a:pathLst>
                <a:path w="6833198" h="6350000">
                  <a:moveTo>
                    <a:pt x="3416599" y="0"/>
                  </a:moveTo>
                  <a:cubicBezTo>
                    <a:pt x="1529663" y="0"/>
                    <a:pt x="0" y="1421496"/>
                    <a:pt x="0" y="3175000"/>
                  </a:cubicBezTo>
                  <a:cubicBezTo>
                    <a:pt x="0" y="4928504"/>
                    <a:pt x="1529663" y="6350000"/>
                    <a:pt x="3416599" y="6350000"/>
                  </a:cubicBezTo>
                  <a:cubicBezTo>
                    <a:pt x="5303534" y="6350000"/>
                    <a:pt x="6833198" y="4928504"/>
                    <a:pt x="6833198" y="3175000"/>
                  </a:cubicBezTo>
                  <a:cubicBezTo>
                    <a:pt x="6833198" y="1421496"/>
                    <a:pt x="5303534" y="0"/>
                    <a:pt x="3416599" y="0"/>
                  </a:cubicBezTo>
                  <a:close/>
                </a:path>
              </a:pathLst>
            </a:custGeom>
            <a:solidFill>
              <a:srgbClr val="DE0F3F"/>
            </a:solidFill>
          </p:spPr>
        </p:sp>
      </p:grpSp>
      <p:grpSp>
        <p:nvGrpSpPr>
          <p:cNvPr id="10" name="Group 10"/>
          <p:cNvGrpSpPr/>
          <p:nvPr/>
        </p:nvGrpSpPr>
        <p:grpSpPr>
          <a:xfrm>
            <a:off x="12309161" y="7090754"/>
            <a:ext cx="149732" cy="139144"/>
            <a:chOff x="0" y="0"/>
            <a:chExt cx="6833198" cy="6350000"/>
          </a:xfrm>
        </p:grpSpPr>
        <p:sp>
          <p:nvSpPr>
            <p:cNvPr id="11" name="Freeform 11"/>
            <p:cNvSpPr/>
            <p:nvPr/>
          </p:nvSpPr>
          <p:spPr>
            <a:xfrm>
              <a:off x="0" y="0"/>
              <a:ext cx="6833198" cy="6350000"/>
            </a:xfrm>
            <a:custGeom>
              <a:avLst/>
              <a:gdLst/>
              <a:ahLst/>
              <a:cxnLst/>
              <a:rect l="l" t="t" r="r" b="b"/>
              <a:pathLst>
                <a:path w="6833198" h="6350000">
                  <a:moveTo>
                    <a:pt x="3416599" y="0"/>
                  </a:moveTo>
                  <a:cubicBezTo>
                    <a:pt x="1529663" y="0"/>
                    <a:pt x="0" y="1421496"/>
                    <a:pt x="0" y="3175000"/>
                  </a:cubicBezTo>
                  <a:cubicBezTo>
                    <a:pt x="0" y="4928504"/>
                    <a:pt x="1529663" y="6350000"/>
                    <a:pt x="3416599" y="6350000"/>
                  </a:cubicBezTo>
                  <a:cubicBezTo>
                    <a:pt x="5303534" y="6350000"/>
                    <a:pt x="6833198" y="4928504"/>
                    <a:pt x="6833198" y="3175000"/>
                  </a:cubicBezTo>
                  <a:cubicBezTo>
                    <a:pt x="6833198" y="1421496"/>
                    <a:pt x="5303534" y="0"/>
                    <a:pt x="3416599" y="0"/>
                  </a:cubicBezTo>
                  <a:close/>
                </a:path>
              </a:pathLst>
            </a:custGeom>
            <a:solidFill>
              <a:srgbClr val="FFCF60"/>
            </a:solidFill>
          </p:spPr>
        </p:sp>
      </p:grpSp>
      <p:grpSp>
        <p:nvGrpSpPr>
          <p:cNvPr id="12" name="Group 12"/>
          <p:cNvGrpSpPr/>
          <p:nvPr/>
        </p:nvGrpSpPr>
        <p:grpSpPr>
          <a:xfrm>
            <a:off x="12504034" y="7090754"/>
            <a:ext cx="149732" cy="139144"/>
            <a:chOff x="0" y="0"/>
            <a:chExt cx="6833198" cy="6350000"/>
          </a:xfrm>
        </p:grpSpPr>
        <p:sp>
          <p:nvSpPr>
            <p:cNvPr id="13" name="Freeform 13"/>
            <p:cNvSpPr/>
            <p:nvPr/>
          </p:nvSpPr>
          <p:spPr>
            <a:xfrm>
              <a:off x="0" y="0"/>
              <a:ext cx="6833198" cy="6350000"/>
            </a:xfrm>
            <a:custGeom>
              <a:avLst/>
              <a:gdLst/>
              <a:ahLst/>
              <a:cxnLst/>
              <a:rect l="l" t="t" r="r" b="b"/>
              <a:pathLst>
                <a:path w="6833198" h="6350000">
                  <a:moveTo>
                    <a:pt x="3416599" y="0"/>
                  </a:moveTo>
                  <a:cubicBezTo>
                    <a:pt x="1529663" y="0"/>
                    <a:pt x="0" y="1421496"/>
                    <a:pt x="0" y="3175000"/>
                  </a:cubicBezTo>
                  <a:cubicBezTo>
                    <a:pt x="0" y="4928504"/>
                    <a:pt x="1529663" y="6350000"/>
                    <a:pt x="3416599" y="6350000"/>
                  </a:cubicBezTo>
                  <a:cubicBezTo>
                    <a:pt x="5303534" y="6350000"/>
                    <a:pt x="6833198" y="4928504"/>
                    <a:pt x="6833198" y="3175000"/>
                  </a:cubicBezTo>
                  <a:cubicBezTo>
                    <a:pt x="6833198" y="1421496"/>
                    <a:pt x="5303534" y="0"/>
                    <a:pt x="3416599" y="0"/>
                  </a:cubicBezTo>
                  <a:close/>
                </a:path>
              </a:pathLst>
            </a:custGeom>
            <a:solidFill>
              <a:srgbClr val="6AC66B"/>
            </a:solidFill>
          </p:spPr>
        </p:sp>
      </p:grpSp>
      <p:sp>
        <p:nvSpPr>
          <p:cNvPr id="14" name="Freeform 14"/>
          <p:cNvSpPr/>
          <p:nvPr/>
        </p:nvSpPr>
        <p:spPr>
          <a:xfrm>
            <a:off x="444368" y="2042717"/>
            <a:ext cx="11301259" cy="6201566"/>
          </a:xfrm>
          <a:custGeom>
            <a:avLst/>
            <a:gdLst/>
            <a:ahLst/>
            <a:cxnLst/>
            <a:rect l="l" t="t" r="r" b="b"/>
            <a:pathLst>
              <a:path w="11301259" h="6201566">
                <a:moveTo>
                  <a:pt x="0" y="0"/>
                </a:moveTo>
                <a:lnTo>
                  <a:pt x="11301258" y="0"/>
                </a:lnTo>
                <a:lnTo>
                  <a:pt x="11301258" y="6201566"/>
                </a:lnTo>
                <a:lnTo>
                  <a:pt x="0" y="6201566"/>
                </a:lnTo>
                <a:lnTo>
                  <a:pt x="0" y="0"/>
                </a:lnTo>
                <a:close/>
              </a:path>
            </a:pathLst>
          </a:custGeom>
          <a:blipFill>
            <a:blip r:embed="rId4"/>
            <a:stretch>
              <a:fillRect/>
            </a:stretch>
          </a:blipFill>
        </p:spPr>
      </p:sp>
      <p:sp>
        <p:nvSpPr>
          <p:cNvPr id="15" name="TextBox 15"/>
          <p:cNvSpPr txBox="1"/>
          <p:nvPr/>
        </p:nvSpPr>
        <p:spPr>
          <a:xfrm>
            <a:off x="12170028" y="7776336"/>
            <a:ext cx="5442204" cy="1373096"/>
          </a:xfrm>
          <a:prstGeom prst="rect">
            <a:avLst/>
          </a:prstGeom>
        </p:spPr>
        <p:txBody>
          <a:bodyPr lIns="0" tIns="0" rIns="0" bIns="0" rtlCol="0" anchor="t">
            <a:spAutoFit/>
          </a:bodyPr>
          <a:lstStyle/>
          <a:p>
            <a:pPr algn="l">
              <a:lnSpc>
                <a:spcPts val="1813"/>
              </a:lnSpc>
            </a:pPr>
            <a:r>
              <a:rPr lang="en-US" sz="1462">
                <a:solidFill>
                  <a:srgbClr val="FFFFFF"/>
                </a:solidFill>
                <a:latin typeface="IBM Plex Mono"/>
                <a:ea typeface="IBM Plex Mono"/>
                <a:cs typeface="IBM Plex Mono"/>
                <a:sym typeface="IBM Plex Mono"/>
              </a:rPr>
              <a:t>The graph shows the total number of streams over time, from 2020-01 to 2022-01. It depicts the fluctuations in total streams, with some notable peaks and valleys throughout the time period. It also showcases the overall trend in total stream volume over the course of these two years.</a:t>
            </a:r>
          </a:p>
        </p:txBody>
      </p:sp>
      <p:sp>
        <p:nvSpPr>
          <p:cNvPr id="16" name="TextBox 16"/>
          <p:cNvSpPr txBox="1"/>
          <p:nvPr/>
        </p:nvSpPr>
        <p:spPr>
          <a:xfrm>
            <a:off x="3610332" y="573654"/>
            <a:ext cx="11067336" cy="1024391"/>
          </a:xfrm>
          <a:prstGeom prst="rect">
            <a:avLst/>
          </a:prstGeom>
        </p:spPr>
        <p:txBody>
          <a:bodyPr lIns="0" tIns="0" rIns="0" bIns="0" rtlCol="0" anchor="t">
            <a:spAutoFit/>
          </a:bodyPr>
          <a:lstStyle/>
          <a:p>
            <a:pPr algn="l">
              <a:lnSpc>
                <a:spcPts val="7848"/>
              </a:lnSpc>
            </a:pPr>
            <a:r>
              <a:rPr lang="en-US" sz="7546" b="1">
                <a:solidFill>
                  <a:srgbClr val="071330"/>
                </a:solidFill>
                <a:latin typeface="IBM Plex Mono Bold"/>
                <a:ea typeface="IBM Plex Mono Bold"/>
                <a:cs typeface="IBM Plex Mono Bold"/>
                <a:sym typeface="IBM Plex Mono Bold"/>
              </a:rPr>
              <a:t>Data Visualization </a:t>
            </a: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6AC66B"/>
        </a:solidFill>
        <a:effectLst/>
      </p:bgPr>
    </p:bg>
    <p:spTree>
      <p:nvGrpSpPr>
        <p:cNvPr id="1" name=""/>
        <p:cNvGrpSpPr/>
        <p:nvPr/>
      </p:nvGrpSpPr>
      <p:grpSpPr>
        <a:xfrm>
          <a:off x="0" y="0"/>
          <a:ext cx="0" cy="0"/>
          <a:chOff x="0" y="0"/>
          <a:chExt cx="0" cy="0"/>
        </a:xfrm>
      </p:grpSpPr>
      <p:grpSp>
        <p:nvGrpSpPr>
          <p:cNvPr id="2" name="Group 2"/>
          <p:cNvGrpSpPr/>
          <p:nvPr/>
        </p:nvGrpSpPr>
        <p:grpSpPr>
          <a:xfrm>
            <a:off x="-121719" y="-201041"/>
            <a:ext cx="19208624" cy="10689082"/>
            <a:chOff x="0" y="0"/>
            <a:chExt cx="25611499" cy="14252110"/>
          </a:xfrm>
        </p:grpSpPr>
        <p:sp>
          <p:nvSpPr>
            <p:cNvPr id="3" name="Freeform 3"/>
            <p:cNvSpPr/>
            <p:nvPr/>
          </p:nvSpPr>
          <p:spPr>
            <a:xfrm>
              <a:off x="0"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1359389"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grpSp>
      <p:grpSp>
        <p:nvGrpSpPr>
          <p:cNvPr id="5" name="Group 5"/>
          <p:cNvGrpSpPr/>
          <p:nvPr/>
        </p:nvGrpSpPr>
        <p:grpSpPr>
          <a:xfrm>
            <a:off x="10553338" y="6286328"/>
            <a:ext cx="7483295" cy="3763079"/>
            <a:chOff x="0" y="0"/>
            <a:chExt cx="4138350" cy="2081026"/>
          </a:xfrm>
        </p:grpSpPr>
        <p:sp>
          <p:nvSpPr>
            <p:cNvPr id="6" name="Freeform 6"/>
            <p:cNvSpPr/>
            <p:nvPr/>
          </p:nvSpPr>
          <p:spPr>
            <a:xfrm>
              <a:off x="0" y="0"/>
              <a:ext cx="4138350" cy="2081026"/>
            </a:xfrm>
            <a:custGeom>
              <a:avLst/>
              <a:gdLst/>
              <a:ahLst/>
              <a:cxnLst/>
              <a:rect l="l" t="t" r="r" b="b"/>
              <a:pathLst>
                <a:path w="4138350" h="2081026">
                  <a:moveTo>
                    <a:pt x="32071" y="0"/>
                  </a:moveTo>
                  <a:lnTo>
                    <a:pt x="4106278" y="0"/>
                  </a:lnTo>
                  <a:cubicBezTo>
                    <a:pt x="4114784" y="0"/>
                    <a:pt x="4122942" y="3379"/>
                    <a:pt x="4128956" y="9393"/>
                  </a:cubicBezTo>
                  <a:cubicBezTo>
                    <a:pt x="4134971" y="15408"/>
                    <a:pt x="4138350" y="23566"/>
                    <a:pt x="4138350" y="32071"/>
                  </a:cubicBezTo>
                  <a:lnTo>
                    <a:pt x="4138350" y="2048955"/>
                  </a:lnTo>
                  <a:cubicBezTo>
                    <a:pt x="4138350" y="2057461"/>
                    <a:pt x="4134971" y="2065618"/>
                    <a:pt x="4128956" y="2071633"/>
                  </a:cubicBezTo>
                  <a:cubicBezTo>
                    <a:pt x="4122942" y="2077648"/>
                    <a:pt x="4114784" y="2081026"/>
                    <a:pt x="4106278" y="2081026"/>
                  </a:cubicBezTo>
                  <a:lnTo>
                    <a:pt x="32071" y="2081026"/>
                  </a:lnTo>
                  <a:cubicBezTo>
                    <a:pt x="23566" y="2081026"/>
                    <a:pt x="15408" y="2077648"/>
                    <a:pt x="9393" y="2071633"/>
                  </a:cubicBezTo>
                  <a:cubicBezTo>
                    <a:pt x="3379" y="2065618"/>
                    <a:pt x="0" y="2057461"/>
                    <a:pt x="0" y="2048955"/>
                  </a:cubicBezTo>
                  <a:lnTo>
                    <a:pt x="0" y="32071"/>
                  </a:lnTo>
                  <a:cubicBezTo>
                    <a:pt x="0" y="23566"/>
                    <a:pt x="3379" y="15408"/>
                    <a:pt x="9393" y="9393"/>
                  </a:cubicBezTo>
                  <a:cubicBezTo>
                    <a:pt x="15408" y="3379"/>
                    <a:pt x="23566" y="0"/>
                    <a:pt x="32071" y="0"/>
                  </a:cubicBezTo>
                  <a:close/>
                </a:path>
              </a:pathLst>
            </a:custGeom>
            <a:solidFill>
              <a:srgbClr val="071330"/>
            </a:solidFill>
          </p:spPr>
        </p:sp>
        <p:sp>
          <p:nvSpPr>
            <p:cNvPr id="7" name="TextBox 7"/>
            <p:cNvSpPr txBox="1"/>
            <p:nvPr/>
          </p:nvSpPr>
          <p:spPr>
            <a:xfrm>
              <a:off x="0" y="-38100"/>
              <a:ext cx="4138350" cy="2119126"/>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0990916" y="6530023"/>
            <a:ext cx="178109" cy="165515"/>
            <a:chOff x="0" y="0"/>
            <a:chExt cx="6833198" cy="6350000"/>
          </a:xfrm>
        </p:grpSpPr>
        <p:sp>
          <p:nvSpPr>
            <p:cNvPr id="9" name="Freeform 9"/>
            <p:cNvSpPr/>
            <p:nvPr/>
          </p:nvSpPr>
          <p:spPr>
            <a:xfrm>
              <a:off x="0" y="0"/>
              <a:ext cx="6833198" cy="6350000"/>
            </a:xfrm>
            <a:custGeom>
              <a:avLst/>
              <a:gdLst/>
              <a:ahLst/>
              <a:cxnLst/>
              <a:rect l="l" t="t" r="r" b="b"/>
              <a:pathLst>
                <a:path w="6833198" h="6350000">
                  <a:moveTo>
                    <a:pt x="3416599" y="0"/>
                  </a:moveTo>
                  <a:cubicBezTo>
                    <a:pt x="1529663" y="0"/>
                    <a:pt x="0" y="1421496"/>
                    <a:pt x="0" y="3175000"/>
                  </a:cubicBezTo>
                  <a:cubicBezTo>
                    <a:pt x="0" y="4928504"/>
                    <a:pt x="1529663" y="6350000"/>
                    <a:pt x="3416599" y="6350000"/>
                  </a:cubicBezTo>
                  <a:cubicBezTo>
                    <a:pt x="5303534" y="6350000"/>
                    <a:pt x="6833198" y="4928504"/>
                    <a:pt x="6833198" y="3175000"/>
                  </a:cubicBezTo>
                  <a:cubicBezTo>
                    <a:pt x="6833198" y="1421496"/>
                    <a:pt x="5303534" y="0"/>
                    <a:pt x="3416599" y="0"/>
                  </a:cubicBezTo>
                  <a:close/>
                </a:path>
              </a:pathLst>
            </a:custGeom>
            <a:solidFill>
              <a:srgbClr val="DE0F3F"/>
            </a:solidFill>
          </p:spPr>
        </p:sp>
      </p:grpSp>
      <p:grpSp>
        <p:nvGrpSpPr>
          <p:cNvPr id="10" name="Group 10"/>
          <p:cNvGrpSpPr/>
          <p:nvPr/>
        </p:nvGrpSpPr>
        <p:grpSpPr>
          <a:xfrm>
            <a:off x="11223675" y="6530023"/>
            <a:ext cx="178109" cy="165515"/>
            <a:chOff x="0" y="0"/>
            <a:chExt cx="6833198" cy="6350000"/>
          </a:xfrm>
        </p:grpSpPr>
        <p:sp>
          <p:nvSpPr>
            <p:cNvPr id="11" name="Freeform 11"/>
            <p:cNvSpPr/>
            <p:nvPr/>
          </p:nvSpPr>
          <p:spPr>
            <a:xfrm>
              <a:off x="0" y="0"/>
              <a:ext cx="6833198" cy="6350000"/>
            </a:xfrm>
            <a:custGeom>
              <a:avLst/>
              <a:gdLst/>
              <a:ahLst/>
              <a:cxnLst/>
              <a:rect l="l" t="t" r="r" b="b"/>
              <a:pathLst>
                <a:path w="6833198" h="6350000">
                  <a:moveTo>
                    <a:pt x="3416599" y="0"/>
                  </a:moveTo>
                  <a:cubicBezTo>
                    <a:pt x="1529663" y="0"/>
                    <a:pt x="0" y="1421496"/>
                    <a:pt x="0" y="3175000"/>
                  </a:cubicBezTo>
                  <a:cubicBezTo>
                    <a:pt x="0" y="4928504"/>
                    <a:pt x="1529663" y="6350000"/>
                    <a:pt x="3416599" y="6350000"/>
                  </a:cubicBezTo>
                  <a:cubicBezTo>
                    <a:pt x="5303534" y="6350000"/>
                    <a:pt x="6833198" y="4928504"/>
                    <a:pt x="6833198" y="3175000"/>
                  </a:cubicBezTo>
                  <a:cubicBezTo>
                    <a:pt x="6833198" y="1421496"/>
                    <a:pt x="5303534" y="0"/>
                    <a:pt x="3416599" y="0"/>
                  </a:cubicBezTo>
                  <a:close/>
                </a:path>
              </a:pathLst>
            </a:custGeom>
            <a:solidFill>
              <a:srgbClr val="FFCF60"/>
            </a:solidFill>
          </p:spPr>
        </p:sp>
      </p:grpSp>
      <p:grpSp>
        <p:nvGrpSpPr>
          <p:cNvPr id="12" name="Group 12"/>
          <p:cNvGrpSpPr/>
          <p:nvPr/>
        </p:nvGrpSpPr>
        <p:grpSpPr>
          <a:xfrm>
            <a:off x="11455481" y="6530023"/>
            <a:ext cx="178109" cy="165515"/>
            <a:chOff x="0" y="0"/>
            <a:chExt cx="6833198" cy="6350000"/>
          </a:xfrm>
        </p:grpSpPr>
        <p:sp>
          <p:nvSpPr>
            <p:cNvPr id="13" name="Freeform 13"/>
            <p:cNvSpPr/>
            <p:nvPr/>
          </p:nvSpPr>
          <p:spPr>
            <a:xfrm>
              <a:off x="0" y="0"/>
              <a:ext cx="6833198" cy="6350000"/>
            </a:xfrm>
            <a:custGeom>
              <a:avLst/>
              <a:gdLst/>
              <a:ahLst/>
              <a:cxnLst/>
              <a:rect l="l" t="t" r="r" b="b"/>
              <a:pathLst>
                <a:path w="6833198" h="6350000">
                  <a:moveTo>
                    <a:pt x="3416599" y="0"/>
                  </a:moveTo>
                  <a:cubicBezTo>
                    <a:pt x="1529663" y="0"/>
                    <a:pt x="0" y="1421496"/>
                    <a:pt x="0" y="3175000"/>
                  </a:cubicBezTo>
                  <a:cubicBezTo>
                    <a:pt x="0" y="4928504"/>
                    <a:pt x="1529663" y="6350000"/>
                    <a:pt x="3416599" y="6350000"/>
                  </a:cubicBezTo>
                  <a:cubicBezTo>
                    <a:pt x="5303534" y="6350000"/>
                    <a:pt x="6833198" y="4928504"/>
                    <a:pt x="6833198" y="3175000"/>
                  </a:cubicBezTo>
                  <a:cubicBezTo>
                    <a:pt x="6833198" y="1421496"/>
                    <a:pt x="5303534" y="0"/>
                    <a:pt x="3416599" y="0"/>
                  </a:cubicBezTo>
                  <a:close/>
                </a:path>
              </a:pathLst>
            </a:custGeom>
            <a:solidFill>
              <a:srgbClr val="6AC66B"/>
            </a:solidFill>
          </p:spPr>
        </p:sp>
      </p:grpSp>
      <p:sp>
        <p:nvSpPr>
          <p:cNvPr id="14" name="Freeform 14"/>
          <p:cNvSpPr/>
          <p:nvPr/>
        </p:nvSpPr>
        <p:spPr>
          <a:xfrm>
            <a:off x="1028700" y="1855515"/>
            <a:ext cx="9524638" cy="6917268"/>
          </a:xfrm>
          <a:custGeom>
            <a:avLst/>
            <a:gdLst/>
            <a:ahLst/>
            <a:cxnLst/>
            <a:rect l="l" t="t" r="r" b="b"/>
            <a:pathLst>
              <a:path w="9524638" h="6917268">
                <a:moveTo>
                  <a:pt x="0" y="0"/>
                </a:moveTo>
                <a:lnTo>
                  <a:pt x="9524638" y="0"/>
                </a:lnTo>
                <a:lnTo>
                  <a:pt x="9524638" y="6917269"/>
                </a:lnTo>
                <a:lnTo>
                  <a:pt x="0" y="6917269"/>
                </a:lnTo>
                <a:lnTo>
                  <a:pt x="0" y="0"/>
                </a:lnTo>
                <a:close/>
              </a:path>
            </a:pathLst>
          </a:custGeom>
          <a:blipFill>
            <a:blip r:embed="rId4"/>
            <a:stretch>
              <a:fillRect/>
            </a:stretch>
          </a:blipFill>
        </p:spPr>
      </p:sp>
      <p:sp>
        <p:nvSpPr>
          <p:cNvPr id="15" name="TextBox 15"/>
          <p:cNvSpPr txBox="1"/>
          <p:nvPr/>
        </p:nvSpPr>
        <p:spPr>
          <a:xfrm>
            <a:off x="11058173" y="7347343"/>
            <a:ext cx="6473625" cy="1359717"/>
          </a:xfrm>
          <a:prstGeom prst="rect">
            <a:avLst/>
          </a:prstGeom>
        </p:spPr>
        <p:txBody>
          <a:bodyPr lIns="0" tIns="0" rIns="0" bIns="0" rtlCol="0" anchor="t">
            <a:spAutoFit/>
          </a:bodyPr>
          <a:lstStyle/>
          <a:p>
            <a:pPr algn="l">
              <a:lnSpc>
                <a:spcPts val="2157"/>
              </a:lnSpc>
            </a:pPr>
            <a:r>
              <a:rPr lang="en-US" sz="1740">
                <a:solidFill>
                  <a:srgbClr val="FFFFFF"/>
                </a:solidFill>
                <a:latin typeface="IBM Plex Mono"/>
                <a:ea typeface="IBM Plex Mono"/>
                <a:cs typeface="IBM Plex Mono"/>
                <a:sym typeface="IBM Plex Mono"/>
              </a:rPr>
              <a:t>The graph ranks the top 10 artists by their total number of streams. The artist with the highest total streams is "The Weeknd", followed by "Olivia Rodrigo", "Billie Eilish", and several other popular artists.</a:t>
            </a:r>
          </a:p>
        </p:txBody>
      </p:sp>
      <p:sp>
        <p:nvSpPr>
          <p:cNvPr id="16" name="TextBox 16"/>
          <p:cNvSpPr txBox="1"/>
          <p:nvPr/>
        </p:nvSpPr>
        <p:spPr>
          <a:xfrm>
            <a:off x="3610332" y="573654"/>
            <a:ext cx="11067336" cy="1024391"/>
          </a:xfrm>
          <a:prstGeom prst="rect">
            <a:avLst/>
          </a:prstGeom>
        </p:spPr>
        <p:txBody>
          <a:bodyPr lIns="0" tIns="0" rIns="0" bIns="0" rtlCol="0" anchor="t">
            <a:spAutoFit/>
          </a:bodyPr>
          <a:lstStyle/>
          <a:p>
            <a:pPr algn="l">
              <a:lnSpc>
                <a:spcPts val="7848"/>
              </a:lnSpc>
            </a:pPr>
            <a:r>
              <a:rPr lang="en-US" sz="7546" b="1">
                <a:solidFill>
                  <a:srgbClr val="071330"/>
                </a:solidFill>
                <a:latin typeface="IBM Plex Mono Bold"/>
                <a:ea typeface="IBM Plex Mono Bold"/>
                <a:cs typeface="IBM Plex Mono Bold"/>
                <a:sym typeface="IBM Plex Mono Bold"/>
              </a:rPr>
              <a:t>Data Visualization </a:t>
            </a: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CF60"/>
        </a:solidFill>
        <a:effectLst/>
      </p:bgPr>
    </p:bg>
    <p:spTree>
      <p:nvGrpSpPr>
        <p:cNvPr id="1" name=""/>
        <p:cNvGrpSpPr/>
        <p:nvPr/>
      </p:nvGrpSpPr>
      <p:grpSpPr>
        <a:xfrm>
          <a:off x="0" y="0"/>
          <a:ext cx="0" cy="0"/>
          <a:chOff x="0" y="0"/>
          <a:chExt cx="0" cy="0"/>
        </a:xfrm>
      </p:grpSpPr>
      <p:grpSp>
        <p:nvGrpSpPr>
          <p:cNvPr id="2" name="Group 2"/>
          <p:cNvGrpSpPr/>
          <p:nvPr/>
        </p:nvGrpSpPr>
        <p:grpSpPr>
          <a:xfrm>
            <a:off x="-460312" y="-201041"/>
            <a:ext cx="19208624" cy="10689082"/>
            <a:chOff x="0" y="0"/>
            <a:chExt cx="25611499" cy="14252110"/>
          </a:xfrm>
        </p:grpSpPr>
        <p:sp>
          <p:nvSpPr>
            <p:cNvPr id="3" name="Freeform 3"/>
            <p:cNvSpPr/>
            <p:nvPr/>
          </p:nvSpPr>
          <p:spPr>
            <a:xfrm>
              <a:off x="0"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1359389"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grpSp>
      <p:grpSp>
        <p:nvGrpSpPr>
          <p:cNvPr id="5" name="Group 5"/>
          <p:cNvGrpSpPr/>
          <p:nvPr/>
        </p:nvGrpSpPr>
        <p:grpSpPr>
          <a:xfrm>
            <a:off x="11745626" y="6885887"/>
            <a:ext cx="6291007" cy="3163520"/>
            <a:chOff x="0" y="0"/>
            <a:chExt cx="4138350" cy="2081026"/>
          </a:xfrm>
        </p:grpSpPr>
        <p:sp>
          <p:nvSpPr>
            <p:cNvPr id="6" name="Freeform 6"/>
            <p:cNvSpPr/>
            <p:nvPr/>
          </p:nvSpPr>
          <p:spPr>
            <a:xfrm>
              <a:off x="0" y="0"/>
              <a:ext cx="4138350" cy="2081026"/>
            </a:xfrm>
            <a:custGeom>
              <a:avLst/>
              <a:gdLst/>
              <a:ahLst/>
              <a:cxnLst/>
              <a:rect l="l" t="t" r="r" b="b"/>
              <a:pathLst>
                <a:path w="4138350" h="2081026">
                  <a:moveTo>
                    <a:pt x="38150" y="0"/>
                  </a:moveTo>
                  <a:lnTo>
                    <a:pt x="4100200" y="0"/>
                  </a:lnTo>
                  <a:cubicBezTo>
                    <a:pt x="4121270" y="0"/>
                    <a:pt x="4138350" y="17080"/>
                    <a:pt x="4138350" y="38150"/>
                  </a:cubicBezTo>
                  <a:lnTo>
                    <a:pt x="4138350" y="2042877"/>
                  </a:lnTo>
                  <a:cubicBezTo>
                    <a:pt x="4138350" y="2063946"/>
                    <a:pt x="4121270" y="2081026"/>
                    <a:pt x="4100200" y="2081026"/>
                  </a:cubicBezTo>
                  <a:lnTo>
                    <a:pt x="38150" y="2081026"/>
                  </a:lnTo>
                  <a:cubicBezTo>
                    <a:pt x="28032" y="2081026"/>
                    <a:pt x="18328" y="2077007"/>
                    <a:pt x="11174" y="2069853"/>
                  </a:cubicBezTo>
                  <a:cubicBezTo>
                    <a:pt x="4019" y="2062698"/>
                    <a:pt x="0" y="2052995"/>
                    <a:pt x="0" y="2042877"/>
                  </a:cubicBezTo>
                  <a:lnTo>
                    <a:pt x="0" y="38150"/>
                  </a:lnTo>
                  <a:cubicBezTo>
                    <a:pt x="0" y="17080"/>
                    <a:pt x="17080" y="0"/>
                    <a:pt x="38150" y="0"/>
                  </a:cubicBezTo>
                  <a:close/>
                </a:path>
              </a:pathLst>
            </a:custGeom>
            <a:solidFill>
              <a:srgbClr val="071330"/>
            </a:solidFill>
          </p:spPr>
        </p:sp>
        <p:sp>
          <p:nvSpPr>
            <p:cNvPr id="7" name="TextBox 7"/>
            <p:cNvSpPr txBox="1"/>
            <p:nvPr/>
          </p:nvSpPr>
          <p:spPr>
            <a:xfrm>
              <a:off x="0" y="-38100"/>
              <a:ext cx="4138350" cy="2119126"/>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2113487" y="7090754"/>
            <a:ext cx="149732" cy="139144"/>
            <a:chOff x="0" y="0"/>
            <a:chExt cx="6833198" cy="6350000"/>
          </a:xfrm>
        </p:grpSpPr>
        <p:sp>
          <p:nvSpPr>
            <p:cNvPr id="9" name="Freeform 9"/>
            <p:cNvSpPr/>
            <p:nvPr/>
          </p:nvSpPr>
          <p:spPr>
            <a:xfrm>
              <a:off x="0" y="0"/>
              <a:ext cx="6833198" cy="6350000"/>
            </a:xfrm>
            <a:custGeom>
              <a:avLst/>
              <a:gdLst/>
              <a:ahLst/>
              <a:cxnLst/>
              <a:rect l="l" t="t" r="r" b="b"/>
              <a:pathLst>
                <a:path w="6833198" h="6350000">
                  <a:moveTo>
                    <a:pt x="3416599" y="0"/>
                  </a:moveTo>
                  <a:cubicBezTo>
                    <a:pt x="1529663" y="0"/>
                    <a:pt x="0" y="1421496"/>
                    <a:pt x="0" y="3175000"/>
                  </a:cubicBezTo>
                  <a:cubicBezTo>
                    <a:pt x="0" y="4928504"/>
                    <a:pt x="1529663" y="6350000"/>
                    <a:pt x="3416599" y="6350000"/>
                  </a:cubicBezTo>
                  <a:cubicBezTo>
                    <a:pt x="5303534" y="6350000"/>
                    <a:pt x="6833198" y="4928504"/>
                    <a:pt x="6833198" y="3175000"/>
                  </a:cubicBezTo>
                  <a:cubicBezTo>
                    <a:pt x="6833198" y="1421496"/>
                    <a:pt x="5303534" y="0"/>
                    <a:pt x="3416599" y="0"/>
                  </a:cubicBezTo>
                  <a:close/>
                </a:path>
              </a:pathLst>
            </a:custGeom>
            <a:solidFill>
              <a:srgbClr val="DE0F3F"/>
            </a:solidFill>
          </p:spPr>
        </p:sp>
      </p:grpSp>
      <p:grpSp>
        <p:nvGrpSpPr>
          <p:cNvPr id="10" name="Group 10"/>
          <p:cNvGrpSpPr/>
          <p:nvPr/>
        </p:nvGrpSpPr>
        <p:grpSpPr>
          <a:xfrm>
            <a:off x="12309161" y="7090754"/>
            <a:ext cx="149732" cy="139144"/>
            <a:chOff x="0" y="0"/>
            <a:chExt cx="6833198" cy="6350000"/>
          </a:xfrm>
        </p:grpSpPr>
        <p:sp>
          <p:nvSpPr>
            <p:cNvPr id="11" name="Freeform 11"/>
            <p:cNvSpPr/>
            <p:nvPr/>
          </p:nvSpPr>
          <p:spPr>
            <a:xfrm>
              <a:off x="0" y="0"/>
              <a:ext cx="6833198" cy="6350000"/>
            </a:xfrm>
            <a:custGeom>
              <a:avLst/>
              <a:gdLst/>
              <a:ahLst/>
              <a:cxnLst/>
              <a:rect l="l" t="t" r="r" b="b"/>
              <a:pathLst>
                <a:path w="6833198" h="6350000">
                  <a:moveTo>
                    <a:pt x="3416599" y="0"/>
                  </a:moveTo>
                  <a:cubicBezTo>
                    <a:pt x="1529663" y="0"/>
                    <a:pt x="0" y="1421496"/>
                    <a:pt x="0" y="3175000"/>
                  </a:cubicBezTo>
                  <a:cubicBezTo>
                    <a:pt x="0" y="4928504"/>
                    <a:pt x="1529663" y="6350000"/>
                    <a:pt x="3416599" y="6350000"/>
                  </a:cubicBezTo>
                  <a:cubicBezTo>
                    <a:pt x="5303534" y="6350000"/>
                    <a:pt x="6833198" y="4928504"/>
                    <a:pt x="6833198" y="3175000"/>
                  </a:cubicBezTo>
                  <a:cubicBezTo>
                    <a:pt x="6833198" y="1421496"/>
                    <a:pt x="5303534" y="0"/>
                    <a:pt x="3416599" y="0"/>
                  </a:cubicBezTo>
                  <a:close/>
                </a:path>
              </a:pathLst>
            </a:custGeom>
            <a:solidFill>
              <a:srgbClr val="FFCF60"/>
            </a:solidFill>
          </p:spPr>
        </p:sp>
      </p:grpSp>
      <p:grpSp>
        <p:nvGrpSpPr>
          <p:cNvPr id="12" name="Group 12"/>
          <p:cNvGrpSpPr/>
          <p:nvPr/>
        </p:nvGrpSpPr>
        <p:grpSpPr>
          <a:xfrm>
            <a:off x="12504034" y="7090754"/>
            <a:ext cx="149732" cy="139144"/>
            <a:chOff x="0" y="0"/>
            <a:chExt cx="6833198" cy="6350000"/>
          </a:xfrm>
        </p:grpSpPr>
        <p:sp>
          <p:nvSpPr>
            <p:cNvPr id="13" name="Freeform 13"/>
            <p:cNvSpPr/>
            <p:nvPr/>
          </p:nvSpPr>
          <p:spPr>
            <a:xfrm>
              <a:off x="0" y="0"/>
              <a:ext cx="6833198" cy="6350000"/>
            </a:xfrm>
            <a:custGeom>
              <a:avLst/>
              <a:gdLst/>
              <a:ahLst/>
              <a:cxnLst/>
              <a:rect l="l" t="t" r="r" b="b"/>
              <a:pathLst>
                <a:path w="6833198" h="6350000">
                  <a:moveTo>
                    <a:pt x="3416599" y="0"/>
                  </a:moveTo>
                  <a:cubicBezTo>
                    <a:pt x="1529663" y="0"/>
                    <a:pt x="0" y="1421496"/>
                    <a:pt x="0" y="3175000"/>
                  </a:cubicBezTo>
                  <a:cubicBezTo>
                    <a:pt x="0" y="4928504"/>
                    <a:pt x="1529663" y="6350000"/>
                    <a:pt x="3416599" y="6350000"/>
                  </a:cubicBezTo>
                  <a:cubicBezTo>
                    <a:pt x="5303534" y="6350000"/>
                    <a:pt x="6833198" y="4928504"/>
                    <a:pt x="6833198" y="3175000"/>
                  </a:cubicBezTo>
                  <a:cubicBezTo>
                    <a:pt x="6833198" y="1421496"/>
                    <a:pt x="5303534" y="0"/>
                    <a:pt x="3416599" y="0"/>
                  </a:cubicBezTo>
                  <a:close/>
                </a:path>
              </a:pathLst>
            </a:custGeom>
            <a:solidFill>
              <a:srgbClr val="6AC66B"/>
            </a:solidFill>
          </p:spPr>
        </p:sp>
      </p:grpSp>
      <p:sp>
        <p:nvSpPr>
          <p:cNvPr id="14" name="Freeform 14"/>
          <p:cNvSpPr/>
          <p:nvPr/>
        </p:nvSpPr>
        <p:spPr>
          <a:xfrm>
            <a:off x="1028700" y="2039295"/>
            <a:ext cx="10325838" cy="6208410"/>
          </a:xfrm>
          <a:custGeom>
            <a:avLst/>
            <a:gdLst/>
            <a:ahLst/>
            <a:cxnLst/>
            <a:rect l="l" t="t" r="r" b="b"/>
            <a:pathLst>
              <a:path w="10325838" h="6208410">
                <a:moveTo>
                  <a:pt x="0" y="0"/>
                </a:moveTo>
                <a:lnTo>
                  <a:pt x="10325838" y="0"/>
                </a:lnTo>
                <a:lnTo>
                  <a:pt x="10325838" y="6208410"/>
                </a:lnTo>
                <a:lnTo>
                  <a:pt x="0" y="6208410"/>
                </a:lnTo>
                <a:lnTo>
                  <a:pt x="0" y="0"/>
                </a:lnTo>
                <a:close/>
              </a:path>
            </a:pathLst>
          </a:custGeom>
          <a:blipFill>
            <a:blip r:embed="rId4"/>
            <a:stretch>
              <a:fillRect/>
            </a:stretch>
          </a:blipFill>
        </p:spPr>
      </p:sp>
      <p:sp>
        <p:nvSpPr>
          <p:cNvPr id="15" name="TextBox 15"/>
          <p:cNvSpPr txBox="1"/>
          <p:nvPr/>
        </p:nvSpPr>
        <p:spPr>
          <a:xfrm>
            <a:off x="12263218" y="7900898"/>
            <a:ext cx="5472024" cy="1133496"/>
          </a:xfrm>
          <a:prstGeom prst="rect">
            <a:avLst/>
          </a:prstGeom>
        </p:spPr>
        <p:txBody>
          <a:bodyPr lIns="0" tIns="0" rIns="0" bIns="0" rtlCol="0" anchor="t">
            <a:spAutoFit/>
          </a:bodyPr>
          <a:lstStyle/>
          <a:p>
            <a:pPr algn="l">
              <a:lnSpc>
                <a:spcPts val="2319"/>
              </a:lnSpc>
            </a:pPr>
            <a:r>
              <a:rPr lang="en-US" sz="1870">
                <a:solidFill>
                  <a:srgbClr val="FFFFFF"/>
                </a:solidFill>
                <a:latin typeface="IBM Plex Mono"/>
                <a:ea typeface="IBM Plex Mono"/>
                <a:cs typeface="IBM Plex Mono"/>
                <a:sym typeface="IBM Plex Mono"/>
              </a:rPr>
              <a:t>Quite similar to our previous graph but we are now focusing on top 20 artists.</a:t>
            </a:r>
          </a:p>
          <a:p>
            <a:pPr algn="l">
              <a:lnSpc>
                <a:spcPts val="2319"/>
              </a:lnSpc>
            </a:pPr>
            <a:endParaRPr lang="en-US" sz="1870">
              <a:solidFill>
                <a:srgbClr val="FFFFFF"/>
              </a:solidFill>
              <a:latin typeface="IBM Plex Mono"/>
              <a:ea typeface="IBM Plex Mono"/>
              <a:cs typeface="IBM Plex Mono"/>
              <a:sym typeface="IBM Plex Mono"/>
            </a:endParaRPr>
          </a:p>
        </p:txBody>
      </p:sp>
      <p:sp>
        <p:nvSpPr>
          <p:cNvPr id="16" name="TextBox 16"/>
          <p:cNvSpPr txBox="1"/>
          <p:nvPr/>
        </p:nvSpPr>
        <p:spPr>
          <a:xfrm>
            <a:off x="3610332" y="573654"/>
            <a:ext cx="11067336" cy="1024391"/>
          </a:xfrm>
          <a:prstGeom prst="rect">
            <a:avLst/>
          </a:prstGeom>
        </p:spPr>
        <p:txBody>
          <a:bodyPr lIns="0" tIns="0" rIns="0" bIns="0" rtlCol="0" anchor="t">
            <a:spAutoFit/>
          </a:bodyPr>
          <a:lstStyle/>
          <a:p>
            <a:pPr algn="l">
              <a:lnSpc>
                <a:spcPts val="7848"/>
              </a:lnSpc>
            </a:pPr>
            <a:r>
              <a:rPr lang="en-US" sz="7546" b="1">
                <a:solidFill>
                  <a:srgbClr val="071330"/>
                </a:solidFill>
                <a:latin typeface="IBM Plex Mono Bold"/>
                <a:ea typeface="IBM Plex Mono Bold"/>
                <a:cs typeface="IBM Plex Mono Bold"/>
                <a:sym typeface="IBM Plex Mono Bold"/>
              </a:rPr>
              <a:t>Data Visualization </a:t>
            </a: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6AC66B"/>
        </a:solidFill>
        <a:effectLst/>
      </p:bgPr>
    </p:bg>
    <p:spTree>
      <p:nvGrpSpPr>
        <p:cNvPr id="1" name=""/>
        <p:cNvGrpSpPr/>
        <p:nvPr/>
      </p:nvGrpSpPr>
      <p:grpSpPr>
        <a:xfrm>
          <a:off x="0" y="0"/>
          <a:ext cx="0" cy="0"/>
          <a:chOff x="0" y="0"/>
          <a:chExt cx="0" cy="0"/>
        </a:xfrm>
      </p:grpSpPr>
      <p:grpSp>
        <p:nvGrpSpPr>
          <p:cNvPr id="2" name="Group 2"/>
          <p:cNvGrpSpPr/>
          <p:nvPr/>
        </p:nvGrpSpPr>
        <p:grpSpPr>
          <a:xfrm>
            <a:off x="-121719" y="-201041"/>
            <a:ext cx="19208624" cy="10689082"/>
            <a:chOff x="0" y="0"/>
            <a:chExt cx="25611499" cy="14252110"/>
          </a:xfrm>
        </p:grpSpPr>
        <p:sp>
          <p:nvSpPr>
            <p:cNvPr id="3" name="Freeform 3"/>
            <p:cNvSpPr/>
            <p:nvPr/>
          </p:nvSpPr>
          <p:spPr>
            <a:xfrm>
              <a:off x="0"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1359389"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grpSp>
      <p:grpSp>
        <p:nvGrpSpPr>
          <p:cNvPr id="5" name="Group 5"/>
          <p:cNvGrpSpPr/>
          <p:nvPr/>
        </p:nvGrpSpPr>
        <p:grpSpPr>
          <a:xfrm>
            <a:off x="10553338" y="6286328"/>
            <a:ext cx="7483295" cy="3763079"/>
            <a:chOff x="0" y="0"/>
            <a:chExt cx="4138350" cy="2081026"/>
          </a:xfrm>
        </p:grpSpPr>
        <p:sp>
          <p:nvSpPr>
            <p:cNvPr id="6" name="Freeform 6"/>
            <p:cNvSpPr/>
            <p:nvPr/>
          </p:nvSpPr>
          <p:spPr>
            <a:xfrm>
              <a:off x="0" y="0"/>
              <a:ext cx="4138350" cy="2081026"/>
            </a:xfrm>
            <a:custGeom>
              <a:avLst/>
              <a:gdLst/>
              <a:ahLst/>
              <a:cxnLst/>
              <a:rect l="l" t="t" r="r" b="b"/>
              <a:pathLst>
                <a:path w="4138350" h="2081026">
                  <a:moveTo>
                    <a:pt x="32071" y="0"/>
                  </a:moveTo>
                  <a:lnTo>
                    <a:pt x="4106278" y="0"/>
                  </a:lnTo>
                  <a:cubicBezTo>
                    <a:pt x="4114784" y="0"/>
                    <a:pt x="4122942" y="3379"/>
                    <a:pt x="4128956" y="9393"/>
                  </a:cubicBezTo>
                  <a:cubicBezTo>
                    <a:pt x="4134971" y="15408"/>
                    <a:pt x="4138350" y="23566"/>
                    <a:pt x="4138350" y="32071"/>
                  </a:cubicBezTo>
                  <a:lnTo>
                    <a:pt x="4138350" y="2048955"/>
                  </a:lnTo>
                  <a:cubicBezTo>
                    <a:pt x="4138350" y="2057461"/>
                    <a:pt x="4134971" y="2065618"/>
                    <a:pt x="4128956" y="2071633"/>
                  </a:cubicBezTo>
                  <a:cubicBezTo>
                    <a:pt x="4122942" y="2077648"/>
                    <a:pt x="4114784" y="2081026"/>
                    <a:pt x="4106278" y="2081026"/>
                  </a:cubicBezTo>
                  <a:lnTo>
                    <a:pt x="32071" y="2081026"/>
                  </a:lnTo>
                  <a:cubicBezTo>
                    <a:pt x="23566" y="2081026"/>
                    <a:pt x="15408" y="2077648"/>
                    <a:pt x="9393" y="2071633"/>
                  </a:cubicBezTo>
                  <a:cubicBezTo>
                    <a:pt x="3379" y="2065618"/>
                    <a:pt x="0" y="2057461"/>
                    <a:pt x="0" y="2048955"/>
                  </a:cubicBezTo>
                  <a:lnTo>
                    <a:pt x="0" y="32071"/>
                  </a:lnTo>
                  <a:cubicBezTo>
                    <a:pt x="0" y="23566"/>
                    <a:pt x="3379" y="15408"/>
                    <a:pt x="9393" y="9393"/>
                  </a:cubicBezTo>
                  <a:cubicBezTo>
                    <a:pt x="15408" y="3379"/>
                    <a:pt x="23566" y="0"/>
                    <a:pt x="32071" y="0"/>
                  </a:cubicBezTo>
                  <a:close/>
                </a:path>
              </a:pathLst>
            </a:custGeom>
            <a:solidFill>
              <a:srgbClr val="071330"/>
            </a:solidFill>
          </p:spPr>
        </p:sp>
        <p:sp>
          <p:nvSpPr>
            <p:cNvPr id="7" name="TextBox 7"/>
            <p:cNvSpPr txBox="1"/>
            <p:nvPr/>
          </p:nvSpPr>
          <p:spPr>
            <a:xfrm>
              <a:off x="0" y="-38100"/>
              <a:ext cx="4138350" cy="2119126"/>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0990916" y="6530023"/>
            <a:ext cx="178109" cy="165515"/>
            <a:chOff x="0" y="0"/>
            <a:chExt cx="6833198" cy="6350000"/>
          </a:xfrm>
        </p:grpSpPr>
        <p:sp>
          <p:nvSpPr>
            <p:cNvPr id="9" name="Freeform 9"/>
            <p:cNvSpPr/>
            <p:nvPr/>
          </p:nvSpPr>
          <p:spPr>
            <a:xfrm>
              <a:off x="0" y="0"/>
              <a:ext cx="6833198" cy="6350000"/>
            </a:xfrm>
            <a:custGeom>
              <a:avLst/>
              <a:gdLst/>
              <a:ahLst/>
              <a:cxnLst/>
              <a:rect l="l" t="t" r="r" b="b"/>
              <a:pathLst>
                <a:path w="6833198" h="6350000">
                  <a:moveTo>
                    <a:pt x="3416599" y="0"/>
                  </a:moveTo>
                  <a:cubicBezTo>
                    <a:pt x="1529663" y="0"/>
                    <a:pt x="0" y="1421496"/>
                    <a:pt x="0" y="3175000"/>
                  </a:cubicBezTo>
                  <a:cubicBezTo>
                    <a:pt x="0" y="4928504"/>
                    <a:pt x="1529663" y="6350000"/>
                    <a:pt x="3416599" y="6350000"/>
                  </a:cubicBezTo>
                  <a:cubicBezTo>
                    <a:pt x="5303534" y="6350000"/>
                    <a:pt x="6833198" y="4928504"/>
                    <a:pt x="6833198" y="3175000"/>
                  </a:cubicBezTo>
                  <a:cubicBezTo>
                    <a:pt x="6833198" y="1421496"/>
                    <a:pt x="5303534" y="0"/>
                    <a:pt x="3416599" y="0"/>
                  </a:cubicBezTo>
                  <a:close/>
                </a:path>
              </a:pathLst>
            </a:custGeom>
            <a:solidFill>
              <a:srgbClr val="DE0F3F"/>
            </a:solidFill>
          </p:spPr>
        </p:sp>
      </p:grpSp>
      <p:grpSp>
        <p:nvGrpSpPr>
          <p:cNvPr id="10" name="Group 10"/>
          <p:cNvGrpSpPr/>
          <p:nvPr/>
        </p:nvGrpSpPr>
        <p:grpSpPr>
          <a:xfrm>
            <a:off x="11223675" y="6530023"/>
            <a:ext cx="178109" cy="165515"/>
            <a:chOff x="0" y="0"/>
            <a:chExt cx="6833198" cy="6350000"/>
          </a:xfrm>
        </p:grpSpPr>
        <p:sp>
          <p:nvSpPr>
            <p:cNvPr id="11" name="Freeform 11"/>
            <p:cNvSpPr/>
            <p:nvPr/>
          </p:nvSpPr>
          <p:spPr>
            <a:xfrm>
              <a:off x="0" y="0"/>
              <a:ext cx="6833198" cy="6350000"/>
            </a:xfrm>
            <a:custGeom>
              <a:avLst/>
              <a:gdLst/>
              <a:ahLst/>
              <a:cxnLst/>
              <a:rect l="l" t="t" r="r" b="b"/>
              <a:pathLst>
                <a:path w="6833198" h="6350000">
                  <a:moveTo>
                    <a:pt x="3416599" y="0"/>
                  </a:moveTo>
                  <a:cubicBezTo>
                    <a:pt x="1529663" y="0"/>
                    <a:pt x="0" y="1421496"/>
                    <a:pt x="0" y="3175000"/>
                  </a:cubicBezTo>
                  <a:cubicBezTo>
                    <a:pt x="0" y="4928504"/>
                    <a:pt x="1529663" y="6350000"/>
                    <a:pt x="3416599" y="6350000"/>
                  </a:cubicBezTo>
                  <a:cubicBezTo>
                    <a:pt x="5303534" y="6350000"/>
                    <a:pt x="6833198" y="4928504"/>
                    <a:pt x="6833198" y="3175000"/>
                  </a:cubicBezTo>
                  <a:cubicBezTo>
                    <a:pt x="6833198" y="1421496"/>
                    <a:pt x="5303534" y="0"/>
                    <a:pt x="3416599" y="0"/>
                  </a:cubicBezTo>
                  <a:close/>
                </a:path>
              </a:pathLst>
            </a:custGeom>
            <a:solidFill>
              <a:srgbClr val="FFCF60"/>
            </a:solidFill>
          </p:spPr>
        </p:sp>
      </p:grpSp>
      <p:grpSp>
        <p:nvGrpSpPr>
          <p:cNvPr id="12" name="Group 12"/>
          <p:cNvGrpSpPr/>
          <p:nvPr/>
        </p:nvGrpSpPr>
        <p:grpSpPr>
          <a:xfrm>
            <a:off x="11455481" y="6530023"/>
            <a:ext cx="178109" cy="165515"/>
            <a:chOff x="0" y="0"/>
            <a:chExt cx="6833198" cy="6350000"/>
          </a:xfrm>
        </p:grpSpPr>
        <p:sp>
          <p:nvSpPr>
            <p:cNvPr id="13" name="Freeform 13"/>
            <p:cNvSpPr/>
            <p:nvPr/>
          </p:nvSpPr>
          <p:spPr>
            <a:xfrm>
              <a:off x="0" y="0"/>
              <a:ext cx="6833198" cy="6350000"/>
            </a:xfrm>
            <a:custGeom>
              <a:avLst/>
              <a:gdLst/>
              <a:ahLst/>
              <a:cxnLst/>
              <a:rect l="l" t="t" r="r" b="b"/>
              <a:pathLst>
                <a:path w="6833198" h="6350000">
                  <a:moveTo>
                    <a:pt x="3416599" y="0"/>
                  </a:moveTo>
                  <a:cubicBezTo>
                    <a:pt x="1529663" y="0"/>
                    <a:pt x="0" y="1421496"/>
                    <a:pt x="0" y="3175000"/>
                  </a:cubicBezTo>
                  <a:cubicBezTo>
                    <a:pt x="0" y="4928504"/>
                    <a:pt x="1529663" y="6350000"/>
                    <a:pt x="3416599" y="6350000"/>
                  </a:cubicBezTo>
                  <a:cubicBezTo>
                    <a:pt x="5303534" y="6350000"/>
                    <a:pt x="6833198" y="4928504"/>
                    <a:pt x="6833198" y="3175000"/>
                  </a:cubicBezTo>
                  <a:cubicBezTo>
                    <a:pt x="6833198" y="1421496"/>
                    <a:pt x="5303534" y="0"/>
                    <a:pt x="3416599" y="0"/>
                  </a:cubicBezTo>
                  <a:close/>
                </a:path>
              </a:pathLst>
            </a:custGeom>
            <a:solidFill>
              <a:srgbClr val="6AC66B"/>
            </a:solidFill>
          </p:spPr>
        </p:sp>
      </p:grpSp>
      <p:sp>
        <p:nvSpPr>
          <p:cNvPr id="14" name="Freeform 14"/>
          <p:cNvSpPr/>
          <p:nvPr/>
        </p:nvSpPr>
        <p:spPr>
          <a:xfrm>
            <a:off x="422372" y="1851845"/>
            <a:ext cx="10073816" cy="5943551"/>
          </a:xfrm>
          <a:custGeom>
            <a:avLst/>
            <a:gdLst/>
            <a:ahLst/>
            <a:cxnLst/>
            <a:rect l="l" t="t" r="r" b="b"/>
            <a:pathLst>
              <a:path w="10073816" h="5943551">
                <a:moveTo>
                  <a:pt x="0" y="0"/>
                </a:moveTo>
                <a:lnTo>
                  <a:pt x="10073816" y="0"/>
                </a:lnTo>
                <a:lnTo>
                  <a:pt x="10073816" y="5943551"/>
                </a:lnTo>
                <a:lnTo>
                  <a:pt x="0" y="5943551"/>
                </a:lnTo>
                <a:lnTo>
                  <a:pt x="0" y="0"/>
                </a:lnTo>
                <a:close/>
              </a:path>
            </a:pathLst>
          </a:custGeom>
          <a:blipFill>
            <a:blip r:embed="rId4"/>
            <a:stretch>
              <a:fillRect/>
            </a:stretch>
          </a:blipFill>
        </p:spPr>
      </p:sp>
      <p:sp>
        <p:nvSpPr>
          <p:cNvPr id="15" name="TextBox 15"/>
          <p:cNvSpPr txBox="1"/>
          <p:nvPr/>
        </p:nvSpPr>
        <p:spPr>
          <a:xfrm>
            <a:off x="11058173" y="7075537"/>
            <a:ext cx="6473625" cy="2175136"/>
          </a:xfrm>
          <a:prstGeom prst="rect">
            <a:avLst/>
          </a:prstGeom>
        </p:spPr>
        <p:txBody>
          <a:bodyPr lIns="0" tIns="0" rIns="0" bIns="0" rtlCol="0" anchor="t">
            <a:spAutoFit/>
          </a:bodyPr>
          <a:lstStyle/>
          <a:p>
            <a:pPr algn="l">
              <a:lnSpc>
                <a:spcPts val="2157"/>
              </a:lnSpc>
            </a:pPr>
            <a:r>
              <a:rPr lang="en-US" sz="1740">
                <a:solidFill>
                  <a:srgbClr val="FFFFFF"/>
                </a:solidFill>
                <a:latin typeface="IBM Plex Mono"/>
                <a:ea typeface="IBM Plex Mono"/>
                <a:cs typeface="IBM Plex Mono"/>
                <a:sym typeface="IBM Plex Mono"/>
              </a:rPr>
              <a:t>This bar graph displays the average streams by day of the week. The x-axis shows the different days of the week, while the y-axis represents the average stream volume. The graph highlights the variation in average stream volumes across the different days, with Friday and Saturday having the highest averages suggesting a huge influx of listener over the weekend.</a:t>
            </a:r>
          </a:p>
        </p:txBody>
      </p:sp>
      <p:sp>
        <p:nvSpPr>
          <p:cNvPr id="16" name="TextBox 16"/>
          <p:cNvSpPr txBox="1"/>
          <p:nvPr/>
        </p:nvSpPr>
        <p:spPr>
          <a:xfrm>
            <a:off x="3610332" y="573654"/>
            <a:ext cx="11067336" cy="1024391"/>
          </a:xfrm>
          <a:prstGeom prst="rect">
            <a:avLst/>
          </a:prstGeom>
        </p:spPr>
        <p:txBody>
          <a:bodyPr lIns="0" tIns="0" rIns="0" bIns="0" rtlCol="0" anchor="t">
            <a:spAutoFit/>
          </a:bodyPr>
          <a:lstStyle/>
          <a:p>
            <a:pPr algn="l">
              <a:lnSpc>
                <a:spcPts val="7848"/>
              </a:lnSpc>
            </a:pPr>
            <a:r>
              <a:rPr lang="en-US" sz="7546" b="1">
                <a:solidFill>
                  <a:srgbClr val="071330"/>
                </a:solidFill>
                <a:latin typeface="IBM Plex Mono Bold"/>
                <a:ea typeface="IBM Plex Mono Bold"/>
                <a:cs typeface="IBM Plex Mono Bold"/>
                <a:sym typeface="IBM Plex Mono Bold"/>
              </a:rPr>
              <a:t>Data Visualization </a:t>
            </a: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CF60"/>
        </a:solidFill>
        <a:effectLst/>
      </p:bgPr>
    </p:bg>
    <p:spTree>
      <p:nvGrpSpPr>
        <p:cNvPr id="1" name=""/>
        <p:cNvGrpSpPr/>
        <p:nvPr/>
      </p:nvGrpSpPr>
      <p:grpSpPr>
        <a:xfrm>
          <a:off x="0" y="0"/>
          <a:ext cx="0" cy="0"/>
          <a:chOff x="0" y="0"/>
          <a:chExt cx="0" cy="0"/>
        </a:xfrm>
      </p:grpSpPr>
      <p:grpSp>
        <p:nvGrpSpPr>
          <p:cNvPr id="2" name="Group 2"/>
          <p:cNvGrpSpPr/>
          <p:nvPr/>
        </p:nvGrpSpPr>
        <p:grpSpPr>
          <a:xfrm>
            <a:off x="-460312" y="-201041"/>
            <a:ext cx="19208624" cy="10689082"/>
            <a:chOff x="0" y="0"/>
            <a:chExt cx="25611499" cy="14252110"/>
          </a:xfrm>
        </p:grpSpPr>
        <p:sp>
          <p:nvSpPr>
            <p:cNvPr id="3" name="Freeform 3"/>
            <p:cNvSpPr/>
            <p:nvPr/>
          </p:nvSpPr>
          <p:spPr>
            <a:xfrm>
              <a:off x="0"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1359389"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grpSp>
      <p:grpSp>
        <p:nvGrpSpPr>
          <p:cNvPr id="5" name="Group 5"/>
          <p:cNvGrpSpPr/>
          <p:nvPr/>
        </p:nvGrpSpPr>
        <p:grpSpPr>
          <a:xfrm>
            <a:off x="11745626" y="6885887"/>
            <a:ext cx="6291007" cy="3163520"/>
            <a:chOff x="0" y="0"/>
            <a:chExt cx="4138350" cy="2081026"/>
          </a:xfrm>
        </p:grpSpPr>
        <p:sp>
          <p:nvSpPr>
            <p:cNvPr id="6" name="Freeform 6"/>
            <p:cNvSpPr/>
            <p:nvPr/>
          </p:nvSpPr>
          <p:spPr>
            <a:xfrm>
              <a:off x="0" y="0"/>
              <a:ext cx="4138350" cy="2081026"/>
            </a:xfrm>
            <a:custGeom>
              <a:avLst/>
              <a:gdLst/>
              <a:ahLst/>
              <a:cxnLst/>
              <a:rect l="l" t="t" r="r" b="b"/>
              <a:pathLst>
                <a:path w="4138350" h="2081026">
                  <a:moveTo>
                    <a:pt x="38150" y="0"/>
                  </a:moveTo>
                  <a:lnTo>
                    <a:pt x="4100200" y="0"/>
                  </a:lnTo>
                  <a:cubicBezTo>
                    <a:pt x="4121270" y="0"/>
                    <a:pt x="4138350" y="17080"/>
                    <a:pt x="4138350" y="38150"/>
                  </a:cubicBezTo>
                  <a:lnTo>
                    <a:pt x="4138350" y="2042877"/>
                  </a:lnTo>
                  <a:cubicBezTo>
                    <a:pt x="4138350" y="2063946"/>
                    <a:pt x="4121270" y="2081026"/>
                    <a:pt x="4100200" y="2081026"/>
                  </a:cubicBezTo>
                  <a:lnTo>
                    <a:pt x="38150" y="2081026"/>
                  </a:lnTo>
                  <a:cubicBezTo>
                    <a:pt x="28032" y="2081026"/>
                    <a:pt x="18328" y="2077007"/>
                    <a:pt x="11174" y="2069853"/>
                  </a:cubicBezTo>
                  <a:cubicBezTo>
                    <a:pt x="4019" y="2062698"/>
                    <a:pt x="0" y="2052995"/>
                    <a:pt x="0" y="2042877"/>
                  </a:cubicBezTo>
                  <a:lnTo>
                    <a:pt x="0" y="38150"/>
                  </a:lnTo>
                  <a:cubicBezTo>
                    <a:pt x="0" y="17080"/>
                    <a:pt x="17080" y="0"/>
                    <a:pt x="38150" y="0"/>
                  </a:cubicBezTo>
                  <a:close/>
                </a:path>
              </a:pathLst>
            </a:custGeom>
            <a:solidFill>
              <a:srgbClr val="071330"/>
            </a:solidFill>
          </p:spPr>
        </p:sp>
        <p:sp>
          <p:nvSpPr>
            <p:cNvPr id="7" name="TextBox 7"/>
            <p:cNvSpPr txBox="1"/>
            <p:nvPr/>
          </p:nvSpPr>
          <p:spPr>
            <a:xfrm>
              <a:off x="0" y="-38100"/>
              <a:ext cx="4138350" cy="2119126"/>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2113487" y="7090754"/>
            <a:ext cx="149732" cy="139144"/>
            <a:chOff x="0" y="0"/>
            <a:chExt cx="6833198" cy="6350000"/>
          </a:xfrm>
        </p:grpSpPr>
        <p:sp>
          <p:nvSpPr>
            <p:cNvPr id="9" name="Freeform 9"/>
            <p:cNvSpPr/>
            <p:nvPr/>
          </p:nvSpPr>
          <p:spPr>
            <a:xfrm>
              <a:off x="0" y="0"/>
              <a:ext cx="6833198" cy="6350000"/>
            </a:xfrm>
            <a:custGeom>
              <a:avLst/>
              <a:gdLst/>
              <a:ahLst/>
              <a:cxnLst/>
              <a:rect l="l" t="t" r="r" b="b"/>
              <a:pathLst>
                <a:path w="6833198" h="6350000">
                  <a:moveTo>
                    <a:pt x="3416599" y="0"/>
                  </a:moveTo>
                  <a:cubicBezTo>
                    <a:pt x="1529663" y="0"/>
                    <a:pt x="0" y="1421496"/>
                    <a:pt x="0" y="3175000"/>
                  </a:cubicBezTo>
                  <a:cubicBezTo>
                    <a:pt x="0" y="4928504"/>
                    <a:pt x="1529663" y="6350000"/>
                    <a:pt x="3416599" y="6350000"/>
                  </a:cubicBezTo>
                  <a:cubicBezTo>
                    <a:pt x="5303534" y="6350000"/>
                    <a:pt x="6833198" y="4928504"/>
                    <a:pt x="6833198" y="3175000"/>
                  </a:cubicBezTo>
                  <a:cubicBezTo>
                    <a:pt x="6833198" y="1421496"/>
                    <a:pt x="5303534" y="0"/>
                    <a:pt x="3416599" y="0"/>
                  </a:cubicBezTo>
                  <a:close/>
                </a:path>
              </a:pathLst>
            </a:custGeom>
            <a:solidFill>
              <a:srgbClr val="DE0F3F"/>
            </a:solidFill>
          </p:spPr>
        </p:sp>
      </p:grpSp>
      <p:grpSp>
        <p:nvGrpSpPr>
          <p:cNvPr id="10" name="Group 10"/>
          <p:cNvGrpSpPr/>
          <p:nvPr/>
        </p:nvGrpSpPr>
        <p:grpSpPr>
          <a:xfrm>
            <a:off x="12309161" y="7090754"/>
            <a:ext cx="149732" cy="139144"/>
            <a:chOff x="0" y="0"/>
            <a:chExt cx="6833198" cy="6350000"/>
          </a:xfrm>
        </p:grpSpPr>
        <p:sp>
          <p:nvSpPr>
            <p:cNvPr id="11" name="Freeform 11"/>
            <p:cNvSpPr/>
            <p:nvPr/>
          </p:nvSpPr>
          <p:spPr>
            <a:xfrm>
              <a:off x="0" y="0"/>
              <a:ext cx="6833198" cy="6350000"/>
            </a:xfrm>
            <a:custGeom>
              <a:avLst/>
              <a:gdLst/>
              <a:ahLst/>
              <a:cxnLst/>
              <a:rect l="l" t="t" r="r" b="b"/>
              <a:pathLst>
                <a:path w="6833198" h="6350000">
                  <a:moveTo>
                    <a:pt x="3416599" y="0"/>
                  </a:moveTo>
                  <a:cubicBezTo>
                    <a:pt x="1529663" y="0"/>
                    <a:pt x="0" y="1421496"/>
                    <a:pt x="0" y="3175000"/>
                  </a:cubicBezTo>
                  <a:cubicBezTo>
                    <a:pt x="0" y="4928504"/>
                    <a:pt x="1529663" y="6350000"/>
                    <a:pt x="3416599" y="6350000"/>
                  </a:cubicBezTo>
                  <a:cubicBezTo>
                    <a:pt x="5303534" y="6350000"/>
                    <a:pt x="6833198" y="4928504"/>
                    <a:pt x="6833198" y="3175000"/>
                  </a:cubicBezTo>
                  <a:cubicBezTo>
                    <a:pt x="6833198" y="1421496"/>
                    <a:pt x="5303534" y="0"/>
                    <a:pt x="3416599" y="0"/>
                  </a:cubicBezTo>
                  <a:close/>
                </a:path>
              </a:pathLst>
            </a:custGeom>
            <a:solidFill>
              <a:srgbClr val="FFCF60"/>
            </a:solidFill>
          </p:spPr>
        </p:sp>
      </p:grpSp>
      <p:grpSp>
        <p:nvGrpSpPr>
          <p:cNvPr id="12" name="Group 12"/>
          <p:cNvGrpSpPr/>
          <p:nvPr/>
        </p:nvGrpSpPr>
        <p:grpSpPr>
          <a:xfrm>
            <a:off x="12504034" y="7090754"/>
            <a:ext cx="149732" cy="139144"/>
            <a:chOff x="0" y="0"/>
            <a:chExt cx="6833198" cy="6350000"/>
          </a:xfrm>
        </p:grpSpPr>
        <p:sp>
          <p:nvSpPr>
            <p:cNvPr id="13" name="Freeform 13"/>
            <p:cNvSpPr/>
            <p:nvPr/>
          </p:nvSpPr>
          <p:spPr>
            <a:xfrm>
              <a:off x="0" y="0"/>
              <a:ext cx="6833198" cy="6350000"/>
            </a:xfrm>
            <a:custGeom>
              <a:avLst/>
              <a:gdLst/>
              <a:ahLst/>
              <a:cxnLst/>
              <a:rect l="l" t="t" r="r" b="b"/>
              <a:pathLst>
                <a:path w="6833198" h="6350000">
                  <a:moveTo>
                    <a:pt x="3416599" y="0"/>
                  </a:moveTo>
                  <a:cubicBezTo>
                    <a:pt x="1529663" y="0"/>
                    <a:pt x="0" y="1421496"/>
                    <a:pt x="0" y="3175000"/>
                  </a:cubicBezTo>
                  <a:cubicBezTo>
                    <a:pt x="0" y="4928504"/>
                    <a:pt x="1529663" y="6350000"/>
                    <a:pt x="3416599" y="6350000"/>
                  </a:cubicBezTo>
                  <a:cubicBezTo>
                    <a:pt x="5303534" y="6350000"/>
                    <a:pt x="6833198" y="4928504"/>
                    <a:pt x="6833198" y="3175000"/>
                  </a:cubicBezTo>
                  <a:cubicBezTo>
                    <a:pt x="6833198" y="1421496"/>
                    <a:pt x="5303534" y="0"/>
                    <a:pt x="3416599" y="0"/>
                  </a:cubicBezTo>
                  <a:close/>
                </a:path>
              </a:pathLst>
            </a:custGeom>
            <a:solidFill>
              <a:srgbClr val="6AC66B"/>
            </a:solidFill>
          </p:spPr>
        </p:sp>
      </p:grpSp>
      <p:sp>
        <p:nvSpPr>
          <p:cNvPr id="14" name="Freeform 14"/>
          <p:cNvSpPr/>
          <p:nvPr/>
        </p:nvSpPr>
        <p:spPr>
          <a:xfrm>
            <a:off x="444368" y="1812345"/>
            <a:ext cx="11301259" cy="6088553"/>
          </a:xfrm>
          <a:custGeom>
            <a:avLst/>
            <a:gdLst/>
            <a:ahLst/>
            <a:cxnLst/>
            <a:rect l="l" t="t" r="r" b="b"/>
            <a:pathLst>
              <a:path w="11301259" h="6088553">
                <a:moveTo>
                  <a:pt x="0" y="0"/>
                </a:moveTo>
                <a:lnTo>
                  <a:pt x="11301258" y="0"/>
                </a:lnTo>
                <a:lnTo>
                  <a:pt x="11301258" y="6088553"/>
                </a:lnTo>
                <a:lnTo>
                  <a:pt x="0" y="6088553"/>
                </a:lnTo>
                <a:lnTo>
                  <a:pt x="0" y="0"/>
                </a:lnTo>
                <a:close/>
              </a:path>
            </a:pathLst>
          </a:custGeom>
          <a:blipFill>
            <a:blip r:embed="rId4"/>
            <a:stretch>
              <a:fillRect/>
            </a:stretch>
          </a:blipFill>
        </p:spPr>
      </p:sp>
      <p:sp>
        <p:nvSpPr>
          <p:cNvPr id="15" name="TextBox 15"/>
          <p:cNvSpPr txBox="1"/>
          <p:nvPr/>
        </p:nvSpPr>
        <p:spPr>
          <a:xfrm>
            <a:off x="12266171" y="7346120"/>
            <a:ext cx="5249918" cy="2467771"/>
          </a:xfrm>
          <a:prstGeom prst="rect">
            <a:avLst/>
          </a:prstGeom>
        </p:spPr>
        <p:txBody>
          <a:bodyPr lIns="0" tIns="0" rIns="0" bIns="0" rtlCol="0" anchor="t">
            <a:spAutoFit/>
          </a:bodyPr>
          <a:lstStyle/>
          <a:p>
            <a:pPr algn="l">
              <a:lnSpc>
                <a:spcPts val="2225"/>
              </a:lnSpc>
            </a:pPr>
            <a:r>
              <a:rPr lang="en-US" sz="1794">
                <a:solidFill>
                  <a:srgbClr val="FFFFFF"/>
                </a:solidFill>
                <a:latin typeface="IBM Plex Mono"/>
                <a:ea typeface="IBM Plex Mono"/>
                <a:cs typeface="IBM Plex Mono"/>
                <a:sym typeface="IBM Plex Mono"/>
              </a:rPr>
              <a:t>This line graph depicts the trend of total streams for the song "Blinding Lights" over time. The x-axis shows the date, while the y-axis represents the total streams. The graph illustrates the fluctuations and overall downward trend in the total streams for this particular song over the given time period.</a:t>
            </a:r>
          </a:p>
        </p:txBody>
      </p:sp>
      <p:sp>
        <p:nvSpPr>
          <p:cNvPr id="16" name="TextBox 16"/>
          <p:cNvSpPr txBox="1"/>
          <p:nvPr/>
        </p:nvSpPr>
        <p:spPr>
          <a:xfrm>
            <a:off x="3610332" y="573654"/>
            <a:ext cx="11067336" cy="1024391"/>
          </a:xfrm>
          <a:prstGeom prst="rect">
            <a:avLst/>
          </a:prstGeom>
        </p:spPr>
        <p:txBody>
          <a:bodyPr lIns="0" tIns="0" rIns="0" bIns="0" rtlCol="0" anchor="t">
            <a:spAutoFit/>
          </a:bodyPr>
          <a:lstStyle/>
          <a:p>
            <a:pPr algn="l">
              <a:lnSpc>
                <a:spcPts val="7848"/>
              </a:lnSpc>
            </a:pPr>
            <a:r>
              <a:rPr lang="en-US" sz="7546" b="1">
                <a:solidFill>
                  <a:srgbClr val="071330"/>
                </a:solidFill>
                <a:latin typeface="IBM Plex Mono Bold"/>
                <a:ea typeface="IBM Plex Mono Bold"/>
                <a:cs typeface="IBM Plex Mono Bold"/>
                <a:sym typeface="IBM Plex Mono Bold"/>
              </a:rPr>
              <a:t>Data Visualization </a:t>
            </a: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6AC66B"/>
        </a:solidFill>
        <a:effectLst/>
      </p:bgPr>
    </p:bg>
    <p:spTree>
      <p:nvGrpSpPr>
        <p:cNvPr id="1" name=""/>
        <p:cNvGrpSpPr/>
        <p:nvPr/>
      </p:nvGrpSpPr>
      <p:grpSpPr>
        <a:xfrm>
          <a:off x="0" y="0"/>
          <a:ext cx="0" cy="0"/>
          <a:chOff x="0" y="0"/>
          <a:chExt cx="0" cy="0"/>
        </a:xfrm>
      </p:grpSpPr>
      <p:grpSp>
        <p:nvGrpSpPr>
          <p:cNvPr id="2" name="Group 2"/>
          <p:cNvGrpSpPr/>
          <p:nvPr/>
        </p:nvGrpSpPr>
        <p:grpSpPr>
          <a:xfrm>
            <a:off x="-121719" y="-201041"/>
            <a:ext cx="19208624" cy="10689082"/>
            <a:chOff x="0" y="0"/>
            <a:chExt cx="25611499" cy="14252110"/>
          </a:xfrm>
        </p:grpSpPr>
        <p:sp>
          <p:nvSpPr>
            <p:cNvPr id="3" name="Freeform 3"/>
            <p:cNvSpPr/>
            <p:nvPr/>
          </p:nvSpPr>
          <p:spPr>
            <a:xfrm>
              <a:off x="0"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1359389"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grpSp>
      <p:grpSp>
        <p:nvGrpSpPr>
          <p:cNvPr id="5" name="Group 5"/>
          <p:cNvGrpSpPr/>
          <p:nvPr/>
        </p:nvGrpSpPr>
        <p:grpSpPr>
          <a:xfrm>
            <a:off x="10553338" y="6286328"/>
            <a:ext cx="7483295" cy="3763079"/>
            <a:chOff x="0" y="0"/>
            <a:chExt cx="4138350" cy="2081026"/>
          </a:xfrm>
        </p:grpSpPr>
        <p:sp>
          <p:nvSpPr>
            <p:cNvPr id="6" name="Freeform 6"/>
            <p:cNvSpPr/>
            <p:nvPr/>
          </p:nvSpPr>
          <p:spPr>
            <a:xfrm>
              <a:off x="0" y="0"/>
              <a:ext cx="4138350" cy="2081026"/>
            </a:xfrm>
            <a:custGeom>
              <a:avLst/>
              <a:gdLst/>
              <a:ahLst/>
              <a:cxnLst/>
              <a:rect l="l" t="t" r="r" b="b"/>
              <a:pathLst>
                <a:path w="4138350" h="2081026">
                  <a:moveTo>
                    <a:pt x="32071" y="0"/>
                  </a:moveTo>
                  <a:lnTo>
                    <a:pt x="4106278" y="0"/>
                  </a:lnTo>
                  <a:cubicBezTo>
                    <a:pt x="4114784" y="0"/>
                    <a:pt x="4122942" y="3379"/>
                    <a:pt x="4128956" y="9393"/>
                  </a:cubicBezTo>
                  <a:cubicBezTo>
                    <a:pt x="4134971" y="15408"/>
                    <a:pt x="4138350" y="23566"/>
                    <a:pt x="4138350" y="32071"/>
                  </a:cubicBezTo>
                  <a:lnTo>
                    <a:pt x="4138350" y="2048955"/>
                  </a:lnTo>
                  <a:cubicBezTo>
                    <a:pt x="4138350" y="2057461"/>
                    <a:pt x="4134971" y="2065618"/>
                    <a:pt x="4128956" y="2071633"/>
                  </a:cubicBezTo>
                  <a:cubicBezTo>
                    <a:pt x="4122942" y="2077648"/>
                    <a:pt x="4114784" y="2081026"/>
                    <a:pt x="4106278" y="2081026"/>
                  </a:cubicBezTo>
                  <a:lnTo>
                    <a:pt x="32071" y="2081026"/>
                  </a:lnTo>
                  <a:cubicBezTo>
                    <a:pt x="23566" y="2081026"/>
                    <a:pt x="15408" y="2077648"/>
                    <a:pt x="9393" y="2071633"/>
                  </a:cubicBezTo>
                  <a:cubicBezTo>
                    <a:pt x="3379" y="2065618"/>
                    <a:pt x="0" y="2057461"/>
                    <a:pt x="0" y="2048955"/>
                  </a:cubicBezTo>
                  <a:lnTo>
                    <a:pt x="0" y="32071"/>
                  </a:lnTo>
                  <a:cubicBezTo>
                    <a:pt x="0" y="23566"/>
                    <a:pt x="3379" y="15408"/>
                    <a:pt x="9393" y="9393"/>
                  </a:cubicBezTo>
                  <a:cubicBezTo>
                    <a:pt x="15408" y="3379"/>
                    <a:pt x="23566" y="0"/>
                    <a:pt x="32071" y="0"/>
                  </a:cubicBezTo>
                  <a:close/>
                </a:path>
              </a:pathLst>
            </a:custGeom>
            <a:solidFill>
              <a:srgbClr val="071330"/>
            </a:solidFill>
          </p:spPr>
        </p:sp>
        <p:sp>
          <p:nvSpPr>
            <p:cNvPr id="7" name="TextBox 7"/>
            <p:cNvSpPr txBox="1"/>
            <p:nvPr/>
          </p:nvSpPr>
          <p:spPr>
            <a:xfrm>
              <a:off x="0" y="-38100"/>
              <a:ext cx="4138350" cy="2119126"/>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0990916" y="6530023"/>
            <a:ext cx="178109" cy="165515"/>
            <a:chOff x="0" y="0"/>
            <a:chExt cx="6833198" cy="6350000"/>
          </a:xfrm>
        </p:grpSpPr>
        <p:sp>
          <p:nvSpPr>
            <p:cNvPr id="9" name="Freeform 9"/>
            <p:cNvSpPr/>
            <p:nvPr/>
          </p:nvSpPr>
          <p:spPr>
            <a:xfrm>
              <a:off x="0" y="0"/>
              <a:ext cx="6833198" cy="6350000"/>
            </a:xfrm>
            <a:custGeom>
              <a:avLst/>
              <a:gdLst/>
              <a:ahLst/>
              <a:cxnLst/>
              <a:rect l="l" t="t" r="r" b="b"/>
              <a:pathLst>
                <a:path w="6833198" h="6350000">
                  <a:moveTo>
                    <a:pt x="3416599" y="0"/>
                  </a:moveTo>
                  <a:cubicBezTo>
                    <a:pt x="1529663" y="0"/>
                    <a:pt x="0" y="1421496"/>
                    <a:pt x="0" y="3175000"/>
                  </a:cubicBezTo>
                  <a:cubicBezTo>
                    <a:pt x="0" y="4928504"/>
                    <a:pt x="1529663" y="6350000"/>
                    <a:pt x="3416599" y="6350000"/>
                  </a:cubicBezTo>
                  <a:cubicBezTo>
                    <a:pt x="5303534" y="6350000"/>
                    <a:pt x="6833198" y="4928504"/>
                    <a:pt x="6833198" y="3175000"/>
                  </a:cubicBezTo>
                  <a:cubicBezTo>
                    <a:pt x="6833198" y="1421496"/>
                    <a:pt x="5303534" y="0"/>
                    <a:pt x="3416599" y="0"/>
                  </a:cubicBezTo>
                  <a:close/>
                </a:path>
              </a:pathLst>
            </a:custGeom>
            <a:solidFill>
              <a:srgbClr val="DE0F3F"/>
            </a:solidFill>
          </p:spPr>
        </p:sp>
      </p:grpSp>
      <p:grpSp>
        <p:nvGrpSpPr>
          <p:cNvPr id="10" name="Group 10"/>
          <p:cNvGrpSpPr/>
          <p:nvPr/>
        </p:nvGrpSpPr>
        <p:grpSpPr>
          <a:xfrm>
            <a:off x="11223675" y="6530023"/>
            <a:ext cx="178109" cy="165515"/>
            <a:chOff x="0" y="0"/>
            <a:chExt cx="6833198" cy="6350000"/>
          </a:xfrm>
        </p:grpSpPr>
        <p:sp>
          <p:nvSpPr>
            <p:cNvPr id="11" name="Freeform 11"/>
            <p:cNvSpPr/>
            <p:nvPr/>
          </p:nvSpPr>
          <p:spPr>
            <a:xfrm>
              <a:off x="0" y="0"/>
              <a:ext cx="6833198" cy="6350000"/>
            </a:xfrm>
            <a:custGeom>
              <a:avLst/>
              <a:gdLst/>
              <a:ahLst/>
              <a:cxnLst/>
              <a:rect l="l" t="t" r="r" b="b"/>
              <a:pathLst>
                <a:path w="6833198" h="6350000">
                  <a:moveTo>
                    <a:pt x="3416599" y="0"/>
                  </a:moveTo>
                  <a:cubicBezTo>
                    <a:pt x="1529663" y="0"/>
                    <a:pt x="0" y="1421496"/>
                    <a:pt x="0" y="3175000"/>
                  </a:cubicBezTo>
                  <a:cubicBezTo>
                    <a:pt x="0" y="4928504"/>
                    <a:pt x="1529663" y="6350000"/>
                    <a:pt x="3416599" y="6350000"/>
                  </a:cubicBezTo>
                  <a:cubicBezTo>
                    <a:pt x="5303534" y="6350000"/>
                    <a:pt x="6833198" y="4928504"/>
                    <a:pt x="6833198" y="3175000"/>
                  </a:cubicBezTo>
                  <a:cubicBezTo>
                    <a:pt x="6833198" y="1421496"/>
                    <a:pt x="5303534" y="0"/>
                    <a:pt x="3416599" y="0"/>
                  </a:cubicBezTo>
                  <a:close/>
                </a:path>
              </a:pathLst>
            </a:custGeom>
            <a:solidFill>
              <a:srgbClr val="FFCF60"/>
            </a:solidFill>
          </p:spPr>
        </p:sp>
      </p:grpSp>
      <p:grpSp>
        <p:nvGrpSpPr>
          <p:cNvPr id="12" name="Group 12"/>
          <p:cNvGrpSpPr/>
          <p:nvPr/>
        </p:nvGrpSpPr>
        <p:grpSpPr>
          <a:xfrm>
            <a:off x="11455481" y="6530023"/>
            <a:ext cx="178109" cy="165515"/>
            <a:chOff x="0" y="0"/>
            <a:chExt cx="6833198" cy="6350000"/>
          </a:xfrm>
        </p:grpSpPr>
        <p:sp>
          <p:nvSpPr>
            <p:cNvPr id="13" name="Freeform 13"/>
            <p:cNvSpPr/>
            <p:nvPr/>
          </p:nvSpPr>
          <p:spPr>
            <a:xfrm>
              <a:off x="0" y="0"/>
              <a:ext cx="6833198" cy="6350000"/>
            </a:xfrm>
            <a:custGeom>
              <a:avLst/>
              <a:gdLst/>
              <a:ahLst/>
              <a:cxnLst/>
              <a:rect l="l" t="t" r="r" b="b"/>
              <a:pathLst>
                <a:path w="6833198" h="6350000">
                  <a:moveTo>
                    <a:pt x="3416599" y="0"/>
                  </a:moveTo>
                  <a:cubicBezTo>
                    <a:pt x="1529663" y="0"/>
                    <a:pt x="0" y="1421496"/>
                    <a:pt x="0" y="3175000"/>
                  </a:cubicBezTo>
                  <a:cubicBezTo>
                    <a:pt x="0" y="4928504"/>
                    <a:pt x="1529663" y="6350000"/>
                    <a:pt x="3416599" y="6350000"/>
                  </a:cubicBezTo>
                  <a:cubicBezTo>
                    <a:pt x="5303534" y="6350000"/>
                    <a:pt x="6833198" y="4928504"/>
                    <a:pt x="6833198" y="3175000"/>
                  </a:cubicBezTo>
                  <a:cubicBezTo>
                    <a:pt x="6833198" y="1421496"/>
                    <a:pt x="5303534" y="0"/>
                    <a:pt x="3416599" y="0"/>
                  </a:cubicBezTo>
                  <a:close/>
                </a:path>
              </a:pathLst>
            </a:custGeom>
            <a:solidFill>
              <a:srgbClr val="6AC66B"/>
            </a:solidFill>
          </p:spPr>
        </p:sp>
      </p:grpSp>
      <p:sp>
        <p:nvSpPr>
          <p:cNvPr id="14" name="Freeform 14"/>
          <p:cNvSpPr/>
          <p:nvPr/>
        </p:nvSpPr>
        <p:spPr>
          <a:xfrm>
            <a:off x="332331" y="1738742"/>
            <a:ext cx="10221007" cy="5417134"/>
          </a:xfrm>
          <a:custGeom>
            <a:avLst/>
            <a:gdLst/>
            <a:ahLst/>
            <a:cxnLst/>
            <a:rect l="l" t="t" r="r" b="b"/>
            <a:pathLst>
              <a:path w="10221007" h="5417134">
                <a:moveTo>
                  <a:pt x="0" y="0"/>
                </a:moveTo>
                <a:lnTo>
                  <a:pt x="10221007" y="0"/>
                </a:lnTo>
                <a:lnTo>
                  <a:pt x="10221007" y="5417133"/>
                </a:lnTo>
                <a:lnTo>
                  <a:pt x="0" y="5417133"/>
                </a:lnTo>
                <a:lnTo>
                  <a:pt x="0" y="0"/>
                </a:lnTo>
                <a:close/>
              </a:path>
            </a:pathLst>
          </a:custGeom>
          <a:blipFill>
            <a:blip r:embed="rId4"/>
            <a:stretch>
              <a:fillRect/>
            </a:stretch>
          </a:blipFill>
        </p:spPr>
      </p:sp>
      <p:sp>
        <p:nvSpPr>
          <p:cNvPr id="15" name="TextBox 15"/>
          <p:cNvSpPr txBox="1"/>
          <p:nvPr/>
        </p:nvSpPr>
        <p:spPr>
          <a:xfrm>
            <a:off x="11079970" y="6920852"/>
            <a:ext cx="6473625" cy="2718749"/>
          </a:xfrm>
          <a:prstGeom prst="rect">
            <a:avLst/>
          </a:prstGeom>
        </p:spPr>
        <p:txBody>
          <a:bodyPr lIns="0" tIns="0" rIns="0" bIns="0" rtlCol="0" anchor="t">
            <a:spAutoFit/>
          </a:bodyPr>
          <a:lstStyle/>
          <a:p>
            <a:pPr algn="l">
              <a:lnSpc>
                <a:spcPts val="2157"/>
              </a:lnSpc>
            </a:pPr>
            <a:r>
              <a:rPr lang="en-US" sz="1740">
                <a:solidFill>
                  <a:srgbClr val="FFFFFF"/>
                </a:solidFill>
                <a:latin typeface="IBM Plex Mono"/>
                <a:ea typeface="IBM Plex Mono"/>
                <a:cs typeface="IBM Plex Mono"/>
                <a:sym typeface="IBM Plex Mono"/>
              </a:rPr>
              <a:t>The graph shows the average number of streams over time, broken down by different trend categories such as "MOVE_UP" - gaining a position, "MOVE_DOWN" - losing a position, "NEW_ENTRY" - getting enough streams to enter the charts, and "SAME_POSITION" - keeping the growth constant. The graph illustrates how the average stream volumes have fluctuated for these different trend categories across the time period from 2020-01 to 2022-01.</a:t>
            </a:r>
          </a:p>
        </p:txBody>
      </p:sp>
      <p:sp>
        <p:nvSpPr>
          <p:cNvPr id="16" name="TextBox 16"/>
          <p:cNvSpPr txBox="1"/>
          <p:nvPr/>
        </p:nvSpPr>
        <p:spPr>
          <a:xfrm>
            <a:off x="3610332" y="573654"/>
            <a:ext cx="11067336" cy="1024391"/>
          </a:xfrm>
          <a:prstGeom prst="rect">
            <a:avLst/>
          </a:prstGeom>
        </p:spPr>
        <p:txBody>
          <a:bodyPr lIns="0" tIns="0" rIns="0" bIns="0" rtlCol="0" anchor="t">
            <a:spAutoFit/>
          </a:bodyPr>
          <a:lstStyle/>
          <a:p>
            <a:pPr algn="l">
              <a:lnSpc>
                <a:spcPts val="7848"/>
              </a:lnSpc>
            </a:pPr>
            <a:r>
              <a:rPr lang="en-US" sz="7546" b="1">
                <a:solidFill>
                  <a:srgbClr val="071330"/>
                </a:solidFill>
                <a:latin typeface="IBM Plex Mono Bold"/>
                <a:ea typeface="IBM Plex Mono Bold"/>
                <a:cs typeface="IBM Plex Mono Bold"/>
                <a:sym typeface="IBM Plex Mono Bold"/>
              </a:rPr>
              <a:t>Data Visualization </a:t>
            </a: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CF60"/>
        </a:solidFill>
        <a:effectLst/>
      </p:bgPr>
    </p:bg>
    <p:spTree>
      <p:nvGrpSpPr>
        <p:cNvPr id="1" name=""/>
        <p:cNvGrpSpPr/>
        <p:nvPr/>
      </p:nvGrpSpPr>
      <p:grpSpPr>
        <a:xfrm>
          <a:off x="0" y="0"/>
          <a:ext cx="0" cy="0"/>
          <a:chOff x="0" y="0"/>
          <a:chExt cx="0" cy="0"/>
        </a:xfrm>
      </p:grpSpPr>
      <p:grpSp>
        <p:nvGrpSpPr>
          <p:cNvPr id="2" name="Group 2"/>
          <p:cNvGrpSpPr/>
          <p:nvPr/>
        </p:nvGrpSpPr>
        <p:grpSpPr>
          <a:xfrm>
            <a:off x="-460312" y="-201041"/>
            <a:ext cx="19208624" cy="10689082"/>
            <a:chOff x="0" y="0"/>
            <a:chExt cx="25611499" cy="14252110"/>
          </a:xfrm>
        </p:grpSpPr>
        <p:sp>
          <p:nvSpPr>
            <p:cNvPr id="3" name="Freeform 3"/>
            <p:cNvSpPr/>
            <p:nvPr/>
          </p:nvSpPr>
          <p:spPr>
            <a:xfrm>
              <a:off x="0"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1359389"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grpSp>
      <p:grpSp>
        <p:nvGrpSpPr>
          <p:cNvPr id="5" name="Group 5"/>
          <p:cNvGrpSpPr/>
          <p:nvPr/>
        </p:nvGrpSpPr>
        <p:grpSpPr>
          <a:xfrm>
            <a:off x="11111755" y="6452750"/>
            <a:ext cx="6924878" cy="3482271"/>
            <a:chOff x="0" y="0"/>
            <a:chExt cx="4138350" cy="2081026"/>
          </a:xfrm>
        </p:grpSpPr>
        <p:sp>
          <p:nvSpPr>
            <p:cNvPr id="6" name="Freeform 6"/>
            <p:cNvSpPr/>
            <p:nvPr/>
          </p:nvSpPr>
          <p:spPr>
            <a:xfrm>
              <a:off x="0" y="0"/>
              <a:ext cx="4138350" cy="2081026"/>
            </a:xfrm>
            <a:custGeom>
              <a:avLst/>
              <a:gdLst/>
              <a:ahLst/>
              <a:cxnLst/>
              <a:rect l="l" t="t" r="r" b="b"/>
              <a:pathLst>
                <a:path w="4138350" h="2081026">
                  <a:moveTo>
                    <a:pt x="34658" y="0"/>
                  </a:moveTo>
                  <a:lnTo>
                    <a:pt x="4103692" y="0"/>
                  </a:lnTo>
                  <a:cubicBezTo>
                    <a:pt x="4122833" y="0"/>
                    <a:pt x="4138350" y="15517"/>
                    <a:pt x="4138350" y="34658"/>
                  </a:cubicBezTo>
                  <a:lnTo>
                    <a:pt x="4138350" y="2046369"/>
                  </a:lnTo>
                  <a:cubicBezTo>
                    <a:pt x="4138350" y="2065510"/>
                    <a:pt x="4122833" y="2081026"/>
                    <a:pt x="4103692" y="2081026"/>
                  </a:cubicBezTo>
                  <a:lnTo>
                    <a:pt x="34658" y="2081026"/>
                  </a:lnTo>
                  <a:cubicBezTo>
                    <a:pt x="25466" y="2081026"/>
                    <a:pt x="16651" y="2077375"/>
                    <a:pt x="10151" y="2070876"/>
                  </a:cubicBezTo>
                  <a:cubicBezTo>
                    <a:pt x="3651" y="2064376"/>
                    <a:pt x="0" y="2055561"/>
                    <a:pt x="0" y="2046369"/>
                  </a:cubicBezTo>
                  <a:lnTo>
                    <a:pt x="0" y="34658"/>
                  </a:lnTo>
                  <a:cubicBezTo>
                    <a:pt x="0" y="15517"/>
                    <a:pt x="15517" y="0"/>
                    <a:pt x="34658" y="0"/>
                  </a:cubicBezTo>
                  <a:close/>
                </a:path>
              </a:pathLst>
            </a:custGeom>
            <a:solidFill>
              <a:srgbClr val="071330"/>
            </a:solidFill>
          </p:spPr>
        </p:sp>
        <p:sp>
          <p:nvSpPr>
            <p:cNvPr id="7" name="TextBox 7"/>
            <p:cNvSpPr txBox="1"/>
            <p:nvPr/>
          </p:nvSpPr>
          <p:spPr>
            <a:xfrm>
              <a:off x="0" y="-38100"/>
              <a:ext cx="4138350" cy="2119126"/>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1516680" y="6678260"/>
            <a:ext cx="164819" cy="153164"/>
            <a:chOff x="0" y="0"/>
            <a:chExt cx="6833198" cy="6350000"/>
          </a:xfrm>
        </p:grpSpPr>
        <p:sp>
          <p:nvSpPr>
            <p:cNvPr id="9" name="Freeform 9"/>
            <p:cNvSpPr/>
            <p:nvPr/>
          </p:nvSpPr>
          <p:spPr>
            <a:xfrm>
              <a:off x="0" y="0"/>
              <a:ext cx="6833198" cy="6350000"/>
            </a:xfrm>
            <a:custGeom>
              <a:avLst/>
              <a:gdLst/>
              <a:ahLst/>
              <a:cxnLst/>
              <a:rect l="l" t="t" r="r" b="b"/>
              <a:pathLst>
                <a:path w="6833198" h="6350000">
                  <a:moveTo>
                    <a:pt x="3416599" y="0"/>
                  </a:moveTo>
                  <a:cubicBezTo>
                    <a:pt x="1529663" y="0"/>
                    <a:pt x="0" y="1421496"/>
                    <a:pt x="0" y="3175000"/>
                  </a:cubicBezTo>
                  <a:cubicBezTo>
                    <a:pt x="0" y="4928504"/>
                    <a:pt x="1529663" y="6350000"/>
                    <a:pt x="3416599" y="6350000"/>
                  </a:cubicBezTo>
                  <a:cubicBezTo>
                    <a:pt x="5303534" y="6350000"/>
                    <a:pt x="6833198" y="4928504"/>
                    <a:pt x="6833198" y="3175000"/>
                  </a:cubicBezTo>
                  <a:cubicBezTo>
                    <a:pt x="6833198" y="1421496"/>
                    <a:pt x="5303534" y="0"/>
                    <a:pt x="3416599" y="0"/>
                  </a:cubicBezTo>
                  <a:close/>
                </a:path>
              </a:pathLst>
            </a:custGeom>
            <a:solidFill>
              <a:srgbClr val="DE0F3F"/>
            </a:solidFill>
          </p:spPr>
        </p:sp>
      </p:grpSp>
      <p:grpSp>
        <p:nvGrpSpPr>
          <p:cNvPr id="10" name="Group 10"/>
          <p:cNvGrpSpPr/>
          <p:nvPr/>
        </p:nvGrpSpPr>
        <p:grpSpPr>
          <a:xfrm>
            <a:off x="11732070" y="6678260"/>
            <a:ext cx="164819" cy="153164"/>
            <a:chOff x="0" y="0"/>
            <a:chExt cx="6833198" cy="6350000"/>
          </a:xfrm>
        </p:grpSpPr>
        <p:sp>
          <p:nvSpPr>
            <p:cNvPr id="11" name="Freeform 11"/>
            <p:cNvSpPr/>
            <p:nvPr/>
          </p:nvSpPr>
          <p:spPr>
            <a:xfrm>
              <a:off x="0" y="0"/>
              <a:ext cx="6833198" cy="6350000"/>
            </a:xfrm>
            <a:custGeom>
              <a:avLst/>
              <a:gdLst/>
              <a:ahLst/>
              <a:cxnLst/>
              <a:rect l="l" t="t" r="r" b="b"/>
              <a:pathLst>
                <a:path w="6833198" h="6350000">
                  <a:moveTo>
                    <a:pt x="3416599" y="0"/>
                  </a:moveTo>
                  <a:cubicBezTo>
                    <a:pt x="1529663" y="0"/>
                    <a:pt x="0" y="1421496"/>
                    <a:pt x="0" y="3175000"/>
                  </a:cubicBezTo>
                  <a:cubicBezTo>
                    <a:pt x="0" y="4928504"/>
                    <a:pt x="1529663" y="6350000"/>
                    <a:pt x="3416599" y="6350000"/>
                  </a:cubicBezTo>
                  <a:cubicBezTo>
                    <a:pt x="5303534" y="6350000"/>
                    <a:pt x="6833198" y="4928504"/>
                    <a:pt x="6833198" y="3175000"/>
                  </a:cubicBezTo>
                  <a:cubicBezTo>
                    <a:pt x="6833198" y="1421496"/>
                    <a:pt x="5303534" y="0"/>
                    <a:pt x="3416599" y="0"/>
                  </a:cubicBezTo>
                  <a:close/>
                </a:path>
              </a:pathLst>
            </a:custGeom>
            <a:solidFill>
              <a:srgbClr val="FFCF60"/>
            </a:solidFill>
          </p:spPr>
        </p:sp>
      </p:grpSp>
      <p:grpSp>
        <p:nvGrpSpPr>
          <p:cNvPr id="12" name="Group 12"/>
          <p:cNvGrpSpPr/>
          <p:nvPr/>
        </p:nvGrpSpPr>
        <p:grpSpPr>
          <a:xfrm>
            <a:off x="11946578" y="6678260"/>
            <a:ext cx="164819" cy="153164"/>
            <a:chOff x="0" y="0"/>
            <a:chExt cx="6833198" cy="6350000"/>
          </a:xfrm>
        </p:grpSpPr>
        <p:sp>
          <p:nvSpPr>
            <p:cNvPr id="13" name="Freeform 13"/>
            <p:cNvSpPr/>
            <p:nvPr/>
          </p:nvSpPr>
          <p:spPr>
            <a:xfrm>
              <a:off x="0" y="0"/>
              <a:ext cx="6833198" cy="6350000"/>
            </a:xfrm>
            <a:custGeom>
              <a:avLst/>
              <a:gdLst/>
              <a:ahLst/>
              <a:cxnLst/>
              <a:rect l="l" t="t" r="r" b="b"/>
              <a:pathLst>
                <a:path w="6833198" h="6350000">
                  <a:moveTo>
                    <a:pt x="3416599" y="0"/>
                  </a:moveTo>
                  <a:cubicBezTo>
                    <a:pt x="1529663" y="0"/>
                    <a:pt x="0" y="1421496"/>
                    <a:pt x="0" y="3175000"/>
                  </a:cubicBezTo>
                  <a:cubicBezTo>
                    <a:pt x="0" y="4928504"/>
                    <a:pt x="1529663" y="6350000"/>
                    <a:pt x="3416599" y="6350000"/>
                  </a:cubicBezTo>
                  <a:cubicBezTo>
                    <a:pt x="5303534" y="6350000"/>
                    <a:pt x="6833198" y="4928504"/>
                    <a:pt x="6833198" y="3175000"/>
                  </a:cubicBezTo>
                  <a:cubicBezTo>
                    <a:pt x="6833198" y="1421496"/>
                    <a:pt x="5303534" y="0"/>
                    <a:pt x="3416599" y="0"/>
                  </a:cubicBezTo>
                  <a:close/>
                </a:path>
              </a:pathLst>
            </a:custGeom>
            <a:solidFill>
              <a:srgbClr val="6AC66B"/>
            </a:solidFill>
          </p:spPr>
        </p:sp>
      </p:grpSp>
      <p:sp>
        <p:nvSpPr>
          <p:cNvPr id="14" name="Freeform 14"/>
          <p:cNvSpPr/>
          <p:nvPr/>
        </p:nvSpPr>
        <p:spPr>
          <a:xfrm>
            <a:off x="365013" y="1972053"/>
            <a:ext cx="10746742" cy="6085343"/>
          </a:xfrm>
          <a:custGeom>
            <a:avLst/>
            <a:gdLst/>
            <a:ahLst/>
            <a:cxnLst/>
            <a:rect l="l" t="t" r="r" b="b"/>
            <a:pathLst>
              <a:path w="10746742" h="6085343">
                <a:moveTo>
                  <a:pt x="0" y="0"/>
                </a:moveTo>
                <a:lnTo>
                  <a:pt x="10746742" y="0"/>
                </a:lnTo>
                <a:lnTo>
                  <a:pt x="10746742" y="6085343"/>
                </a:lnTo>
                <a:lnTo>
                  <a:pt x="0" y="6085343"/>
                </a:lnTo>
                <a:lnTo>
                  <a:pt x="0" y="0"/>
                </a:lnTo>
                <a:close/>
              </a:path>
            </a:pathLst>
          </a:custGeom>
          <a:blipFill>
            <a:blip r:embed="rId4"/>
            <a:stretch>
              <a:fillRect/>
            </a:stretch>
          </a:blipFill>
        </p:spPr>
      </p:sp>
      <p:sp>
        <p:nvSpPr>
          <p:cNvPr id="15" name="TextBox 15"/>
          <p:cNvSpPr txBox="1"/>
          <p:nvPr/>
        </p:nvSpPr>
        <p:spPr>
          <a:xfrm>
            <a:off x="11681498" y="6966905"/>
            <a:ext cx="6104924" cy="2836642"/>
          </a:xfrm>
          <a:prstGeom prst="rect">
            <a:avLst/>
          </a:prstGeom>
        </p:spPr>
        <p:txBody>
          <a:bodyPr lIns="0" tIns="0" rIns="0" bIns="0" rtlCol="0" anchor="t">
            <a:spAutoFit/>
          </a:bodyPr>
          <a:lstStyle/>
          <a:p>
            <a:pPr algn="l">
              <a:lnSpc>
                <a:spcPts val="2099"/>
              </a:lnSpc>
            </a:pPr>
            <a:r>
              <a:rPr lang="en-US" sz="1693">
                <a:solidFill>
                  <a:srgbClr val="FFFFFF"/>
                </a:solidFill>
                <a:latin typeface="IBM Plex Mono"/>
                <a:ea typeface="IBM Plex Mono"/>
                <a:cs typeface="IBM Plex Mono"/>
                <a:sym typeface="IBM Plex Mono"/>
              </a:rPr>
              <a:t>The monthly trends graph reveals a dynamic and seasonally-influenced landscape, with stream volumes fluctuating dramatically from month to month and an underlying downward trajectory that may be tied to a complex interplay of factors like new music releases, platform updates, and broader market shifts. Digging into the drivers behind these ebb and flow patterns could uncover valuable insights about evolving listener preferences and the state of the industry.</a:t>
            </a:r>
          </a:p>
        </p:txBody>
      </p:sp>
      <p:sp>
        <p:nvSpPr>
          <p:cNvPr id="16" name="TextBox 16"/>
          <p:cNvSpPr txBox="1"/>
          <p:nvPr/>
        </p:nvSpPr>
        <p:spPr>
          <a:xfrm>
            <a:off x="3610332" y="573654"/>
            <a:ext cx="11067336" cy="1024391"/>
          </a:xfrm>
          <a:prstGeom prst="rect">
            <a:avLst/>
          </a:prstGeom>
        </p:spPr>
        <p:txBody>
          <a:bodyPr lIns="0" tIns="0" rIns="0" bIns="0" rtlCol="0" anchor="t">
            <a:spAutoFit/>
          </a:bodyPr>
          <a:lstStyle/>
          <a:p>
            <a:pPr algn="l">
              <a:lnSpc>
                <a:spcPts val="7848"/>
              </a:lnSpc>
            </a:pPr>
            <a:r>
              <a:rPr lang="en-US" sz="7546" b="1">
                <a:solidFill>
                  <a:srgbClr val="071330"/>
                </a:solidFill>
                <a:latin typeface="IBM Plex Mono Bold"/>
                <a:ea typeface="IBM Plex Mono Bold"/>
                <a:cs typeface="IBM Plex Mono Bold"/>
                <a:sym typeface="IBM Plex Mono Bold"/>
              </a:rPr>
              <a:t>Data Visualization </a:t>
            </a: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6AC66B"/>
        </a:solidFill>
        <a:effectLst/>
      </p:bgPr>
    </p:bg>
    <p:spTree>
      <p:nvGrpSpPr>
        <p:cNvPr id="1" name=""/>
        <p:cNvGrpSpPr/>
        <p:nvPr/>
      </p:nvGrpSpPr>
      <p:grpSpPr>
        <a:xfrm>
          <a:off x="0" y="0"/>
          <a:ext cx="0" cy="0"/>
          <a:chOff x="0" y="0"/>
          <a:chExt cx="0" cy="0"/>
        </a:xfrm>
      </p:grpSpPr>
      <p:grpSp>
        <p:nvGrpSpPr>
          <p:cNvPr id="2" name="Group 2"/>
          <p:cNvGrpSpPr/>
          <p:nvPr/>
        </p:nvGrpSpPr>
        <p:grpSpPr>
          <a:xfrm>
            <a:off x="-121719" y="-201041"/>
            <a:ext cx="19208624" cy="10689082"/>
            <a:chOff x="0" y="0"/>
            <a:chExt cx="25611499" cy="14252110"/>
          </a:xfrm>
        </p:grpSpPr>
        <p:sp>
          <p:nvSpPr>
            <p:cNvPr id="3" name="Freeform 3"/>
            <p:cNvSpPr/>
            <p:nvPr/>
          </p:nvSpPr>
          <p:spPr>
            <a:xfrm>
              <a:off x="0"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1359389"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grpSp>
      <p:grpSp>
        <p:nvGrpSpPr>
          <p:cNvPr id="5" name="Group 5"/>
          <p:cNvGrpSpPr/>
          <p:nvPr/>
        </p:nvGrpSpPr>
        <p:grpSpPr>
          <a:xfrm>
            <a:off x="10553338" y="6286328"/>
            <a:ext cx="7483295" cy="3763079"/>
            <a:chOff x="0" y="0"/>
            <a:chExt cx="4138350" cy="2081026"/>
          </a:xfrm>
        </p:grpSpPr>
        <p:sp>
          <p:nvSpPr>
            <p:cNvPr id="6" name="Freeform 6"/>
            <p:cNvSpPr/>
            <p:nvPr/>
          </p:nvSpPr>
          <p:spPr>
            <a:xfrm>
              <a:off x="0" y="0"/>
              <a:ext cx="4138350" cy="2081026"/>
            </a:xfrm>
            <a:custGeom>
              <a:avLst/>
              <a:gdLst/>
              <a:ahLst/>
              <a:cxnLst/>
              <a:rect l="l" t="t" r="r" b="b"/>
              <a:pathLst>
                <a:path w="4138350" h="2081026">
                  <a:moveTo>
                    <a:pt x="32071" y="0"/>
                  </a:moveTo>
                  <a:lnTo>
                    <a:pt x="4106278" y="0"/>
                  </a:lnTo>
                  <a:cubicBezTo>
                    <a:pt x="4114784" y="0"/>
                    <a:pt x="4122942" y="3379"/>
                    <a:pt x="4128956" y="9393"/>
                  </a:cubicBezTo>
                  <a:cubicBezTo>
                    <a:pt x="4134971" y="15408"/>
                    <a:pt x="4138350" y="23566"/>
                    <a:pt x="4138350" y="32071"/>
                  </a:cubicBezTo>
                  <a:lnTo>
                    <a:pt x="4138350" y="2048955"/>
                  </a:lnTo>
                  <a:cubicBezTo>
                    <a:pt x="4138350" y="2057461"/>
                    <a:pt x="4134971" y="2065618"/>
                    <a:pt x="4128956" y="2071633"/>
                  </a:cubicBezTo>
                  <a:cubicBezTo>
                    <a:pt x="4122942" y="2077648"/>
                    <a:pt x="4114784" y="2081026"/>
                    <a:pt x="4106278" y="2081026"/>
                  </a:cubicBezTo>
                  <a:lnTo>
                    <a:pt x="32071" y="2081026"/>
                  </a:lnTo>
                  <a:cubicBezTo>
                    <a:pt x="23566" y="2081026"/>
                    <a:pt x="15408" y="2077648"/>
                    <a:pt x="9393" y="2071633"/>
                  </a:cubicBezTo>
                  <a:cubicBezTo>
                    <a:pt x="3379" y="2065618"/>
                    <a:pt x="0" y="2057461"/>
                    <a:pt x="0" y="2048955"/>
                  </a:cubicBezTo>
                  <a:lnTo>
                    <a:pt x="0" y="32071"/>
                  </a:lnTo>
                  <a:cubicBezTo>
                    <a:pt x="0" y="23566"/>
                    <a:pt x="3379" y="15408"/>
                    <a:pt x="9393" y="9393"/>
                  </a:cubicBezTo>
                  <a:cubicBezTo>
                    <a:pt x="15408" y="3379"/>
                    <a:pt x="23566" y="0"/>
                    <a:pt x="32071" y="0"/>
                  </a:cubicBezTo>
                  <a:close/>
                </a:path>
              </a:pathLst>
            </a:custGeom>
            <a:solidFill>
              <a:srgbClr val="071330"/>
            </a:solidFill>
          </p:spPr>
        </p:sp>
        <p:sp>
          <p:nvSpPr>
            <p:cNvPr id="7" name="TextBox 7"/>
            <p:cNvSpPr txBox="1"/>
            <p:nvPr/>
          </p:nvSpPr>
          <p:spPr>
            <a:xfrm>
              <a:off x="0" y="-38100"/>
              <a:ext cx="4138350" cy="2119126"/>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0990916" y="6530023"/>
            <a:ext cx="178109" cy="165515"/>
            <a:chOff x="0" y="0"/>
            <a:chExt cx="6833198" cy="6350000"/>
          </a:xfrm>
        </p:grpSpPr>
        <p:sp>
          <p:nvSpPr>
            <p:cNvPr id="9" name="Freeform 9"/>
            <p:cNvSpPr/>
            <p:nvPr/>
          </p:nvSpPr>
          <p:spPr>
            <a:xfrm>
              <a:off x="0" y="0"/>
              <a:ext cx="6833198" cy="6350000"/>
            </a:xfrm>
            <a:custGeom>
              <a:avLst/>
              <a:gdLst/>
              <a:ahLst/>
              <a:cxnLst/>
              <a:rect l="l" t="t" r="r" b="b"/>
              <a:pathLst>
                <a:path w="6833198" h="6350000">
                  <a:moveTo>
                    <a:pt x="3416599" y="0"/>
                  </a:moveTo>
                  <a:cubicBezTo>
                    <a:pt x="1529663" y="0"/>
                    <a:pt x="0" y="1421496"/>
                    <a:pt x="0" y="3175000"/>
                  </a:cubicBezTo>
                  <a:cubicBezTo>
                    <a:pt x="0" y="4928504"/>
                    <a:pt x="1529663" y="6350000"/>
                    <a:pt x="3416599" y="6350000"/>
                  </a:cubicBezTo>
                  <a:cubicBezTo>
                    <a:pt x="5303534" y="6350000"/>
                    <a:pt x="6833198" y="4928504"/>
                    <a:pt x="6833198" y="3175000"/>
                  </a:cubicBezTo>
                  <a:cubicBezTo>
                    <a:pt x="6833198" y="1421496"/>
                    <a:pt x="5303534" y="0"/>
                    <a:pt x="3416599" y="0"/>
                  </a:cubicBezTo>
                  <a:close/>
                </a:path>
              </a:pathLst>
            </a:custGeom>
            <a:solidFill>
              <a:srgbClr val="DE0F3F"/>
            </a:solidFill>
          </p:spPr>
        </p:sp>
      </p:grpSp>
      <p:grpSp>
        <p:nvGrpSpPr>
          <p:cNvPr id="10" name="Group 10"/>
          <p:cNvGrpSpPr/>
          <p:nvPr/>
        </p:nvGrpSpPr>
        <p:grpSpPr>
          <a:xfrm>
            <a:off x="11223675" y="6530023"/>
            <a:ext cx="178109" cy="165515"/>
            <a:chOff x="0" y="0"/>
            <a:chExt cx="6833198" cy="6350000"/>
          </a:xfrm>
        </p:grpSpPr>
        <p:sp>
          <p:nvSpPr>
            <p:cNvPr id="11" name="Freeform 11"/>
            <p:cNvSpPr/>
            <p:nvPr/>
          </p:nvSpPr>
          <p:spPr>
            <a:xfrm>
              <a:off x="0" y="0"/>
              <a:ext cx="6833198" cy="6350000"/>
            </a:xfrm>
            <a:custGeom>
              <a:avLst/>
              <a:gdLst/>
              <a:ahLst/>
              <a:cxnLst/>
              <a:rect l="l" t="t" r="r" b="b"/>
              <a:pathLst>
                <a:path w="6833198" h="6350000">
                  <a:moveTo>
                    <a:pt x="3416599" y="0"/>
                  </a:moveTo>
                  <a:cubicBezTo>
                    <a:pt x="1529663" y="0"/>
                    <a:pt x="0" y="1421496"/>
                    <a:pt x="0" y="3175000"/>
                  </a:cubicBezTo>
                  <a:cubicBezTo>
                    <a:pt x="0" y="4928504"/>
                    <a:pt x="1529663" y="6350000"/>
                    <a:pt x="3416599" y="6350000"/>
                  </a:cubicBezTo>
                  <a:cubicBezTo>
                    <a:pt x="5303534" y="6350000"/>
                    <a:pt x="6833198" y="4928504"/>
                    <a:pt x="6833198" y="3175000"/>
                  </a:cubicBezTo>
                  <a:cubicBezTo>
                    <a:pt x="6833198" y="1421496"/>
                    <a:pt x="5303534" y="0"/>
                    <a:pt x="3416599" y="0"/>
                  </a:cubicBezTo>
                  <a:close/>
                </a:path>
              </a:pathLst>
            </a:custGeom>
            <a:solidFill>
              <a:srgbClr val="FFCF60"/>
            </a:solidFill>
          </p:spPr>
        </p:sp>
      </p:grpSp>
      <p:grpSp>
        <p:nvGrpSpPr>
          <p:cNvPr id="12" name="Group 12"/>
          <p:cNvGrpSpPr/>
          <p:nvPr/>
        </p:nvGrpSpPr>
        <p:grpSpPr>
          <a:xfrm>
            <a:off x="11455481" y="6530023"/>
            <a:ext cx="178109" cy="165515"/>
            <a:chOff x="0" y="0"/>
            <a:chExt cx="6833198" cy="6350000"/>
          </a:xfrm>
        </p:grpSpPr>
        <p:sp>
          <p:nvSpPr>
            <p:cNvPr id="13" name="Freeform 13"/>
            <p:cNvSpPr/>
            <p:nvPr/>
          </p:nvSpPr>
          <p:spPr>
            <a:xfrm>
              <a:off x="0" y="0"/>
              <a:ext cx="6833198" cy="6350000"/>
            </a:xfrm>
            <a:custGeom>
              <a:avLst/>
              <a:gdLst/>
              <a:ahLst/>
              <a:cxnLst/>
              <a:rect l="l" t="t" r="r" b="b"/>
              <a:pathLst>
                <a:path w="6833198" h="6350000">
                  <a:moveTo>
                    <a:pt x="3416599" y="0"/>
                  </a:moveTo>
                  <a:cubicBezTo>
                    <a:pt x="1529663" y="0"/>
                    <a:pt x="0" y="1421496"/>
                    <a:pt x="0" y="3175000"/>
                  </a:cubicBezTo>
                  <a:cubicBezTo>
                    <a:pt x="0" y="4928504"/>
                    <a:pt x="1529663" y="6350000"/>
                    <a:pt x="3416599" y="6350000"/>
                  </a:cubicBezTo>
                  <a:cubicBezTo>
                    <a:pt x="5303534" y="6350000"/>
                    <a:pt x="6833198" y="4928504"/>
                    <a:pt x="6833198" y="3175000"/>
                  </a:cubicBezTo>
                  <a:cubicBezTo>
                    <a:pt x="6833198" y="1421496"/>
                    <a:pt x="5303534" y="0"/>
                    <a:pt x="3416599" y="0"/>
                  </a:cubicBezTo>
                  <a:close/>
                </a:path>
              </a:pathLst>
            </a:custGeom>
            <a:solidFill>
              <a:srgbClr val="6AC66B"/>
            </a:solidFill>
          </p:spPr>
        </p:sp>
      </p:grpSp>
      <p:sp>
        <p:nvSpPr>
          <p:cNvPr id="14" name="Freeform 14"/>
          <p:cNvSpPr/>
          <p:nvPr/>
        </p:nvSpPr>
        <p:spPr>
          <a:xfrm>
            <a:off x="353689" y="1861791"/>
            <a:ext cx="10199649" cy="6553274"/>
          </a:xfrm>
          <a:custGeom>
            <a:avLst/>
            <a:gdLst/>
            <a:ahLst/>
            <a:cxnLst/>
            <a:rect l="l" t="t" r="r" b="b"/>
            <a:pathLst>
              <a:path w="10199649" h="6553274">
                <a:moveTo>
                  <a:pt x="0" y="0"/>
                </a:moveTo>
                <a:lnTo>
                  <a:pt x="10199649" y="0"/>
                </a:lnTo>
                <a:lnTo>
                  <a:pt x="10199649" y="6553274"/>
                </a:lnTo>
                <a:lnTo>
                  <a:pt x="0" y="6553274"/>
                </a:lnTo>
                <a:lnTo>
                  <a:pt x="0" y="0"/>
                </a:lnTo>
                <a:close/>
              </a:path>
            </a:pathLst>
          </a:custGeom>
          <a:blipFill>
            <a:blip r:embed="rId4"/>
            <a:stretch>
              <a:fillRect/>
            </a:stretch>
          </a:blipFill>
        </p:spPr>
      </p:sp>
      <p:sp>
        <p:nvSpPr>
          <p:cNvPr id="15" name="TextBox 15"/>
          <p:cNvSpPr txBox="1"/>
          <p:nvPr/>
        </p:nvSpPr>
        <p:spPr>
          <a:xfrm>
            <a:off x="11058173" y="6803730"/>
            <a:ext cx="6473625" cy="2718749"/>
          </a:xfrm>
          <a:prstGeom prst="rect">
            <a:avLst/>
          </a:prstGeom>
        </p:spPr>
        <p:txBody>
          <a:bodyPr lIns="0" tIns="0" rIns="0" bIns="0" rtlCol="0" anchor="t">
            <a:spAutoFit/>
          </a:bodyPr>
          <a:lstStyle/>
          <a:p>
            <a:pPr algn="l">
              <a:lnSpc>
                <a:spcPts val="2157"/>
              </a:lnSpc>
            </a:pPr>
            <a:r>
              <a:rPr lang="en-US" sz="1740">
                <a:solidFill>
                  <a:srgbClr val="FFFFFF"/>
                </a:solidFill>
                <a:latin typeface="IBM Plex Mono"/>
                <a:ea typeface="IBM Plex Mono"/>
                <a:cs typeface="IBM Plex Mono"/>
                <a:sym typeface="IBM Plex Mono"/>
              </a:rPr>
              <a:t>The graph showcases an exponential decay relationship between an the rank of the song and its total streams, with a high concentration of streams for the top-ranked items and a long tail of lower-ranked items with progressively fewer streams. The data points form distinct horizontal bands suggesting cohorts of items with similar stream volumes, and occasional outliers that seems to be deviating from the overall exponential trend.</a:t>
            </a:r>
          </a:p>
        </p:txBody>
      </p:sp>
      <p:sp>
        <p:nvSpPr>
          <p:cNvPr id="16" name="TextBox 16"/>
          <p:cNvSpPr txBox="1"/>
          <p:nvPr/>
        </p:nvSpPr>
        <p:spPr>
          <a:xfrm>
            <a:off x="3610332" y="573654"/>
            <a:ext cx="11067336" cy="1024391"/>
          </a:xfrm>
          <a:prstGeom prst="rect">
            <a:avLst/>
          </a:prstGeom>
        </p:spPr>
        <p:txBody>
          <a:bodyPr lIns="0" tIns="0" rIns="0" bIns="0" rtlCol="0" anchor="t">
            <a:spAutoFit/>
          </a:bodyPr>
          <a:lstStyle/>
          <a:p>
            <a:pPr algn="l">
              <a:lnSpc>
                <a:spcPts val="7848"/>
              </a:lnSpc>
            </a:pPr>
            <a:r>
              <a:rPr lang="en-US" sz="7546" b="1">
                <a:solidFill>
                  <a:srgbClr val="071330"/>
                </a:solidFill>
                <a:latin typeface="IBM Plex Mono Bold"/>
                <a:ea typeface="IBM Plex Mono Bold"/>
                <a:cs typeface="IBM Plex Mono Bold"/>
                <a:sym typeface="IBM Plex Mono Bold"/>
              </a:rPr>
              <a:t>Data Visualization </a:t>
            </a: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CF60"/>
        </a:solidFill>
        <a:effectLst/>
      </p:bgPr>
    </p:bg>
    <p:spTree>
      <p:nvGrpSpPr>
        <p:cNvPr id="1" name=""/>
        <p:cNvGrpSpPr/>
        <p:nvPr/>
      </p:nvGrpSpPr>
      <p:grpSpPr>
        <a:xfrm>
          <a:off x="0" y="0"/>
          <a:ext cx="0" cy="0"/>
          <a:chOff x="0" y="0"/>
          <a:chExt cx="0" cy="0"/>
        </a:xfrm>
      </p:grpSpPr>
      <p:grpSp>
        <p:nvGrpSpPr>
          <p:cNvPr id="2" name="Group 2"/>
          <p:cNvGrpSpPr/>
          <p:nvPr/>
        </p:nvGrpSpPr>
        <p:grpSpPr>
          <a:xfrm>
            <a:off x="-460312" y="-201041"/>
            <a:ext cx="19208624" cy="10689082"/>
            <a:chOff x="0" y="0"/>
            <a:chExt cx="25611499" cy="14252110"/>
          </a:xfrm>
        </p:grpSpPr>
        <p:sp>
          <p:nvSpPr>
            <p:cNvPr id="3" name="Freeform 3"/>
            <p:cNvSpPr/>
            <p:nvPr/>
          </p:nvSpPr>
          <p:spPr>
            <a:xfrm>
              <a:off x="0"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1359389"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grpSp>
      <p:grpSp>
        <p:nvGrpSpPr>
          <p:cNvPr id="5" name="Group 5"/>
          <p:cNvGrpSpPr/>
          <p:nvPr/>
        </p:nvGrpSpPr>
        <p:grpSpPr>
          <a:xfrm>
            <a:off x="10010310" y="5898873"/>
            <a:ext cx="8026323" cy="4036148"/>
            <a:chOff x="0" y="0"/>
            <a:chExt cx="4138350" cy="2081026"/>
          </a:xfrm>
        </p:grpSpPr>
        <p:sp>
          <p:nvSpPr>
            <p:cNvPr id="6" name="Freeform 6"/>
            <p:cNvSpPr/>
            <p:nvPr/>
          </p:nvSpPr>
          <p:spPr>
            <a:xfrm>
              <a:off x="0" y="0"/>
              <a:ext cx="4138350" cy="2081026"/>
            </a:xfrm>
            <a:custGeom>
              <a:avLst/>
              <a:gdLst/>
              <a:ahLst/>
              <a:cxnLst/>
              <a:rect l="l" t="t" r="r" b="b"/>
              <a:pathLst>
                <a:path w="4138350" h="2081026">
                  <a:moveTo>
                    <a:pt x="29902" y="0"/>
                  </a:moveTo>
                  <a:lnTo>
                    <a:pt x="4108448" y="0"/>
                  </a:lnTo>
                  <a:cubicBezTo>
                    <a:pt x="4124962" y="0"/>
                    <a:pt x="4138350" y="13387"/>
                    <a:pt x="4138350" y="29902"/>
                  </a:cubicBezTo>
                  <a:lnTo>
                    <a:pt x="4138350" y="2051125"/>
                  </a:lnTo>
                  <a:cubicBezTo>
                    <a:pt x="4138350" y="2067639"/>
                    <a:pt x="4124962" y="2081026"/>
                    <a:pt x="4108448" y="2081026"/>
                  </a:cubicBezTo>
                  <a:lnTo>
                    <a:pt x="29902" y="2081026"/>
                  </a:lnTo>
                  <a:cubicBezTo>
                    <a:pt x="21971" y="2081026"/>
                    <a:pt x="14366" y="2077876"/>
                    <a:pt x="8758" y="2072268"/>
                  </a:cubicBezTo>
                  <a:cubicBezTo>
                    <a:pt x="3150" y="2066661"/>
                    <a:pt x="0" y="2059055"/>
                    <a:pt x="0" y="2051125"/>
                  </a:cubicBezTo>
                  <a:lnTo>
                    <a:pt x="0" y="29902"/>
                  </a:lnTo>
                  <a:cubicBezTo>
                    <a:pt x="0" y="21971"/>
                    <a:pt x="3150" y="14366"/>
                    <a:pt x="8758" y="8758"/>
                  </a:cubicBezTo>
                  <a:cubicBezTo>
                    <a:pt x="14366" y="3150"/>
                    <a:pt x="21971" y="0"/>
                    <a:pt x="29902" y="0"/>
                  </a:cubicBezTo>
                  <a:close/>
                </a:path>
              </a:pathLst>
            </a:custGeom>
            <a:solidFill>
              <a:srgbClr val="071330"/>
            </a:solidFill>
          </p:spPr>
        </p:sp>
        <p:sp>
          <p:nvSpPr>
            <p:cNvPr id="7" name="TextBox 7"/>
            <p:cNvSpPr txBox="1"/>
            <p:nvPr/>
          </p:nvSpPr>
          <p:spPr>
            <a:xfrm>
              <a:off x="0" y="-38100"/>
              <a:ext cx="4138350" cy="2119126"/>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0479641" y="6160252"/>
            <a:ext cx="191034" cy="177525"/>
            <a:chOff x="0" y="0"/>
            <a:chExt cx="6833198" cy="6350000"/>
          </a:xfrm>
        </p:grpSpPr>
        <p:sp>
          <p:nvSpPr>
            <p:cNvPr id="9" name="Freeform 9"/>
            <p:cNvSpPr/>
            <p:nvPr/>
          </p:nvSpPr>
          <p:spPr>
            <a:xfrm>
              <a:off x="0" y="0"/>
              <a:ext cx="6833198" cy="6350000"/>
            </a:xfrm>
            <a:custGeom>
              <a:avLst/>
              <a:gdLst/>
              <a:ahLst/>
              <a:cxnLst/>
              <a:rect l="l" t="t" r="r" b="b"/>
              <a:pathLst>
                <a:path w="6833198" h="6350000">
                  <a:moveTo>
                    <a:pt x="3416599" y="0"/>
                  </a:moveTo>
                  <a:cubicBezTo>
                    <a:pt x="1529663" y="0"/>
                    <a:pt x="0" y="1421496"/>
                    <a:pt x="0" y="3175000"/>
                  </a:cubicBezTo>
                  <a:cubicBezTo>
                    <a:pt x="0" y="4928504"/>
                    <a:pt x="1529663" y="6350000"/>
                    <a:pt x="3416599" y="6350000"/>
                  </a:cubicBezTo>
                  <a:cubicBezTo>
                    <a:pt x="5303534" y="6350000"/>
                    <a:pt x="6833198" y="4928504"/>
                    <a:pt x="6833198" y="3175000"/>
                  </a:cubicBezTo>
                  <a:cubicBezTo>
                    <a:pt x="6833198" y="1421496"/>
                    <a:pt x="5303534" y="0"/>
                    <a:pt x="3416599" y="0"/>
                  </a:cubicBezTo>
                  <a:close/>
                </a:path>
              </a:pathLst>
            </a:custGeom>
            <a:solidFill>
              <a:srgbClr val="DE0F3F"/>
            </a:solidFill>
          </p:spPr>
        </p:sp>
      </p:grpSp>
      <p:grpSp>
        <p:nvGrpSpPr>
          <p:cNvPr id="10" name="Group 10"/>
          <p:cNvGrpSpPr/>
          <p:nvPr/>
        </p:nvGrpSpPr>
        <p:grpSpPr>
          <a:xfrm>
            <a:off x="10729290" y="6160252"/>
            <a:ext cx="191034" cy="177525"/>
            <a:chOff x="0" y="0"/>
            <a:chExt cx="6833198" cy="6350000"/>
          </a:xfrm>
        </p:grpSpPr>
        <p:sp>
          <p:nvSpPr>
            <p:cNvPr id="11" name="Freeform 11"/>
            <p:cNvSpPr/>
            <p:nvPr/>
          </p:nvSpPr>
          <p:spPr>
            <a:xfrm>
              <a:off x="0" y="0"/>
              <a:ext cx="6833198" cy="6350000"/>
            </a:xfrm>
            <a:custGeom>
              <a:avLst/>
              <a:gdLst/>
              <a:ahLst/>
              <a:cxnLst/>
              <a:rect l="l" t="t" r="r" b="b"/>
              <a:pathLst>
                <a:path w="6833198" h="6350000">
                  <a:moveTo>
                    <a:pt x="3416599" y="0"/>
                  </a:moveTo>
                  <a:cubicBezTo>
                    <a:pt x="1529663" y="0"/>
                    <a:pt x="0" y="1421496"/>
                    <a:pt x="0" y="3175000"/>
                  </a:cubicBezTo>
                  <a:cubicBezTo>
                    <a:pt x="0" y="4928504"/>
                    <a:pt x="1529663" y="6350000"/>
                    <a:pt x="3416599" y="6350000"/>
                  </a:cubicBezTo>
                  <a:cubicBezTo>
                    <a:pt x="5303534" y="6350000"/>
                    <a:pt x="6833198" y="4928504"/>
                    <a:pt x="6833198" y="3175000"/>
                  </a:cubicBezTo>
                  <a:cubicBezTo>
                    <a:pt x="6833198" y="1421496"/>
                    <a:pt x="5303534" y="0"/>
                    <a:pt x="3416599" y="0"/>
                  </a:cubicBezTo>
                  <a:close/>
                </a:path>
              </a:pathLst>
            </a:custGeom>
            <a:solidFill>
              <a:srgbClr val="FFCF60"/>
            </a:solidFill>
          </p:spPr>
        </p:sp>
      </p:grpSp>
      <p:grpSp>
        <p:nvGrpSpPr>
          <p:cNvPr id="12" name="Group 12"/>
          <p:cNvGrpSpPr/>
          <p:nvPr/>
        </p:nvGrpSpPr>
        <p:grpSpPr>
          <a:xfrm>
            <a:off x="10977917" y="6160252"/>
            <a:ext cx="191034" cy="177525"/>
            <a:chOff x="0" y="0"/>
            <a:chExt cx="6833198" cy="6350000"/>
          </a:xfrm>
        </p:grpSpPr>
        <p:sp>
          <p:nvSpPr>
            <p:cNvPr id="13" name="Freeform 13"/>
            <p:cNvSpPr/>
            <p:nvPr/>
          </p:nvSpPr>
          <p:spPr>
            <a:xfrm>
              <a:off x="0" y="0"/>
              <a:ext cx="6833198" cy="6350000"/>
            </a:xfrm>
            <a:custGeom>
              <a:avLst/>
              <a:gdLst/>
              <a:ahLst/>
              <a:cxnLst/>
              <a:rect l="l" t="t" r="r" b="b"/>
              <a:pathLst>
                <a:path w="6833198" h="6350000">
                  <a:moveTo>
                    <a:pt x="3416599" y="0"/>
                  </a:moveTo>
                  <a:cubicBezTo>
                    <a:pt x="1529663" y="0"/>
                    <a:pt x="0" y="1421496"/>
                    <a:pt x="0" y="3175000"/>
                  </a:cubicBezTo>
                  <a:cubicBezTo>
                    <a:pt x="0" y="4928504"/>
                    <a:pt x="1529663" y="6350000"/>
                    <a:pt x="3416599" y="6350000"/>
                  </a:cubicBezTo>
                  <a:cubicBezTo>
                    <a:pt x="5303534" y="6350000"/>
                    <a:pt x="6833198" y="4928504"/>
                    <a:pt x="6833198" y="3175000"/>
                  </a:cubicBezTo>
                  <a:cubicBezTo>
                    <a:pt x="6833198" y="1421496"/>
                    <a:pt x="5303534" y="0"/>
                    <a:pt x="3416599" y="0"/>
                  </a:cubicBezTo>
                  <a:close/>
                </a:path>
              </a:pathLst>
            </a:custGeom>
            <a:solidFill>
              <a:srgbClr val="6AC66B"/>
            </a:solidFill>
          </p:spPr>
        </p:sp>
      </p:grpSp>
      <p:sp>
        <p:nvSpPr>
          <p:cNvPr id="14" name="Freeform 14"/>
          <p:cNvSpPr/>
          <p:nvPr/>
        </p:nvSpPr>
        <p:spPr>
          <a:xfrm>
            <a:off x="1028700" y="1949515"/>
            <a:ext cx="8981610" cy="7308785"/>
          </a:xfrm>
          <a:custGeom>
            <a:avLst/>
            <a:gdLst/>
            <a:ahLst/>
            <a:cxnLst/>
            <a:rect l="l" t="t" r="r" b="b"/>
            <a:pathLst>
              <a:path w="8981610" h="7308785">
                <a:moveTo>
                  <a:pt x="0" y="0"/>
                </a:moveTo>
                <a:lnTo>
                  <a:pt x="8981610" y="0"/>
                </a:lnTo>
                <a:lnTo>
                  <a:pt x="8981610" y="7308785"/>
                </a:lnTo>
                <a:lnTo>
                  <a:pt x="0" y="7308785"/>
                </a:lnTo>
                <a:lnTo>
                  <a:pt x="0" y="0"/>
                </a:lnTo>
                <a:close/>
              </a:path>
            </a:pathLst>
          </a:custGeom>
          <a:blipFill>
            <a:blip r:embed="rId4"/>
            <a:stretch>
              <a:fillRect/>
            </a:stretch>
          </a:blipFill>
        </p:spPr>
      </p:sp>
      <p:sp>
        <p:nvSpPr>
          <p:cNvPr id="15" name="TextBox 15"/>
          <p:cNvSpPr txBox="1"/>
          <p:nvPr/>
        </p:nvSpPr>
        <p:spPr>
          <a:xfrm>
            <a:off x="10479641" y="6729050"/>
            <a:ext cx="7075950" cy="2688227"/>
          </a:xfrm>
          <a:prstGeom prst="rect">
            <a:avLst/>
          </a:prstGeom>
        </p:spPr>
        <p:txBody>
          <a:bodyPr lIns="0" tIns="0" rIns="0" bIns="0" rtlCol="0" anchor="t">
            <a:spAutoFit/>
          </a:bodyPr>
          <a:lstStyle/>
          <a:p>
            <a:pPr algn="l">
              <a:lnSpc>
                <a:spcPts val="2433"/>
              </a:lnSpc>
            </a:pPr>
            <a:r>
              <a:rPr lang="en-US" sz="1962">
                <a:solidFill>
                  <a:srgbClr val="FFFFFF"/>
                </a:solidFill>
                <a:latin typeface="IBM Plex Mono"/>
                <a:ea typeface="IBM Plex Mono"/>
                <a:cs typeface="IBM Plex Mono"/>
                <a:sym typeface="IBM Plex Mono"/>
              </a:rPr>
              <a:t>This heatmap provides a more detailed view of the total stream volumes across different chart and trend categories. The x-axis represents the trend categories (MOVE_DOWN, MOVE_UP, NEW_ENTRY, SAME_POSITION), while the y-axis shows the different chart IDs. The colors in the heatmap indicate the relative magnitude of the total stream values, with darker shades representing higher values.</a:t>
            </a:r>
          </a:p>
        </p:txBody>
      </p:sp>
      <p:sp>
        <p:nvSpPr>
          <p:cNvPr id="16" name="TextBox 16"/>
          <p:cNvSpPr txBox="1"/>
          <p:nvPr/>
        </p:nvSpPr>
        <p:spPr>
          <a:xfrm>
            <a:off x="3610332" y="573654"/>
            <a:ext cx="11067336" cy="1024391"/>
          </a:xfrm>
          <a:prstGeom prst="rect">
            <a:avLst/>
          </a:prstGeom>
        </p:spPr>
        <p:txBody>
          <a:bodyPr lIns="0" tIns="0" rIns="0" bIns="0" rtlCol="0" anchor="t">
            <a:spAutoFit/>
          </a:bodyPr>
          <a:lstStyle/>
          <a:p>
            <a:pPr algn="l">
              <a:lnSpc>
                <a:spcPts val="7848"/>
              </a:lnSpc>
            </a:pPr>
            <a:r>
              <a:rPr lang="en-US" sz="7546" b="1">
                <a:solidFill>
                  <a:srgbClr val="071330"/>
                </a:solidFill>
                <a:latin typeface="IBM Plex Mono Bold"/>
                <a:ea typeface="IBM Plex Mono Bold"/>
                <a:cs typeface="IBM Plex Mono Bold"/>
                <a:sym typeface="IBM Plex Mono Bold"/>
              </a:rPr>
              <a:t>Data Visualization </a:t>
            </a: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6AC66B"/>
        </a:solidFill>
        <a:effectLst/>
      </p:bgPr>
    </p:bg>
    <p:spTree>
      <p:nvGrpSpPr>
        <p:cNvPr id="1" name=""/>
        <p:cNvGrpSpPr/>
        <p:nvPr/>
      </p:nvGrpSpPr>
      <p:grpSpPr>
        <a:xfrm>
          <a:off x="0" y="0"/>
          <a:ext cx="0" cy="0"/>
          <a:chOff x="0" y="0"/>
          <a:chExt cx="0" cy="0"/>
        </a:xfrm>
      </p:grpSpPr>
      <p:grpSp>
        <p:nvGrpSpPr>
          <p:cNvPr id="2" name="Group 2"/>
          <p:cNvGrpSpPr/>
          <p:nvPr/>
        </p:nvGrpSpPr>
        <p:grpSpPr>
          <a:xfrm>
            <a:off x="-460312" y="-201041"/>
            <a:ext cx="19208624" cy="10689082"/>
            <a:chOff x="0" y="0"/>
            <a:chExt cx="25611499" cy="14252110"/>
          </a:xfrm>
        </p:grpSpPr>
        <p:sp>
          <p:nvSpPr>
            <p:cNvPr id="3" name="Freeform 3"/>
            <p:cNvSpPr/>
            <p:nvPr/>
          </p:nvSpPr>
          <p:spPr>
            <a:xfrm>
              <a:off x="0"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1359389"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grpSp>
      <p:grpSp>
        <p:nvGrpSpPr>
          <p:cNvPr id="5" name="Group 5"/>
          <p:cNvGrpSpPr/>
          <p:nvPr/>
        </p:nvGrpSpPr>
        <p:grpSpPr>
          <a:xfrm>
            <a:off x="1531581" y="5020192"/>
            <a:ext cx="8020681" cy="3528943"/>
            <a:chOff x="0" y="0"/>
            <a:chExt cx="3845713" cy="1692039"/>
          </a:xfrm>
        </p:grpSpPr>
        <p:sp>
          <p:nvSpPr>
            <p:cNvPr id="6" name="Freeform 6"/>
            <p:cNvSpPr/>
            <p:nvPr/>
          </p:nvSpPr>
          <p:spPr>
            <a:xfrm>
              <a:off x="0" y="0"/>
              <a:ext cx="3845713" cy="1692039"/>
            </a:xfrm>
            <a:custGeom>
              <a:avLst/>
              <a:gdLst/>
              <a:ahLst/>
              <a:cxnLst/>
              <a:rect l="l" t="t" r="r" b="b"/>
              <a:pathLst>
                <a:path w="3845713" h="1692039">
                  <a:moveTo>
                    <a:pt x="29923" y="0"/>
                  </a:moveTo>
                  <a:lnTo>
                    <a:pt x="3815791" y="0"/>
                  </a:lnTo>
                  <a:cubicBezTo>
                    <a:pt x="3832316" y="0"/>
                    <a:pt x="3845713" y="13397"/>
                    <a:pt x="3845713" y="29923"/>
                  </a:cubicBezTo>
                  <a:lnTo>
                    <a:pt x="3845713" y="1662116"/>
                  </a:lnTo>
                  <a:cubicBezTo>
                    <a:pt x="3845713" y="1670052"/>
                    <a:pt x="3842561" y="1677663"/>
                    <a:pt x="3836949" y="1683275"/>
                  </a:cubicBezTo>
                  <a:cubicBezTo>
                    <a:pt x="3831337" y="1688886"/>
                    <a:pt x="3823727" y="1692039"/>
                    <a:pt x="3815791" y="1692039"/>
                  </a:cubicBezTo>
                  <a:lnTo>
                    <a:pt x="29923" y="1692039"/>
                  </a:lnTo>
                  <a:cubicBezTo>
                    <a:pt x="21987" y="1692039"/>
                    <a:pt x="14376" y="1688886"/>
                    <a:pt x="8764" y="1683275"/>
                  </a:cubicBezTo>
                  <a:cubicBezTo>
                    <a:pt x="3153" y="1677663"/>
                    <a:pt x="0" y="1670052"/>
                    <a:pt x="0" y="1662116"/>
                  </a:cubicBezTo>
                  <a:lnTo>
                    <a:pt x="0" y="29923"/>
                  </a:lnTo>
                  <a:cubicBezTo>
                    <a:pt x="0" y="21987"/>
                    <a:pt x="3153" y="14376"/>
                    <a:pt x="8764" y="8764"/>
                  </a:cubicBezTo>
                  <a:cubicBezTo>
                    <a:pt x="14376" y="3153"/>
                    <a:pt x="21987" y="0"/>
                    <a:pt x="29923" y="0"/>
                  </a:cubicBezTo>
                  <a:close/>
                </a:path>
              </a:pathLst>
            </a:custGeom>
            <a:solidFill>
              <a:srgbClr val="071330"/>
            </a:solidFill>
          </p:spPr>
        </p:sp>
        <p:sp>
          <p:nvSpPr>
            <p:cNvPr id="7" name="TextBox 7"/>
            <p:cNvSpPr txBox="1"/>
            <p:nvPr/>
          </p:nvSpPr>
          <p:spPr>
            <a:xfrm>
              <a:off x="0" y="-38100"/>
              <a:ext cx="3845713" cy="1730139"/>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1531581" y="796931"/>
            <a:ext cx="7160502" cy="2009740"/>
          </a:xfrm>
          <a:prstGeom prst="rect">
            <a:avLst/>
          </a:prstGeom>
        </p:spPr>
        <p:txBody>
          <a:bodyPr lIns="0" tIns="0" rIns="0" bIns="0" rtlCol="0" anchor="t">
            <a:spAutoFit/>
          </a:bodyPr>
          <a:lstStyle/>
          <a:p>
            <a:pPr algn="l">
              <a:lnSpc>
                <a:spcPts val="7848"/>
              </a:lnSpc>
            </a:pPr>
            <a:r>
              <a:rPr lang="en-US" sz="7546" b="1">
                <a:solidFill>
                  <a:srgbClr val="FFFFFF"/>
                </a:solidFill>
                <a:latin typeface="IBM Plex Mono Bold"/>
                <a:ea typeface="IBM Plex Mono Bold"/>
                <a:cs typeface="IBM Plex Mono Bold"/>
                <a:sym typeface="IBM Plex Mono Bold"/>
              </a:rPr>
              <a:t>GraphFrame Analytics</a:t>
            </a:r>
          </a:p>
        </p:txBody>
      </p:sp>
      <p:sp>
        <p:nvSpPr>
          <p:cNvPr id="9" name="TextBox 9"/>
          <p:cNvSpPr txBox="1"/>
          <p:nvPr/>
        </p:nvSpPr>
        <p:spPr>
          <a:xfrm>
            <a:off x="2072669" y="5724436"/>
            <a:ext cx="6938505" cy="2497750"/>
          </a:xfrm>
          <a:prstGeom prst="rect">
            <a:avLst/>
          </a:prstGeom>
        </p:spPr>
        <p:txBody>
          <a:bodyPr lIns="0" tIns="0" rIns="0" bIns="0" rtlCol="0" anchor="t">
            <a:spAutoFit/>
          </a:bodyPr>
          <a:lstStyle/>
          <a:p>
            <a:pPr algn="l">
              <a:lnSpc>
                <a:spcPts val="2488"/>
              </a:lnSpc>
            </a:pPr>
            <a:r>
              <a:rPr lang="en-US" sz="2006">
                <a:solidFill>
                  <a:srgbClr val="FFFFFF"/>
                </a:solidFill>
                <a:latin typeface="IBM Plex Mono"/>
                <a:ea typeface="IBM Plex Mono"/>
                <a:cs typeface="IBM Plex Mono"/>
                <a:sym typeface="IBM Plex Mono"/>
              </a:rPr>
              <a:t>The PageRank analysis identifies multiple artists, including Trueno, Taiu, TATOOL, Kygo, Sasha Sloan, and Mc Brunyn, Mc Moana, with a consistent PageRank value of approximately 0.98. This indicates their central importance within the network of collaborations and connections across the dataset.</a:t>
            </a:r>
          </a:p>
        </p:txBody>
      </p:sp>
      <p:grpSp>
        <p:nvGrpSpPr>
          <p:cNvPr id="10" name="Group 10"/>
          <p:cNvGrpSpPr/>
          <p:nvPr/>
        </p:nvGrpSpPr>
        <p:grpSpPr>
          <a:xfrm>
            <a:off x="2000582" y="5301262"/>
            <a:ext cx="190900" cy="190900"/>
            <a:chOff x="0" y="0"/>
            <a:chExt cx="6350000" cy="6350000"/>
          </a:xfrm>
        </p:grpSpPr>
        <p:sp>
          <p:nvSpPr>
            <p:cNvPr id="11" name="Freeform 1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E0F3F"/>
            </a:solidFill>
          </p:spPr>
        </p:sp>
      </p:grpSp>
      <p:grpSp>
        <p:nvGrpSpPr>
          <p:cNvPr id="12" name="Group 12"/>
          <p:cNvGrpSpPr/>
          <p:nvPr/>
        </p:nvGrpSpPr>
        <p:grpSpPr>
          <a:xfrm>
            <a:off x="2250056" y="5301262"/>
            <a:ext cx="190900" cy="190900"/>
            <a:chOff x="0" y="0"/>
            <a:chExt cx="6350000" cy="6350000"/>
          </a:xfrm>
        </p:grpSpPr>
        <p:sp>
          <p:nvSpPr>
            <p:cNvPr id="13" name="Freeform 1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F60"/>
            </a:solidFill>
          </p:spPr>
        </p:sp>
      </p:grpSp>
      <p:grpSp>
        <p:nvGrpSpPr>
          <p:cNvPr id="14" name="Group 14"/>
          <p:cNvGrpSpPr/>
          <p:nvPr/>
        </p:nvGrpSpPr>
        <p:grpSpPr>
          <a:xfrm>
            <a:off x="2498508" y="5301262"/>
            <a:ext cx="190900" cy="190900"/>
            <a:chOff x="0" y="0"/>
            <a:chExt cx="6350000" cy="6350000"/>
          </a:xfrm>
        </p:grpSpPr>
        <p:sp>
          <p:nvSpPr>
            <p:cNvPr id="15" name="Freeform 1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AC66B"/>
            </a:solidFill>
          </p:spPr>
        </p:sp>
      </p:grpSp>
      <p:grpSp>
        <p:nvGrpSpPr>
          <p:cNvPr id="16" name="Group 16"/>
          <p:cNvGrpSpPr/>
          <p:nvPr/>
        </p:nvGrpSpPr>
        <p:grpSpPr>
          <a:xfrm>
            <a:off x="9609412" y="1028700"/>
            <a:ext cx="8158064" cy="8229600"/>
            <a:chOff x="0" y="0"/>
            <a:chExt cx="4258942" cy="4296287"/>
          </a:xfrm>
        </p:grpSpPr>
        <p:sp>
          <p:nvSpPr>
            <p:cNvPr id="17" name="Freeform 17"/>
            <p:cNvSpPr/>
            <p:nvPr/>
          </p:nvSpPr>
          <p:spPr>
            <a:xfrm>
              <a:off x="0" y="0"/>
              <a:ext cx="4258942" cy="4296287"/>
            </a:xfrm>
            <a:custGeom>
              <a:avLst/>
              <a:gdLst/>
              <a:ahLst/>
              <a:cxnLst/>
              <a:rect l="l" t="t" r="r" b="b"/>
              <a:pathLst>
                <a:path w="4258942" h="4296287">
                  <a:moveTo>
                    <a:pt x="16133" y="0"/>
                  </a:moveTo>
                  <a:lnTo>
                    <a:pt x="4242809" y="0"/>
                  </a:lnTo>
                  <a:cubicBezTo>
                    <a:pt x="4247087" y="0"/>
                    <a:pt x="4251191" y="1700"/>
                    <a:pt x="4254216" y="4725"/>
                  </a:cubicBezTo>
                  <a:cubicBezTo>
                    <a:pt x="4257242" y="7751"/>
                    <a:pt x="4258942" y="11854"/>
                    <a:pt x="4258942" y="16133"/>
                  </a:cubicBezTo>
                  <a:lnTo>
                    <a:pt x="4258942" y="4280155"/>
                  </a:lnTo>
                  <a:cubicBezTo>
                    <a:pt x="4258942" y="4289065"/>
                    <a:pt x="4251719" y="4296287"/>
                    <a:pt x="4242809" y="4296287"/>
                  </a:cubicBezTo>
                  <a:lnTo>
                    <a:pt x="16133" y="4296287"/>
                  </a:lnTo>
                  <a:cubicBezTo>
                    <a:pt x="7223" y="4296287"/>
                    <a:pt x="0" y="4289065"/>
                    <a:pt x="0" y="4280155"/>
                  </a:cubicBezTo>
                  <a:lnTo>
                    <a:pt x="0" y="16133"/>
                  </a:lnTo>
                  <a:cubicBezTo>
                    <a:pt x="0" y="7223"/>
                    <a:pt x="7223" y="0"/>
                    <a:pt x="16133" y="0"/>
                  </a:cubicBezTo>
                  <a:close/>
                </a:path>
              </a:pathLst>
            </a:custGeom>
            <a:solidFill>
              <a:srgbClr val="FFFFFF"/>
            </a:solidFill>
          </p:spPr>
        </p:sp>
        <p:sp>
          <p:nvSpPr>
            <p:cNvPr id="18" name="TextBox 18"/>
            <p:cNvSpPr txBox="1"/>
            <p:nvPr/>
          </p:nvSpPr>
          <p:spPr>
            <a:xfrm>
              <a:off x="0" y="-38100"/>
              <a:ext cx="4258942" cy="4334387"/>
            </a:xfrm>
            <a:prstGeom prst="rect">
              <a:avLst/>
            </a:prstGeom>
          </p:spPr>
          <p:txBody>
            <a:bodyPr lIns="50800" tIns="50800" rIns="50800" bIns="50800" rtlCol="0" anchor="ctr"/>
            <a:lstStyle/>
            <a:p>
              <a:pPr algn="ctr">
                <a:lnSpc>
                  <a:spcPts val="2659"/>
                </a:lnSpc>
                <a:spcBef>
                  <a:spcPct val="0"/>
                </a:spcBef>
              </a:pPr>
              <a:endParaRPr/>
            </a:p>
          </p:txBody>
        </p:sp>
      </p:grpSp>
      <p:grpSp>
        <p:nvGrpSpPr>
          <p:cNvPr id="19" name="Group 19"/>
          <p:cNvGrpSpPr/>
          <p:nvPr/>
        </p:nvGrpSpPr>
        <p:grpSpPr>
          <a:xfrm>
            <a:off x="10141838" y="1652067"/>
            <a:ext cx="272091" cy="423383"/>
            <a:chOff x="0" y="0"/>
            <a:chExt cx="9854429" cy="15333853"/>
          </a:xfrm>
        </p:grpSpPr>
        <p:sp>
          <p:nvSpPr>
            <p:cNvPr id="20" name="Freeform 20"/>
            <p:cNvSpPr/>
            <p:nvPr/>
          </p:nvSpPr>
          <p:spPr>
            <a:xfrm>
              <a:off x="0" y="0"/>
              <a:ext cx="9854429" cy="15333853"/>
            </a:xfrm>
            <a:custGeom>
              <a:avLst/>
              <a:gdLst/>
              <a:ahLst/>
              <a:cxnLst/>
              <a:rect l="l" t="t" r="r" b="b"/>
              <a:pathLst>
                <a:path w="9854429" h="15333853">
                  <a:moveTo>
                    <a:pt x="4927214" y="0"/>
                  </a:moveTo>
                  <a:cubicBezTo>
                    <a:pt x="2205989" y="0"/>
                    <a:pt x="0" y="3432600"/>
                    <a:pt x="0" y="7666927"/>
                  </a:cubicBezTo>
                  <a:cubicBezTo>
                    <a:pt x="0" y="11901253"/>
                    <a:pt x="2205989" y="15333853"/>
                    <a:pt x="4927214" y="15333853"/>
                  </a:cubicBezTo>
                  <a:cubicBezTo>
                    <a:pt x="7648440" y="15333853"/>
                    <a:pt x="9854429" y="11901253"/>
                    <a:pt x="9854429" y="7666927"/>
                  </a:cubicBezTo>
                  <a:cubicBezTo>
                    <a:pt x="9854429" y="3432600"/>
                    <a:pt x="7648440" y="0"/>
                    <a:pt x="4927214" y="0"/>
                  </a:cubicBezTo>
                  <a:close/>
                </a:path>
              </a:pathLst>
            </a:custGeom>
            <a:solidFill>
              <a:srgbClr val="DE0F3F"/>
            </a:solidFill>
          </p:spPr>
        </p:sp>
      </p:grpSp>
      <p:grpSp>
        <p:nvGrpSpPr>
          <p:cNvPr id="21" name="Group 21"/>
          <p:cNvGrpSpPr/>
          <p:nvPr/>
        </p:nvGrpSpPr>
        <p:grpSpPr>
          <a:xfrm>
            <a:off x="10497415" y="1652067"/>
            <a:ext cx="272091" cy="423383"/>
            <a:chOff x="0" y="0"/>
            <a:chExt cx="9854429" cy="15333853"/>
          </a:xfrm>
        </p:grpSpPr>
        <p:sp>
          <p:nvSpPr>
            <p:cNvPr id="22" name="Freeform 22"/>
            <p:cNvSpPr/>
            <p:nvPr/>
          </p:nvSpPr>
          <p:spPr>
            <a:xfrm>
              <a:off x="0" y="0"/>
              <a:ext cx="9854429" cy="15333853"/>
            </a:xfrm>
            <a:custGeom>
              <a:avLst/>
              <a:gdLst/>
              <a:ahLst/>
              <a:cxnLst/>
              <a:rect l="l" t="t" r="r" b="b"/>
              <a:pathLst>
                <a:path w="9854429" h="15333853">
                  <a:moveTo>
                    <a:pt x="4927214" y="0"/>
                  </a:moveTo>
                  <a:cubicBezTo>
                    <a:pt x="2205989" y="0"/>
                    <a:pt x="0" y="3432600"/>
                    <a:pt x="0" y="7666927"/>
                  </a:cubicBezTo>
                  <a:cubicBezTo>
                    <a:pt x="0" y="11901253"/>
                    <a:pt x="2205989" y="15333853"/>
                    <a:pt x="4927214" y="15333853"/>
                  </a:cubicBezTo>
                  <a:cubicBezTo>
                    <a:pt x="7648440" y="15333853"/>
                    <a:pt x="9854429" y="11901253"/>
                    <a:pt x="9854429" y="7666927"/>
                  </a:cubicBezTo>
                  <a:cubicBezTo>
                    <a:pt x="9854429" y="3432600"/>
                    <a:pt x="7648440" y="0"/>
                    <a:pt x="4927214" y="0"/>
                  </a:cubicBezTo>
                  <a:close/>
                </a:path>
              </a:pathLst>
            </a:custGeom>
            <a:solidFill>
              <a:srgbClr val="FFCF60"/>
            </a:solidFill>
          </p:spPr>
        </p:sp>
      </p:grpSp>
      <p:grpSp>
        <p:nvGrpSpPr>
          <p:cNvPr id="23" name="Group 23"/>
          <p:cNvGrpSpPr/>
          <p:nvPr/>
        </p:nvGrpSpPr>
        <p:grpSpPr>
          <a:xfrm>
            <a:off x="10851536" y="1652067"/>
            <a:ext cx="272091" cy="423383"/>
            <a:chOff x="0" y="0"/>
            <a:chExt cx="9854429" cy="15333853"/>
          </a:xfrm>
        </p:grpSpPr>
        <p:sp>
          <p:nvSpPr>
            <p:cNvPr id="24" name="Freeform 24"/>
            <p:cNvSpPr/>
            <p:nvPr/>
          </p:nvSpPr>
          <p:spPr>
            <a:xfrm>
              <a:off x="0" y="0"/>
              <a:ext cx="9854429" cy="15333853"/>
            </a:xfrm>
            <a:custGeom>
              <a:avLst/>
              <a:gdLst/>
              <a:ahLst/>
              <a:cxnLst/>
              <a:rect l="l" t="t" r="r" b="b"/>
              <a:pathLst>
                <a:path w="9854429" h="15333853">
                  <a:moveTo>
                    <a:pt x="4927214" y="0"/>
                  </a:moveTo>
                  <a:cubicBezTo>
                    <a:pt x="2205989" y="0"/>
                    <a:pt x="0" y="3432600"/>
                    <a:pt x="0" y="7666927"/>
                  </a:cubicBezTo>
                  <a:cubicBezTo>
                    <a:pt x="0" y="11901253"/>
                    <a:pt x="2205989" y="15333853"/>
                    <a:pt x="4927214" y="15333853"/>
                  </a:cubicBezTo>
                  <a:cubicBezTo>
                    <a:pt x="7648440" y="15333853"/>
                    <a:pt x="9854429" y="11901253"/>
                    <a:pt x="9854429" y="7666927"/>
                  </a:cubicBezTo>
                  <a:cubicBezTo>
                    <a:pt x="9854429" y="3432600"/>
                    <a:pt x="7648440" y="0"/>
                    <a:pt x="4927214" y="0"/>
                  </a:cubicBezTo>
                  <a:close/>
                </a:path>
              </a:pathLst>
            </a:custGeom>
            <a:solidFill>
              <a:srgbClr val="6AC66B"/>
            </a:solidFill>
          </p:spPr>
        </p:sp>
      </p:grpSp>
      <p:sp>
        <p:nvSpPr>
          <p:cNvPr id="25" name="TextBox 25"/>
          <p:cNvSpPr txBox="1"/>
          <p:nvPr/>
        </p:nvSpPr>
        <p:spPr>
          <a:xfrm>
            <a:off x="10327104" y="2121230"/>
            <a:ext cx="6722681" cy="6722814"/>
          </a:xfrm>
          <a:prstGeom prst="rect">
            <a:avLst/>
          </a:prstGeom>
        </p:spPr>
        <p:txBody>
          <a:bodyPr lIns="0" tIns="0" rIns="0" bIns="0" rtlCol="0" anchor="t">
            <a:spAutoFit/>
          </a:bodyPr>
          <a:lstStyle/>
          <a:p>
            <a:pPr algn="ctr">
              <a:lnSpc>
                <a:spcPts val="1991"/>
              </a:lnSpc>
              <a:spcBef>
                <a:spcPct val="0"/>
              </a:spcBef>
            </a:pPr>
            <a:r>
              <a:rPr lang="en-US" sz="1422">
                <a:solidFill>
                  <a:srgbClr val="071330"/>
                </a:solidFill>
                <a:latin typeface="Canva Sans"/>
                <a:ea typeface="Canva Sans"/>
                <a:cs typeface="Canva Sans"/>
                <a:sym typeface="Canva Sans"/>
              </a:rPr>
              <a:t>+--------------------+------------------+</a:t>
            </a:r>
          </a:p>
          <a:p>
            <a:pPr algn="ctr">
              <a:lnSpc>
                <a:spcPts val="1991"/>
              </a:lnSpc>
              <a:spcBef>
                <a:spcPct val="0"/>
              </a:spcBef>
            </a:pPr>
            <a:r>
              <a:rPr lang="en-US" sz="1422">
                <a:solidFill>
                  <a:srgbClr val="071330"/>
                </a:solidFill>
                <a:latin typeface="Canva Sans"/>
                <a:ea typeface="Canva Sans"/>
                <a:cs typeface="Canva Sans"/>
                <a:sym typeface="Canva Sans"/>
              </a:rPr>
              <a:t>|                  id|          pagerank|</a:t>
            </a:r>
          </a:p>
          <a:p>
            <a:pPr algn="ctr">
              <a:lnSpc>
                <a:spcPts val="1991"/>
              </a:lnSpc>
              <a:spcBef>
                <a:spcPct val="0"/>
              </a:spcBef>
            </a:pPr>
            <a:r>
              <a:rPr lang="en-US" sz="1422">
                <a:solidFill>
                  <a:srgbClr val="071330"/>
                </a:solidFill>
                <a:latin typeface="Canva Sans"/>
                <a:ea typeface="Canva Sans"/>
                <a:cs typeface="Canva Sans"/>
                <a:sym typeface="Canva Sans"/>
              </a:rPr>
              <a:t>+--------------------+------------------+</a:t>
            </a:r>
          </a:p>
          <a:p>
            <a:pPr algn="ctr">
              <a:lnSpc>
                <a:spcPts val="1991"/>
              </a:lnSpc>
              <a:spcBef>
                <a:spcPct val="0"/>
              </a:spcBef>
            </a:pPr>
            <a:r>
              <a:rPr lang="en-US" sz="1422">
                <a:solidFill>
                  <a:srgbClr val="071330"/>
                </a:solidFill>
                <a:latin typeface="Canva Sans"/>
                <a:ea typeface="Canva Sans"/>
                <a:cs typeface="Canva Sans"/>
                <a:sym typeface="Canva Sans"/>
              </a:rPr>
              <a:t>|Trueno, Taiu, TATOOL|0.9800255708650217|</a:t>
            </a:r>
          </a:p>
          <a:p>
            <a:pPr algn="ctr">
              <a:lnSpc>
                <a:spcPts val="1991"/>
              </a:lnSpc>
              <a:spcBef>
                <a:spcPct val="0"/>
              </a:spcBef>
            </a:pPr>
            <a:r>
              <a:rPr lang="en-US" sz="1422">
                <a:solidFill>
                  <a:srgbClr val="071330"/>
                </a:solidFill>
                <a:latin typeface="Canva Sans"/>
                <a:ea typeface="Canva Sans"/>
                <a:cs typeface="Canva Sans"/>
                <a:sym typeface="Canva Sans"/>
              </a:rPr>
              <a:t>|   Kygo, Sasha Sloan|0.9800255708650217|</a:t>
            </a:r>
          </a:p>
          <a:p>
            <a:pPr algn="ctr">
              <a:lnSpc>
                <a:spcPts val="1991"/>
              </a:lnSpc>
              <a:spcBef>
                <a:spcPct val="0"/>
              </a:spcBef>
            </a:pPr>
            <a:r>
              <a:rPr lang="en-US" sz="1422">
                <a:solidFill>
                  <a:srgbClr val="071330"/>
                </a:solidFill>
                <a:latin typeface="Canva Sans"/>
                <a:ea typeface="Canva Sans"/>
                <a:cs typeface="Canva Sans"/>
                <a:sym typeface="Canva Sans"/>
              </a:rPr>
              <a:t>| Mc Brunyn, Mc Moana|0.9800255708650217|</a:t>
            </a:r>
          </a:p>
          <a:p>
            <a:pPr algn="ctr">
              <a:lnSpc>
                <a:spcPts val="1991"/>
              </a:lnSpc>
              <a:spcBef>
                <a:spcPct val="0"/>
              </a:spcBef>
            </a:pPr>
            <a:r>
              <a:rPr lang="en-US" sz="1422">
                <a:solidFill>
                  <a:srgbClr val="071330"/>
                </a:solidFill>
                <a:latin typeface="Canva Sans"/>
                <a:ea typeface="Canva Sans"/>
                <a:cs typeface="Canva Sans"/>
                <a:sym typeface="Canva Sans"/>
              </a:rPr>
              <a:t>|G Herbo, Juice WR...|0.9800255708650217|</a:t>
            </a:r>
          </a:p>
          <a:p>
            <a:pPr algn="ctr">
              <a:lnSpc>
                <a:spcPts val="1991"/>
              </a:lnSpc>
              <a:spcBef>
                <a:spcPct val="0"/>
              </a:spcBef>
            </a:pPr>
            <a:r>
              <a:rPr lang="en-US" sz="1422">
                <a:solidFill>
                  <a:srgbClr val="071330"/>
                </a:solidFill>
                <a:latin typeface="Canva Sans"/>
                <a:ea typeface="Canva Sans"/>
                <a:cs typeface="Canva Sans"/>
                <a:sym typeface="Canva Sans"/>
              </a:rPr>
              <a:t>|            CHUNG HA|0.9800255708650217|</a:t>
            </a:r>
          </a:p>
          <a:p>
            <a:pPr algn="ctr">
              <a:lnSpc>
                <a:spcPts val="1991"/>
              </a:lnSpc>
              <a:spcBef>
                <a:spcPct val="0"/>
              </a:spcBef>
            </a:pPr>
            <a:r>
              <a:rPr lang="en-US" sz="1422">
                <a:solidFill>
                  <a:srgbClr val="071330"/>
                </a:solidFill>
                <a:latin typeface="Canva Sans"/>
                <a:ea typeface="Canva Sans"/>
                <a:cs typeface="Canva Sans"/>
                <a:sym typeface="Canva Sans"/>
              </a:rPr>
              <a:t>|Cali Y El Dandee,...|0.9800255708650217|</a:t>
            </a:r>
          </a:p>
          <a:p>
            <a:pPr algn="ctr">
              <a:lnSpc>
                <a:spcPts val="1991"/>
              </a:lnSpc>
              <a:spcBef>
                <a:spcPct val="0"/>
              </a:spcBef>
            </a:pPr>
            <a:r>
              <a:rPr lang="en-US" sz="1422">
                <a:solidFill>
                  <a:srgbClr val="071330"/>
                </a:solidFill>
                <a:latin typeface="Canva Sans"/>
                <a:ea typeface="Canva Sans"/>
                <a:cs typeface="Canva Sans"/>
                <a:sym typeface="Canva Sans"/>
              </a:rPr>
              <a:t>|Keren Peles, Ron ...|0.9800255708650217|</a:t>
            </a:r>
          </a:p>
          <a:p>
            <a:pPr algn="ctr">
              <a:lnSpc>
                <a:spcPts val="1991"/>
              </a:lnSpc>
              <a:spcBef>
                <a:spcPct val="0"/>
              </a:spcBef>
            </a:pPr>
            <a:r>
              <a:rPr lang="en-US" sz="1422">
                <a:solidFill>
                  <a:srgbClr val="071330"/>
                </a:solidFill>
                <a:latin typeface="Canva Sans"/>
                <a:ea typeface="Canva Sans"/>
                <a:cs typeface="Canva Sans"/>
                <a:sym typeface="Canva Sans"/>
              </a:rPr>
              <a:t>|                ANNA|0.9800255708650217|</a:t>
            </a:r>
          </a:p>
          <a:p>
            <a:pPr algn="ctr">
              <a:lnSpc>
                <a:spcPts val="1991"/>
              </a:lnSpc>
              <a:spcBef>
                <a:spcPct val="0"/>
              </a:spcBef>
            </a:pPr>
            <a:r>
              <a:rPr lang="en-US" sz="1422">
                <a:solidFill>
                  <a:srgbClr val="071330"/>
                </a:solidFill>
                <a:latin typeface="Canva Sans"/>
                <a:ea typeface="Canva Sans"/>
                <a:cs typeface="Canva Sans"/>
                <a:sym typeface="Canva Sans"/>
              </a:rPr>
              <a:t>|           Franco126|0.9800255708650217|</a:t>
            </a:r>
          </a:p>
          <a:p>
            <a:pPr algn="ctr">
              <a:lnSpc>
                <a:spcPts val="1991"/>
              </a:lnSpc>
              <a:spcBef>
                <a:spcPct val="0"/>
              </a:spcBef>
            </a:pPr>
            <a:r>
              <a:rPr lang="en-US" sz="1422">
                <a:solidFill>
                  <a:srgbClr val="071330"/>
                </a:solidFill>
                <a:latin typeface="Canva Sans"/>
                <a:ea typeface="Canva Sans"/>
                <a:cs typeface="Canva Sans"/>
                <a:sym typeface="Canva Sans"/>
              </a:rPr>
              <a:t>|             YOASOBI|0.9800255708650217|</a:t>
            </a:r>
          </a:p>
          <a:p>
            <a:pPr algn="ctr">
              <a:lnSpc>
                <a:spcPts val="1991"/>
              </a:lnSpc>
              <a:spcBef>
                <a:spcPct val="0"/>
              </a:spcBef>
            </a:pPr>
            <a:r>
              <a:rPr lang="en-US" sz="1422">
                <a:solidFill>
                  <a:srgbClr val="071330"/>
                </a:solidFill>
                <a:latin typeface="Canva Sans"/>
                <a:ea typeface="Canva Sans"/>
                <a:cs typeface="Canva Sans"/>
                <a:sym typeface="Canva Sans"/>
              </a:rPr>
              <a:t>|            Superfly|0.9800255708650217|</a:t>
            </a:r>
          </a:p>
          <a:p>
            <a:pPr algn="ctr">
              <a:lnSpc>
                <a:spcPts val="1991"/>
              </a:lnSpc>
              <a:spcBef>
                <a:spcPct val="0"/>
              </a:spcBef>
            </a:pPr>
            <a:r>
              <a:rPr lang="en-US" sz="1422">
                <a:solidFill>
                  <a:srgbClr val="071330"/>
                </a:solidFill>
                <a:latin typeface="Canva Sans"/>
                <a:ea typeface="Canva Sans"/>
                <a:cs typeface="Canva Sans"/>
                <a:sym typeface="Canva Sans"/>
              </a:rPr>
              <a:t>| Snelle, Yade Lauren|0.9800255708650217|</a:t>
            </a:r>
          </a:p>
          <a:p>
            <a:pPr algn="ctr">
              <a:lnSpc>
                <a:spcPts val="1991"/>
              </a:lnSpc>
              <a:spcBef>
                <a:spcPct val="0"/>
              </a:spcBef>
            </a:pPr>
            <a:r>
              <a:rPr lang="en-US" sz="1422">
                <a:solidFill>
                  <a:srgbClr val="071330"/>
                </a:solidFill>
                <a:latin typeface="Canva Sans"/>
                <a:ea typeface="Canva Sans"/>
                <a:cs typeface="Canva Sans"/>
                <a:sym typeface="Canva Sans"/>
              </a:rPr>
              <a:t>|El Alfa, Farruko,...|0.9800255708650217|</a:t>
            </a:r>
          </a:p>
          <a:p>
            <a:pPr algn="ctr">
              <a:lnSpc>
                <a:spcPts val="1991"/>
              </a:lnSpc>
              <a:spcBef>
                <a:spcPct val="0"/>
              </a:spcBef>
            </a:pPr>
            <a:r>
              <a:rPr lang="en-US" sz="1422">
                <a:solidFill>
                  <a:srgbClr val="071330"/>
                </a:solidFill>
                <a:latin typeface="Canva Sans"/>
                <a:ea typeface="Canva Sans"/>
                <a:cs typeface="Canva Sans"/>
                <a:sym typeface="Canva Sans"/>
              </a:rPr>
              <a:t>|    Parokya Ni Edgar|0.9800255708650217|</a:t>
            </a:r>
          </a:p>
          <a:p>
            <a:pPr algn="ctr">
              <a:lnSpc>
                <a:spcPts val="1991"/>
              </a:lnSpc>
              <a:spcBef>
                <a:spcPct val="0"/>
              </a:spcBef>
            </a:pPr>
            <a:r>
              <a:rPr lang="en-US" sz="1422">
                <a:solidFill>
                  <a:srgbClr val="071330"/>
                </a:solidFill>
                <a:latin typeface="Canva Sans"/>
                <a:ea typeface="Canva Sans"/>
                <a:cs typeface="Canva Sans"/>
                <a:sym typeface="Canva Sans"/>
              </a:rPr>
              <a:t>|Moira Dela Torre,...|0.9800255708650217|</a:t>
            </a:r>
          </a:p>
          <a:p>
            <a:pPr algn="ctr">
              <a:lnSpc>
                <a:spcPts val="1991"/>
              </a:lnSpc>
              <a:spcBef>
                <a:spcPct val="0"/>
              </a:spcBef>
            </a:pPr>
            <a:r>
              <a:rPr lang="en-US" sz="1422">
                <a:solidFill>
                  <a:srgbClr val="071330"/>
                </a:solidFill>
                <a:latin typeface="Canva Sans"/>
                <a:ea typeface="Canva Sans"/>
                <a:cs typeface="Canva Sans"/>
                <a:sym typeface="Canva Sans"/>
              </a:rPr>
              <a:t>|ALLMO$T, L.A. GOO...|0.9800255708650217|</a:t>
            </a:r>
          </a:p>
          <a:p>
            <a:pPr algn="ctr">
              <a:lnSpc>
                <a:spcPts val="1991"/>
              </a:lnSpc>
              <a:spcBef>
                <a:spcPct val="0"/>
              </a:spcBef>
            </a:pPr>
            <a:r>
              <a:rPr lang="en-US" sz="1422">
                <a:solidFill>
                  <a:srgbClr val="071330"/>
                </a:solidFill>
                <a:latin typeface="Canva Sans"/>
                <a:ea typeface="Canva Sans"/>
                <a:cs typeface="Canva Sans"/>
                <a:sym typeface="Canva Sans"/>
              </a:rPr>
              <a:t>|              *NSYNC|0.9800255708650217|</a:t>
            </a:r>
          </a:p>
          <a:p>
            <a:pPr algn="ctr">
              <a:lnSpc>
                <a:spcPts val="1991"/>
              </a:lnSpc>
              <a:spcBef>
                <a:spcPct val="0"/>
              </a:spcBef>
            </a:pPr>
            <a:r>
              <a:rPr lang="en-US" sz="1422">
                <a:solidFill>
                  <a:srgbClr val="071330"/>
                </a:solidFill>
                <a:latin typeface="Canva Sans"/>
                <a:ea typeface="Canva Sans"/>
                <a:cs typeface="Canva Sans"/>
                <a:sym typeface="Canva Sans"/>
              </a:rPr>
              <a:t>|                Gedz|0.9800255708650217|</a:t>
            </a:r>
          </a:p>
          <a:p>
            <a:pPr algn="ctr">
              <a:lnSpc>
                <a:spcPts val="1991"/>
              </a:lnSpc>
              <a:spcBef>
                <a:spcPct val="0"/>
              </a:spcBef>
            </a:pPr>
            <a:r>
              <a:rPr lang="en-US" sz="1422">
                <a:solidFill>
                  <a:srgbClr val="071330"/>
                </a:solidFill>
                <a:latin typeface="Canva Sans"/>
                <a:ea typeface="Canva Sans"/>
                <a:cs typeface="Canva Sans"/>
                <a:sym typeface="Canva Sans"/>
              </a:rPr>
              <a:t>|SB Maffija, White...|0.9800255708650217|</a:t>
            </a:r>
          </a:p>
          <a:p>
            <a:pPr algn="ctr">
              <a:lnSpc>
                <a:spcPts val="1991"/>
              </a:lnSpc>
              <a:spcBef>
                <a:spcPct val="0"/>
              </a:spcBef>
            </a:pPr>
            <a:r>
              <a:rPr lang="en-US" sz="1422">
                <a:solidFill>
                  <a:srgbClr val="071330"/>
                </a:solidFill>
                <a:latin typeface="Canva Sans"/>
                <a:ea typeface="Canva Sans"/>
                <a:cs typeface="Canva Sans"/>
                <a:sym typeface="Canva Sans"/>
              </a:rPr>
              <a:t>|                Reto|0.9800255708650217|</a:t>
            </a:r>
          </a:p>
          <a:p>
            <a:pPr algn="ctr">
              <a:lnSpc>
                <a:spcPts val="1991"/>
              </a:lnSpc>
              <a:spcBef>
                <a:spcPct val="0"/>
              </a:spcBef>
            </a:pPr>
            <a:r>
              <a:rPr lang="en-US" sz="1422">
                <a:solidFill>
                  <a:srgbClr val="071330"/>
                </a:solidFill>
                <a:latin typeface="Canva Sans"/>
                <a:ea typeface="Canva Sans"/>
                <a:cs typeface="Canva Sans"/>
                <a:sym typeface="Canva Sans"/>
              </a:rPr>
              <a:t>+--------------------+------------------+</a:t>
            </a:r>
          </a:p>
          <a:p>
            <a:pPr algn="ctr">
              <a:lnSpc>
                <a:spcPts val="1991"/>
              </a:lnSpc>
              <a:spcBef>
                <a:spcPct val="0"/>
              </a:spcBef>
            </a:pPr>
            <a:r>
              <a:rPr lang="en-US" sz="1422">
                <a:solidFill>
                  <a:srgbClr val="071330"/>
                </a:solidFill>
                <a:latin typeface="Canva Sans"/>
                <a:ea typeface="Canva Sans"/>
                <a:cs typeface="Canva Sans"/>
                <a:sym typeface="Canva Sans"/>
              </a:rPr>
              <a:t>only showing top 20 rows</a:t>
            </a:r>
          </a:p>
          <a:p>
            <a:pPr algn="ctr">
              <a:lnSpc>
                <a:spcPts val="1991"/>
              </a:lnSpc>
              <a:spcBef>
                <a:spcPct val="0"/>
              </a:spcBef>
            </a:pPr>
            <a:endParaRPr lang="en-US" sz="1422">
              <a:solidFill>
                <a:srgbClr val="071330"/>
              </a:solidFill>
              <a:latin typeface="Canva Sans"/>
              <a:ea typeface="Canva Sans"/>
              <a:cs typeface="Canva Sans"/>
              <a:sym typeface="Canva Sans"/>
            </a:endParaRPr>
          </a:p>
          <a:p>
            <a:pPr algn="ctr">
              <a:lnSpc>
                <a:spcPts val="1991"/>
              </a:lnSpc>
              <a:spcBef>
                <a:spcPct val="0"/>
              </a:spcBef>
            </a:pPr>
            <a:endParaRPr lang="en-US" sz="1422">
              <a:solidFill>
                <a:srgbClr val="071330"/>
              </a:solidFill>
              <a:latin typeface="Canva Sans"/>
              <a:ea typeface="Canva Sans"/>
              <a:cs typeface="Canva Sans"/>
              <a:sym typeface="Canva Sans"/>
            </a:endParaRP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6AC66B"/>
        </a:solidFill>
        <a:effectLst/>
      </p:bgPr>
    </p:bg>
    <p:spTree>
      <p:nvGrpSpPr>
        <p:cNvPr id="1" name=""/>
        <p:cNvGrpSpPr/>
        <p:nvPr/>
      </p:nvGrpSpPr>
      <p:grpSpPr>
        <a:xfrm>
          <a:off x="0" y="0"/>
          <a:ext cx="0" cy="0"/>
          <a:chOff x="0" y="0"/>
          <a:chExt cx="0" cy="0"/>
        </a:xfrm>
      </p:grpSpPr>
      <p:grpSp>
        <p:nvGrpSpPr>
          <p:cNvPr id="2" name="Group 2"/>
          <p:cNvGrpSpPr/>
          <p:nvPr/>
        </p:nvGrpSpPr>
        <p:grpSpPr>
          <a:xfrm>
            <a:off x="-460312" y="-201041"/>
            <a:ext cx="19208624" cy="10689082"/>
            <a:chOff x="0" y="0"/>
            <a:chExt cx="25611499" cy="14252110"/>
          </a:xfrm>
        </p:grpSpPr>
        <p:sp>
          <p:nvSpPr>
            <p:cNvPr id="3" name="Freeform 3"/>
            <p:cNvSpPr/>
            <p:nvPr/>
          </p:nvSpPr>
          <p:spPr>
            <a:xfrm>
              <a:off x="0"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1359389"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grpSp>
      <p:grpSp>
        <p:nvGrpSpPr>
          <p:cNvPr id="5" name="Group 5"/>
          <p:cNvGrpSpPr/>
          <p:nvPr/>
        </p:nvGrpSpPr>
        <p:grpSpPr>
          <a:xfrm>
            <a:off x="1028700" y="2337105"/>
            <a:ext cx="16508799" cy="7407230"/>
            <a:chOff x="0" y="0"/>
            <a:chExt cx="3845713" cy="1725509"/>
          </a:xfrm>
        </p:grpSpPr>
        <p:sp>
          <p:nvSpPr>
            <p:cNvPr id="6" name="Freeform 6"/>
            <p:cNvSpPr/>
            <p:nvPr/>
          </p:nvSpPr>
          <p:spPr>
            <a:xfrm>
              <a:off x="0" y="0"/>
              <a:ext cx="3845713" cy="1725509"/>
            </a:xfrm>
            <a:custGeom>
              <a:avLst/>
              <a:gdLst/>
              <a:ahLst/>
              <a:cxnLst/>
              <a:rect l="l" t="t" r="r" b="b"/>
              <a:pathLst>
                <a:path w="3845713" h="1725509">
                  <a:moveTo>
                    <a:pt x="14538" y="0"/>
                  </a:moveTo>
                  <a:lnTo>
                    <a:pt x="3831176" y="0"/>
                  </a:lnTo>
                  <a:cubicBezTo>
                    <a:pt x="3839204" y="0"/>
                    <a:pt x="3845713" y="6509"/>
                    <a:pt x="3845713" y="14538"/>
                  </a:cubicBezTo>
                  <a:lnTo>
                    <a:pt x="3845713" y="1710972"/>
                  </a:lnTo>
                  <a:cubicBezTo>
                    <a:pt x="3845713" y="1714827"/>
                    <a:pt x="3844182" y="1718525"/>
                    <a:pt x="3841455" y="1721251"/>
                  </a:cubicBezTo>
                  <a:cubicBezTo>
                    <a:pt x="3838729" y="1723978"/>
                    <a:pt x="3835031" y="1725509"/>
                    <a:pt x="3831176" y="1725509"/>
                  </a:cubicBezTo>
                  <a:lnTo>
                    <a:pt x="14538" y="1725509"/>
                  </a:lnTo>
                  <a:cubicBezTo>
                    <a:pt x="6509" y="1725509"/>
                    <a:pt x="0" y="1719001"/>
                    <a:pt x="0" y="1710972"/>
                  </a:cubicBezTo>
                  <a:lnTo>
                    <a:pt x="0" y="14538"/>
                  </a:lnTo>
                  <a:cubicBezTo>
                    <a:pt x="0" y="10682"/>
                    <a:pt x="1532" y="6984"/>
                    <a:pt x="4258" y="4258"/>
                  </a:cubicBezTo>
                  <a:cubicBezTo>
                    <a:pt x="6984" y="1532"/>
                    <a:pt x="10682" y="0"/>
                    <a:pt x="14538" y="0"/>
                  </a:cubicBezTo>
                  <a:close/>
                </a:path>
              </a:pathLst>
            </a:custGeom>
            <a:solidFill>
              <a:srgbClr val="071330"/>
            </a:solidFill>
          </p:spPr>
        </p:sp>
        <p:sp>
          <p:nvSpPr>
            <p:cNvPr id="7" name="TextBox 7"/>
            <p:cNvSpPr txBox="1"/>
            <p:nvPr/>
          </p:nvSpPr>
          <p:spPr>
            <a:xfrm>
              <a:off x="0" y="-38100"/>
              <a:ext cx="3845713" cy="1763609"/>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1028700" y="996970"/>
            <a:ext cx="6392691" cy="1029642"/>
          </a:xfrm>
          <a:prstGeom prst="rect">
            <a:avLst/>
          </a:prstGeom>
        </p:spPr>
        <p:txBody>
          <a:bodyPr lIns="0" tIns="0" rIns="0" bIns="0" rtlCol="0" anchor="t">
            <a:spAutoFit/>
          </a:bodyPr>
          <a:lstStyle/>
          <a:p>
            <a:pPr algn="just">
              <a:lnSpc>
                <a:spcPts val="7848"/>
              </a:lnSpc>
            </a:pPr>
            <a:r>
              <a:rPr lang="en-US" sz="7546" b="1">
                <a:solidFill>
                  <a:srgbClr val="FFFFFF"/>
                </a:solidFill>
                <a:latin typeface="IBM Plex Mono Bold"/>
                <a:ea typeface="IBM Plex Mono Bold"/>
                <a:cs typeface="IBM Plex Mono Bold"/>
                <a:sym typeface="IBM Plex Mono Bold"/>
              </a:rPr>
              <a:t>Conclusions</a:t>
            </a:r>
          </a:p>
        </p:txBody>
      </p:sp>
      <p:sp>
        <p:nvSpPr>
          <p:cNvPr id="9" name="TextBox 9"/>
          <p:cNvSpPr txBox="1"/>
          <p:nvPr/>
        </p:nvSpPr>
        <p:spPr>
          <a:xfrm>
            <a:off x="1601110" y="3094239"/>
            <a:ext cx="15658190" cy="6390781"/>
          </a:xfrm>
          <a:prstGeom prst="rect">
            <a:avLst/>
          </a:prstGeom>
        </p:spPr>
        <p:txBody>
          <a:bodyPr lIns="0" tIns="0" rIns="0" bIns="0" rtlCol="0" anchor="t">
            <a:spAutoFit/>
          </a:bodyPr>
          <a:lstStyle/>
          <a:p>
            <a:pPr algn="l">
              <a:lnSpc>
                <a:spcPts val="2445"/>
              </a:lnSpc>
            </a:pPr>
            <a:r>
              <a:rPr lang="en-US" sz="1972">
                <a:solidFill>
                  <a:srgbClr val="FFFFFF"/>
                </a:solidFill>
                <a:latin typeface="IBM Plex Mono"/>
                <a:ea typeface="IBM Plex Mono"/>
                <a:cs typeface="IBM Plex Mono"/>
                <a:sym typeface="IBM Plex Mono"/>
              </a:rPr>
              <a:t>This analysis of Spotify's Top 200 reveals key insights into global streaming trends and artist dominance:</a:t>
            </a:r>
          </a:p>
          <a:p>
            <a:pPr algn="l">
              <a:lnSpc>
                <a:spcPts val="2445"/>
              </a:lnSpc>
            </a:pPr>
            <a:endParaRPr lang="en-US" sz="1972">
              <a:solidFill>
                <a:srgbClr val="FFFFFF"/>
              </a:solidFill>
              <a:latin typeface="IBM Plex Mono"/>
              <a:ea typeface="IBM Plex Mono"/>
              <a:cs typeface="IBM Plex Mono"/>
              <a:sym typeface="IBM Plex Mono"/>
            </a:endParaRPr>
          </a:p>
          <a:p>
            <a:pPr marL="425824" lvl="1" indent="-212912" algn="l">
              <a:lnSpc>
                <a:spcPts val="2445"/>
              </a:lnSpc>
              <a:buAutoNum type="arabicPeriod"/>
            </a:pPr>
            <a:r>
              <a:rPr lang="en-US" sz="1972">
                <a:solidFill>
                  <a:srgbClr val="FFFFFF"/>
                </a:solidFill>
                <a:latin typeface="IBM Plex Mono"/>
                <a:ea typeface="IBM Plex Mono"/>
                <a:cs typeface="IBM Plex Mono"/>
                <a:sym typeface="IBM Plex Mono"/>
              </a:rPr>
              <a:t>Streaming Trends:</a:t>
            </a:r>
          </a:p>
          <a:p>
            <a:pPr marL="425824" lvl="1" indent="-212912" algn="l">
              <a:lnSpc>
                <a:spcPts val="2445"/>
              </a:lnSpc>
              <a:buFont typeface="Arial"/>
              <a:buChar char="•"/>
            </a:pPr>
            <a:r>
              <a:rPr lang="en-US" sz="1972">
                <a:solidFill>
                  <a:srgbClr val="FFFFFF"/>
                </a:solidFill>
                <a:latin typeface="IBM Plex Mono"/>
                <a:ea typeface="IBM Plex Mono"/>
                <a:cs typeface="IBM Plex Mono"/>
                <a:sym typeface="IBM Plex Mono"/>
              </a:rPr>
              <a:t>Streams fluctuated seasonally, with peaks linked to major releases and holidays.</a:t>
            </a:r>
          </a:p>
          <a:p>
            <a:pPr marL="425824" lvl="1" indent="-212912" algn="l">
              <a:lnSpc>
                <a:spcPts val="2445"/>
              </a:lnSpc>
              <a:buFont typeface="Arial"/>
              <a:buChar char="•"/>
            </a:pPr>
            <a:r>
              <a:rPr lang="en-US" sz="1972">
                <a:solidFill>
                  <a:srgbClr val="FFFFFF"/>
                </a:solidFill>
                <a:latin typeface="IBM Plex Mono"/>
                <a:ea typeface="IBM Plex Mono"/>
                <a:cs typeface="IBM Plex Mono"/>
                <a:sym typeface="IBM Plex Mono"/>
              </a:rPr>
              <a:t>Fridays and Saturdays saw the highest average streams, reflecting weekend listener behavior.</a:t>
            </a:r>
          </a:p>
          <a:p>
            <a:pPr marL="425824" lvl="1" indent="-212912" algn="l">
              <a:lnSpc>
                <a:spcPts val="2445"/>
              </a:lnSpc>
              <a:buAutoNum type="arabicPeriod"/>
            </a:pPr>
            <a:r>
              <a:rPr lang="en-US" sz="1972">
                <a:solidFill>
                  <a:srgbClr val="FFFFFF"/>
                </a:solidFill>
                <a:latin typeface="IBM Plex Mono"/>
                <a:ea typeface="IBM Plex Mono"/>
                <a:cs typeface="IBM Plex Mono"/>
                <a:sym typeface="IBM Plex Mono"/>
              </a:rPr>
              <a:t>Artist Dominance:</a:t>
            </a:r>
          </a:p>
          <a:p>
            <a:pPr marL="425824" lvl="1" indent="-212912" algn="l">
              <a:lnSpc>
                <a:spcPts val="2445"/>
              </a:lnSpc>
              <a:buFont typeface="Arial"/>
              <a:buChar char="•"/>
            </a:pPr>
            <a:r>
              <a:rPr lang="en-US" sz="1972">
                <a:solidFill>
                  <a:srgbClr val="FFFFFF"/>
                </a:solidFill>
                <a:latin typeface="IBM Plex Mono"/>
                <a:ea typeface="IBM Plex Mono"/>
                <a:cs typeface="IBM Plex Mono"/>
                <a:sym typeface="IBM Plex Mono"/>
              </a:rPr>
              <a:t>Bad Bunny appeared most frequently on the charts, while The Weeknd, Olivia Rodrigo, and Billie Eilishled in total streams.</a:t>
            </a:r>
          </a:p>
          <a:p>
            <a:pPr marL="425824" lvl="1" indent="-212912" algn="l">
              <a:lnSpc>
                <a:spcPts val="2445"/>
              </a:lnSpc>
              <a:buFont typeface="Arial"/>
              <a:buChar char="•"/>
            </a:pPr>
            <a:r>
              <a:rPr lang="en-US" sz="1972">
                <a:solidFill>
                  <a:srgbClr val="FFFFFF"/>
                </a:solidFill>
                <a:latin typeface="IBM Plex Mono"/>
                <a:ea typeface="IBM Plex Mono"/>
                <a:cs typeface="IBM Plex Mono"/>
                <a:sym typeface="IBM Plex Mono"/>
              </a:rPr>
              <a:t>PageRank analysis highlighted artists like Trueno and Kygo for their collaborative influence.</a:t>
            </a:r>
          </a:p>
          <a:p>
            <a:pPr marL="425824" lvl="1" indent="-212912" algn="l">
              <a:lnSpc>
                <a:spcPts val="2445"/>
              </a:lnSpc>
              <a:buAutoNum type="arabicPeriod"/>
            </a:pPr>
            <a:r>
              <a:rPr lang="en-US" sz="1972">
                <a:solidFill>
                  <a:srgbClr val="FFFFFF"/>
                </a:solidFill>
                <a:latin typeface="IBM Plex Mono"/>
                <a:ea typeface="IBM Plex Mono"/>
                <a:cs typeface="IBM Plex Mono"/>
                <a:sym typeface="IBM Plex Mono"/>
              </a:rPr>
              <a:t>Regional Patterns:</a:t>
            </a:r>
          </a:p>
          <a:p>
            <a:pPr marL="425824" lvl="1" indent="-212912" algn="l">
              <a:lnSpc>
                <a:spcPts val="2445"/>
              </a:lnSpc>
              <a:buFont typeface="Arial"/>
              <a:buChar char="•"/>
            </a:pPr>
            <a:r>
              <a:rPr lang="en-US" sz="1972">
                <a:solidFill>
                  <a:srgbClr val="FFFFFF"/>
                </a:solidFill>
                <a:latin typeface="IBM Plex Mono"/>
                <a:ea typeface="IBM Plex Mono"/>
                <a:cs typeface="IBM Plex Mono"/>
                <a:sym typeface="IBM Plex Mono"/>
              </a:rPr>
              <a:t>The United States led in total streams, followed by Brazil and Mexico, showcasing the dominance of the US and Latin American markets.</a:t>
            </a:r>
          </a:p>
          <a:p>
            <a:pPr marL="425824" lvl="1" indent="-212912" algn="l">
              <a:lnSpc>
                <a:spcPts val="2445"/>
              </a:lnSpc>
              <a:buAutoNum type="arabicPeriod"/>
            </a:pPr>
            <a:r>
              <a:rPr lang="en-US" sz="1972">
                <a:solidFill>
                  <a:srgbClr val="FFFFFF"/>
                </a:solidFill>
                <a:latin typeface="IBM Plex Mono"/>
                <a:ea typeface="IBM Plex Mono"/>
                <a:cs typeface="IBM Plex Mono"/>
                <a:sym typeface="IBM Plex Mono"/>
              </a:rPr>
              <a:t>Top Tracks and Correlations:</a:t>
            </a:r>
          </a:p>
          <a:p>
            <a:pPr marL="425824" lvl="1" indent="-212912" algn="l">
              <a:lnSpc>
                <a:spcPts val="2445"/>
              </a:lnSpc>
              <a:buFont typeface="Arial"/>
              <a:buChar char="•"/>
            </a:pPr>
            <a:r>
              <a:rPr lang="en-US" sz="1972">
                <a:solidFill>
                  <a:srgbClr val="FFFFFF"/>
                </a:solidFill>
                <a:latin typeface="IBM Plex Mono"/>
                <a:ea typeface="IBM Plex Mono"/>
                <a:cs typeface="IBM Plex Mono"/>
                <a:sym typeface="IBM Plex Mono"/>
              </a:rPr>
              <a:t>"Blinding Lights" exhibited long-term popularity, while trends like MOVE_UP and NEW_ENTRY indicated dynamic chart movements.</a:t>
            </a:r>
          </a:p>
          <a:p>
            <a:pPr marL="425824" lvl="1" indent="-212912" algn="l">
              <a:lnSpc>
                <a:spcPts val="2445"/>
              </a:lnSpc>
              <a:buFont typeface="Arial"/>
              <a:buChar char="•"/>
            </a:pPr>
            <a:r>
              <a:rPr lang="en-US" sz="1972">
                <a:solidFill>
                  <a:srgbClr val="FFFFFF"/>
                </a:solidFill>
                <a:latin typeface="IBM Plex Mono"/>
                <a:ea typeface="IBM Plex Mono"/>
                <a:cs typeface="IBM Plex Mono"/>
                <a:sym typeface="IBM Plex Mono"/>
              </a:rPr>
              <a:t>A weak negative correlation (-0.13) between rank and streams suggests rank impacts streams but is not a sole determinant.</a:t>
            </a:r>
          </a:p>
          <a:p>
            <a:pPr marL="425824" lvl="1" indent="-212912" algn="l">
              <a:lnSpc>
                <a:spcPts val="2445"/>
              </a:lnSpc>
              <a:buAutoNum type="arabicPeriod"/>
            </a:pPr>
            <a:r>
              <a:rPr lang="en-US" sz="1972">
                <a:solidFill>
                  <a:srgbClr val="FFFFFF"/>
                </a:solidFill>
                <a:latin typeface="IBM Plex Mono"/>
                <a:ea typeface="IBM Plex Mono"/>
                <a:cs typeface="IBM Plex Mono"/>
                <a:sym typeface="IBM Plex Mono"/>
              </a:rPr>
              <a:t>Key Takeaways:</a:t>
            </a:r>
          </a:p>
          <a:p>
            <a:pPr marL="425824" lvl="1" indent="-212912" algn="l">
              <a:lnSpc>
                <a:spcPts val="2445"/>
              </a:lnSpc>
              <a:buFont typeface="Arial"/>
              <a:buChar char="•"/>
            </a:pPr>
            <a:r>
              <a:rPr lang="en-US" sz="1972">
                <a:solidFill>
                  <a:srgbClr val="FFFFFF"/>
                </a:solidFill>
                <a:latin typeface="IBM Plex Mono"/>
                <a:ea typeface="IBM Plex Mono"/>
                <a:cs typeface="IBM Plex Mono"/>
                <a:sym typeface="IBM Plex Mono"/>
              </a:rPr>
              <a:t>Seasonal and regional trends highlight listener behavior and market dynamics.</a:t>
            </a:r>
          </a:p>
          <a:p>
            <a:pPr marL="425824" lvl="1" indent="-212912" algn="l">
              <a:lnSpc>
                <a:spcPts val="2445"/>
              </a:lnSpc>
              <a:buFont typeface="Arial"/>
              <a:buChar char="•"/>
            </a:pPr>
            <a:r>
              <a:rPr lang="en-US" sz="1972">
                <a:solidFill>
                  <a:srgbClr val="FFFFFF"/>
                </a:solidFill>
                <a:latin typeface="IBM Plex Mono"/>
                <a:ea typeface="IBM Plex Mono"/>
                <a:cs typeface="IBM Plex Mono"/>
                <a:sym typeface="IBM Plex Mono"/>
              </a:rPr>
              <a:t>Insights into artist and track performance inform industry strategies and future predictions.</a:t>
            </a:r>
          </a:p>
        </p:txBody>
      </p:sp>
      <p:grpSp>
        <p:nvGrpSpPr>
          <p:cNvPr id="10" name="Group 10"/>
          <p:cNvGrpSpPr/>
          <p:nvPr/>
        </p:nvGrpSpPr>
        <p:grpSpPr>
          <a:xfrm>
            <a:off x="1601110" y="2522702"/>
            <a:ext cx="392925" cy="392925"/>
            <a:chOff x="0" y="0"/>
            <a:chExt cx="6350000" cy="6350000"/>
          </a:xfrm>
        </p:grpSpPr>
        <p:sp>
          <p:nvSpPr>
            <p:cNvPr id="11" name="Freeform 1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E0F3F"/>
            </a:solidFill>
          </p:spPr>
        </p:sp>
      </p:grpSp>
      <p:grpSp>
        <p:nvGrpSpPr>
          <p:cNvPr id="12" name="Group 12"/>
          <p:cNvGrpSpPr/>
          <p:nvPr/>
        </p:nvGrpSpPr>
        <p:grpSpPr>
          <a:xfrm>
            <a:off x="2117488" y="2522702"/>
            <a:ext cx="392925" cy="392925"/>
            <a:chOff x="0" y="0"/>
            <a:chExt cx="6350000" cy="6350000"/>
          </a:xfrm>
        </p:grpSpPr>
        <p:sp>
          <p:nvSpPr>
            <p:cNvPr id="13" name="Freeform 1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F60"/>
            </a:solidFill>
          </p:spPr>
        </p:sp>
      </p:grpSp>
      <p:grpSp>
        <p:nvGrpSpPr>
          <p:cNvPr id="14" name="Group 14"/>
          <p:cNvGrpSpPr/>
          <p:nvPr/>
        </p:nvGrpSpPr>
        <p:grpSpPr>
          <a:xfrm>
            <a:off x="2633867" y="2522702"/>
            <a:ext cx="392925" cy="392925"/>
            <a:chOff x="0" y="0"/>
            <a:chExt cx="6350000" cy="6350000"/>
          </a:xfrm>
        </p:grpSpPr>
        <p:sp>
          <p:nvSpPr>
            <p:cNvPr id="15" name="Freeform 1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AC66B"/>
            </a:solidFill>
          </p:spPr>
        </p:sp>
      </p:gr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6AC66B"/>
        </a:solidFill>
        <a:effectLst/>
      </p:bgPr>
    </p:bg>
    <p:spTree>
      <p:nvGrpSpPr>
        <p:cNvPr id="1" name=""/>
        <p:cNvGrpSpPr/>
        <p:nvPr/>
      </p:nvGrpSpPr>
      <p:grpSpPr>
        <a:xfrm>
          <a:off x="0" y="0"/>
          <a:ext cx="0" cy="0"/>
          <a:chOff x="0" y="0"/>
          <a:chExt cx="0" cy="0"/>
        </a:xfrm>
      </p:grpSpPr>
      <p:grpSp>
        <p:nvGrpSpPr>
          <p:cNvPr id="2" name="Group 2"/>
          <p:cNvGrpSpPr/>
          <p:nvPr/>
        </p:nvGrpSpPr>
        <p:grpSpPr>
          <a:xfrm>
            <a:off x="-460312" y="-201041"/>
            <a:ext cx="19208624" cy="10689082"/>
            <a:chOff x="0" y="0"/>
            <a:chExt cx="25611499" cy="14252110"/>
          </a:xfrm>
        </p:grpSpPr>
        <p:sp>
          <p:nvSpPr>
            <p:cNvPr id="3" name="Freeform 3"/>
            <p:cNvSpPr/>
            <p:nvPr/>
          </p:nvSpPr>
          <p:spPr>
            <a:xfrm>
              <a:off x="0"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1359389"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grpSp>
      <p:grpSp>
        <p:nvGrpSpPr>
          <p:cNvPr id="5" name="Group 5"/>
          <p:cNvGrpSpPr/>
          <p:nvPr/>
        </p:nvGrpSpPr>
        <p:grpSpPr>
          <a:xfrm>
            <a:off x="3362272" y="2789171"/>
            <a:ext cx="10420061" cy="4708658"/>
            <a:chOff x="0" y="0"/>
            <a:chExt cx="2744378" cy="1240140"/>
          </a:xfrm>
        </p:grpSpPr>
        <p:sp>
          <p:nvSpPr>
            <p:cNvPr id="6" name="Freeform 6"/>
            <p:cNvSpPr/>
            <p:nvPr/>
          </p:nvSpPr>
          <p:spPr>
            <a:xfrm>
              <a:off x="0" y="0"/>
              <a:ext cx="2744378" cy="1240140"/>
            </a:xfrm>
            <a:custGeom>
              <a:avLst/>
              <a:gdLst/>
              <a:ahLst/>
              <a:cxnLst/>
              <a:rect l="l" t="t" r="r" b="b"/>
              <a:pathLst>
                <a:path w="2744378" h="1240140">
                  <a:moveTo>
                    <a:pt x="37892" y="0"/>
                  </a:moveTo>
                  <a:lnTo>
                    <a:pt x="2706486" y="0"/>
                  </a:lnTo>
                  <a:cubicBezTo>
                    <a:pt x="2727413" y="0"/>
                    <a:pt x="2744378" y="16965"/>
                    <a:pt x="2744378" y="37892"/>
                  </a:cubicBezTo>
                  <a:lnTo>
                    <a:pt x="2744378" y="1202248"/>
                  </a:lnTo>
                  <a:cubicBezTo>
                    <a:pt x="2744378" y="1223175"/>
                    <a:pt x="2727413" y="1240140"/>
                    <a:pt x="2706486" y="1240140"/>
                  </a:cubicBezTo>
                  <a:lnTo>
                    <a:pt x="37892" y="1240140"/>
                  </a:lnTo>
                  <a:cubicBezTo>
                    <a:pt x="16965" y="1240140"/>
                    <a:pt x="0" y="1223175"/>
                    <a:pt x="0" y="1202248"/>
                  </a:cubicBezTo>
                  <a:lnTo>
                    <a:pt x="0" y="37892"/>
                  </a:lnTo>
                  <a:cubicBezTo>
                    <a:pt x="0" y="16965"/>
                    <a:pt x="16965" y="0"/>
                    <a:pt x="37892" y="0"/>
                  </a:cubicBezTo>
                  <a:close/>
                </a:path>
              </a:pathLst>
            </a:custGeom>
            <a:solidFill>
              <a:srgbClr val="071330"/>
            </a:solidFill>
          </p:spPr>
        </p:sp>
        <p:sp>
          <p:nvSpPr>
            <p:cNvPr id="7" name="TextBox 7"/>
            <p:cNvSpPr txBox="1"/>
            <p:nvPr/>
          </p:nvSpPr>
          <p:spPr>
            <a:xfrm>
              <a:off x="0" y="-38100"/>
              <a:ext cx="2744378" cy="1278240"/>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4018771" y="4384536"/>
            <a:ext cx="9107064" cy="1708428"/>
          </a:xfrm>
          <a:prstGeom prst="rect">
            <a:avLst/>
          </a:prstGeom>
        </p:spPr>
        <p:txBody>
          <a:bodyPr lIns="0" tIns="0" rIns="0" bIns="0" rtlCol="0" anchor="t">
            <a:spAutoFit/>
          </a:bodyPr>
          <a:lstStyle/>
          <a:p>
            <a:pPr algn="l">
              <a:lnSpc>
                <a:spcPts val="13088"/>
              </a:lnSpc>
            </a:pPr>
            <a:r>
              <a:rPr lang="en-US" sz="12584" b="1">
                <a:solidFill>
                  <a:srgbClr val="FFFFFF"/>
                </a:solidFill>
                <a:latin typeface="IBM Plex Mono Bold"/>
                <a:ea typeface="IBM Plex Mono Bold"/>
                <a:cs typeface="IBM Plex Mono Bold"/>
                <a:sym typeface="IBM Plex Mono Bold"/>
              </a:rPr>
              <a:t>Thank You</a:t>
            </a:r>
          </a:p>
        </p:txBody>
      </p:sp>
      <p:grpSp>
        <p:nvGrpSpPr>
          <p:cNvPr id="9" name="Group 9"/>
          <p:cNvGrpSpPr/>
          <p:nvPr/>
        </p:nvGrpSpPr>
        <p:grpSpPr>
          <a:xfrm>
            <a:off x="4042324" y="3300861"/>
            <a:ext cx="347534" cy="347534"/>
            <a:chOff x="0" y="0"/>
            <a:chExt cx="6350000" cy="6350000"/>
          </a:xfrm>
        </p:grpSpPr>
        <p:sp>
          <p:nvSpPr>
            <p:cNvPr id="10" name="Freeform 10"/>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E0F3F"/>
            </a:solidFill>
          </p:spPr>
        </p:sp>
      </p:grpSp>
      <p:grpSp>
        <p:nvGrpSpPr>
          <p:cNvPr id="11" name="Group 11"/>
          <p:cNvGrpSpPr/>
          <p:nvPr/>
        </p:nvGrpSpPr>
        <p:grpSpPr>
          <a:xfrm>
            <a:off x="4496493" y="3300861"/>
            <a:ext cx="347534" cy="347534"/>
            <a:chOff x="0" y="0"/>
            <a:chExt cx="6350000" cy="6350000"/>
          </a:xfrm>
        </p:grpSpPr>
        <p:sp>
          <p:nvSpPr>
            <p:cNvPr id="12" name="Freeform 12"/>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F60"/>
            </a:solidFill>
          </p:spPr>
        </p:sp>
      </p:grpSp>
      <p:grpSp>
        <p:nvGrpSpPr>
          <p:cNvPr id="13" name="Group 13"/>
          <p:cNvGrpSpPr/>
          <p:nvPr/>
        </p:nvGrpSpPr>
        <p:grpSpPr>
          <a:xfrm>
            <a:off x="4948801" y="3300861"/>
            <a:ext cx="347534" cy="347534"/>
            <a:chOff x="0" y="0"/>
            <a:chExt cx="6350000" cy="6350000"/>
          </a:xfrm>
        </p:grpSpPr>
        <p:sp>
          <p:nvSpPr>
            <p:cNvPr id="14" name="Freeform 14"/>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AC66B"/>
            </a:solidFill>
          </p:spPr>
        </p:sp>
      </p:gr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TotalTime>
  <Words>1376</Words>
  <Application>Microsoft Macintosh PowerPoint</Application>
  <PresentationFormat>Custom</PresentationFormat>
  <Paragraphs>94</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Canva Sans</vt:lpstr>
      <vt:lpstr>IBM Plex Mono Bold</vt:lpstr>
      <vt:lpstr>Calibri</vt:lpstr>
      <vt:lpstr>IBM Plex Mono</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Project_Upadhyay_Stuti_and_Appiah_Philip</dc:title>
  <cp:lastModifiedBy>15716375125</cp:lastModifiedBy>
  <cp:revision>2</cp:revision>
  <dcterms:created xsi:type="dcterms:W3CDTF">2006-08-16T00:00:00Z</dcterms:created>
  <dcterms:modified xsi:type="dcterms:W3CDTF">2024-12-04T22:20:15Z</dcterms:modified>
  <dc:identifier>DAGYSrURMdg</dc:identifier>
</cp:coreProperties>
</file>